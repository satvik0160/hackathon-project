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Garamond"/>
              </a:rPr>
              <a:t>TITLE PAGE
CAREER READINESS OS</a:t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Problem Statement ID – </a:t>
            </a:r>
            <a:r>
              <a:rPr sz="1250" b="1">
                <a:solidFill>
                  <a:srgbClr val="FFFFFF"/>
                </a:solidFill>
                <a:latin typeface="Arial"/>
              </a:rPr>
              <a:t>26044</a:t>
            </a:r>
            <a:endParaRPr lang="en-US" dirty="0"/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Problem Statement Title – </a:t>
            </a:r>
            <a:r>
              <a:rPr sz="1250" b="1">
                <a:solidFill>
                  <a:srgbClr val="FFFFFF"/>
                </a:solidFill>
                <a:latin typeface="Arial"/>
              </a:rPr>
              <a:t>Portal for Academia–Industry Collaboration for Skill Mapping, Internships and Placement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Theme – </a:t>
            </a:r>
            <a:r>
              <a:rPr sz="1250" b="1">
                <a:solidFill>
                  <a:srgbClr val="FFFFFF"/>
                </a:solidFill>
                <a:latin typeface="Arial"/>
              </a:rPr>
              <a:t>Education &amp; Skill Development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PS Category – </a:t>
            </a:r>
            <a:r>
              <a:rPr sz="1250" b="1">
                <a:solidFill>
                  <a:srgbClr val="FFFFFF"/>
                </a:solidFill>
                <a:latin typeface="Arial"/>
              </a:rPr>
              <a:t>Software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Team ID – </a:t>
            </a:r>
            <a:r>
              <a:rPr sz="1250" b="1">
                <a:solidFill>
                  <a:srgbClr val="FFFFFF"/>
                </a:solidFill>
                <a:latin typeface="Arial"/>
              </a:rPr>
              <a:t>YOUR TEAM ID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Team Name – </a:t>
            </a:r>
            <a:r>
              <a:rPr sz="1250" b="1">
                <a:solidFill>
                  <a:srgbClr val="FFFFFF"/>
                </a:solidFill>
                <a:latin typeface="Arial"/>
              </a:rPr>
              <a:t>YOUR REGISTERED TEAM NAME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6446520" y="5349240"/>
            <a:ext cx="3840480" cy="566928"/>
          </a:xfrm>
          <a:prstGeom prst="roundRect">
            <a:avLst/>
          </a:prstGeom>
          <a:solidFill>
            <a:srgbClr val="1F66AA"/>
          </a:solidFill>
          <a:ln w="13970">
            <a:solidFill>
              <a:srgbClr val="1F66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STUDENT ↔ INSTITUTION ↔ INDUSTRY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0" y="5285232"/>
            <a:ext cx="3977639" cy="594360"/>
          </a:xfrm>
          <a:prstGeom prst="roundRect">
            <a:avLst/>
          </a:prstGeom>
          <a:solidFill>
            <a:srgbClr val="2365A9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STUDENT  ↔  INSTITUTION  ↔  INDUSTRY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46520" y="5943600"/>
            <a:ext cx="393192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AI-powered Skill Intelligence Platform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7200" y="502920"/>
            <a:ext cx="1124712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Arial"/>
              </a:rPr>
              <a:t>CAREER READINESS 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987552"/>
            <a:ext cx="448056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"/>
              </a:rPr>
              <a:t>◆ Proposed Solution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353312"/>
            <a:ext cx="4297680" cy="10972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Arial"/>
              </a:rPr>
              <a:t>A unified intelligence platform that converts learner evidence into skill profiles, identifies gaps, drives personalized action, and connects verified readiness with institutions and industry.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057400" y="2514600"/>
            <a:ext cx="2834640" cy="594360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ASSESSMENT + EVIDENCE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057400" y="3337560"/>
            <a:ext cx="2834640" cy="594360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268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69" b="1">
                <a:solidFill>
                  <a:srgbClr val="FFFFFF"/>
                </a:solidFill>
                <a:latin typeface="Arial"/>
              </a:rPr>
              <a:t>SKILL PROFILE + SKILL GRAPH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57400" y="4160520"/>
            <a:ext cx="2834640" cy="594360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69" b="1">
                <a:solidFill>
                  <a:srgbClr val="FFFFFF"/>
                </a:solidFill>
                <a:latin typeface="Arial"/>
              </a:rPr>
              <a:t>SKILL GAP + READINESS SCORE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57400" y="4983480"/>
            <a:ext cx="2834640" cy="594360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439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69" b="1">
                <a:solidFill>
                  <a:srgbClr val="FFFFFF"/>
                </a:solidFill>
                <a:latin typeface="Arial"/>
              </a:rPr>
              <a:t>ACTION + FEEDBACK LOOP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474720" y="3108960"/>
            <a:ext cx="0" cy="201168"/>
          </a:xfrm>
          <a:prstGeom prst="line">
            <a:avLst/>
          </a:prstGeom>
          <a:ln w="19050">
            <a:solidFill>
              <a:srgbClr val="236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474720" y="3931920"/>
            <a:ext cx="0" cy="201167"/>
          </a:xfrm>
          <a:prstGeom prst="line">
            <a:avLst/>
          </a:prstGeom>
          <a:ln w="19050">
            <a:solidFill>
              <a:srgbClr val="236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474720" y="4754880"/>
            <a:ext cx="0" cy="201168"/>
          </a:xfrm>
          <a:prstGeom prst="line">
            <a:avLst/>
          </a:prstGeom>
          <a:ln w="19050">
            <a:solidFill>
              <a:srgbClr val="236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5349240" y="4224528"/>
            <a:ext cx="54864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EVIDENCE → GAP → ACTION → OPPORTUNITY → INDUSTRY FEEDBACK → PROFILE UPDATE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49240" y="5138928"/>
            <a:ext cx="548640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◆ Intelligence Outputs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394960" y="5486400"/>
            <a:ext cx="105156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Student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92240" y="5486400"/>
            <a:ext cx="420624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Readiness + roadmap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394960" y="5760720"/>
            <a:ext cx="105156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Institution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92240" y="5760720"/>
            <a:ext cx="420624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Skill heatmap + curriculum alignment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6035040"/>
            <a:ext cx="105156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Industry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92240" y="6035040"/>
            <a:ext cx="420624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Demand + candidate matching</a:t>
            </a:r>
          </a:p>
        </p:txBody>
      </p:sp>
      <p:sp>
        <p:nvSpPr>
          <p:cNvPr id="66" name="Oval 65"/>
          <p:cNvSpPr/>
          <p:nvPr/>
        </p:nvSpPr>
        <p:spPr>
          <a:xfrm>
            <a:off x="594360" y="2743200"/>
            <a:ext cx="1207008" cy="1207008"/>
          </a:xfrm>
          <a:prstGeom prst="ellipse">
            <a:avLst/>
          </a:prstGeom>
          <a:solidFill>
            <a:srgbClr val="2365A9"/>
          </a:solidFill>
          <a:ln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STUDENT</a:t>
            </a:r>
          </a:p>
        </p:txBody>
      </p:sp>
      <p:sp>
        <p:nvSpPr>
          <p:cNvPr id="67" name="Oval 66"/>
          <p:cNvSpPr/>
          <p:nvPr/>
        </p:nvSpPr>
        <p:spPr>
          <a:xfrm>
            <a:off x="594360" y="4160520"/>
            <a:ext cx="1207008" cy="1207008"/>
          </a:xfrm>
          <a:prstGeom prst="ellipse">
            <a:avLst/>
          </a:prstGeom>
          <a:solidFill>
            <a:srgbClr val="26847C"/>
          </a:solidFill>
          <a:ln>
            <a:solidFill>
              <a:srgbClr val="268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INSTITUTION</a:t>
            </a:r>
          </a:p>
        </p:txBody>
      </p:sp>
      <p:sp>
        <p:nvSpPr>
          <p:cNvPr id="68" name="Oval 67"/>
          <p:cNvSpPr/>
          <p:nvPr/>
        </p:nvSpPr>
        <p:spPr>
          <a:xfrm>
            <a:off x="594360" y="5486400"/>
            <a:ext cx="1207008" cy="1207008"/>
          </a:xfrm>
          <a:prstGeom prst="ellipse">
            <a:avLst/>
          </a:prstGeom>
          <a:solidFill>
            <a:srgbClr val="E77E22"/>
          </a:solidFill>
          <a:ln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INDUSTRY</a:t>
            </a:r>
          </a:p>
        </p:txBody>
      </p:sp>
      <p:cxnSp>
        <p:nvCxnSpPr>
          <p:cNvPr id="69" name="Connector 68"/>
          <p:cNvCxnSpPr/>
          <p:nvPr/>
        </p:nvCxnSpPr>
        <p:spPr>
          <a:xfrm flipV="1">
            <a:off x="1801368" y="3108960"/>
            <a:ext cx="256032" cy="237744"/>
          </a:xfrm>
          <a:prstGeom prst="line">
            <a:avLst/>
          </a:prstGeom>
          <a:ln w="15240">
            <a:solidFill>
              <a:srgbClr val="236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1801368" y="4160520"/>
            <a:ext cx="256032" cy="603504"/>
          </a:xfrm>
          <a:prstGeom prst="line">
            <a:avLst/>
          </a:prstGeom>
          <a:ln w="15240">
            <a:solidFill>
              <a:srgbClr val="2684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1801368" y="5166360"/>
            <a:ext cx="256032" cy="923544"/>
          </a:xfrm>
          <a:prstGeom prst="line">
            <a:avLst/>
          </a:prstGeom>
          <a:ln w="15240">
            <a:solidFill>
              <a:srgbClr val="E7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5349240" y="1188720"/>
            <a:ext cx="548640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◆ End-to-End Student Journey</a:t>
            </a:r>
          </a:p>
        </p:txBody>
      </p:sp>
      <p:sp>
        <p:nvSpPr>
          <p:cNvPr id="73" name="Oval 72"/>
          <p:cNvSpPr/>
          <p:nvPr/>
        </p:nvSpPr>
        <p:spPr>
          <a:xfrm>
            <a:off x="5349240" y="1627632"/>
            <a:ext cx="347472" cy="347472"/>
          </a:xfrm>
          <a:prstGeom prst="ellipse">
            <a:avLst/>
          </a:prstGeom>
          <a:solidFill>
            <a:srgbClr val="2365A9"/>
          </a:solidFill>
          <a:ln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742431" y="1618488"/>
            <a:ext cx="713232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Onboard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5696712" y="1801368"/>
            <a:ext cx="749808" cy="0"/>
          </a:xfrm>
          <a:prstGeom prst="line">
            <a:avLst/>
          </a:prstGeom>
          <a:ln w="12700">
            <a:solidFill>
              <a:srgbClr val="236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Oval 75"/>
          <p:cNvSpPr/>
          <p:nvPr/>
        </p:nvSpPr>
        <p:spPr>
          <a:xfrm>
            <a:off x="6519672" y="1627632"/>
            <a:ext cx="347472" cy="347472"/>
          </a:xfrm>
          <a:prstGeom prst="ellipse">
            <a:avLst/>
          </a:prstGeom>
          <a:solidFill>
            <a:srgbClr val="2C9CB6"/>
          </a:solidFill>
          <a:ln>
            <a:solidFill>
              <a:srgbClr val="2C9C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912864" y="1618488"/>
            <a:ext cx="713232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AI Assessment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867144" y="1801368"/>
            <a:ext cx="749808" cy="0"/>
          </a:xfrm>
          <a:prstGeom prst="line">
            <a:avLst/>
          </a:prstGeom>
          <a:ln w="12700">
            <a:solidFill>
              <a:srgbClr val="2C9CB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/>
          <p:cNvSpPr/>
          <p:nvPr/>
        </p:nvSpPr>
        <p:spPr>
          <a:xfrm>
            <a:off x="7690104" y="1627632"/>
            <a:ext cx="347472" cy="347472"/>
          </a:xfrm>
          <a:prstGeom prst="ellipse">
            <a:avLst/>
          </a:prstGeom>
          <a:solidFill>
            <a:srgbClr val="26847C"/>
          </a:solidFill>
          <a:ln>
            <a:solidFill>
              <a:srgbClr val="268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083296" y="1618488"/>
            <a:ext cx="713232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Skill Profile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8037576" y="1801368"/>
            <a:ext cx="749808" cy="0"/>
          </a:xfrm>
          <a:prstGeom prst="line">
            <a:avLst/>
          </a:prstGeom>
          <a:ln w="12700">
            <a:solidFill>
              <a:srgbClr val="2684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/>
          <p:cNvSpPr/>
          <p:nvPr/>
        </p:nvSpPr>
        <p:spPr>
          <a:xfrm>
            <a:off x="8860536" y="1627632"/>
            <a:ext cx="347472" cy="347472"/>
          </a:xfrm>
          <a:prstGeom prst="ellipse">
            <a:avLst/>
          </a:prstGeom>
          <a:solidFill>
            <a:srgbClr val="E77E22"/>
          </a:solidFill>
          <a:ln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253728" y="1618488"/>
            <a:ext cx="713232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Skill Gap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9208008" y="1801368"/>
            <a:ext cx="749807" cy="0"/>
          </a:xfrm>
          <a:prstGeom prst="line">
            <a:avLst/>
          </a:prstGeom>
          <a:ln w="12700">
            <a:solidFill>
              <a:srgbClr val="E7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10030967" y="1627632"/>
            <a:ext cx="347472" cy="347472"/>
          </a:xfrm>
          <a:prstGeom prst="ellipse">
            <a:avLst/>
          </a:prstGeom>
          <a:solidFill>
            <a:srgbClr val="43945C"/>
          </a:solidFill>
          <a:ln>
            <a:solidFill>
              <a:srgbClr val="439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424159" y="1618488"/>
            <a:ext cx="713232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Learn + Test</a:t>
            </a:r>
          </a:p>
        </p:txBody>
      </p:sp>
      <p:sp>
        <p:nvSpPr>
          <p:cNvPr id="87" name="Oval 86"/>
          <p:cNvSpPr/>
          <p:nvPr/>
        </p:nvSpPr>
        <p:spPr>
          <a:xfrm>
            <a:off x="5349240" y="2743200"/>
            <a:ext cx="347472" cy="347472"/>
          </a:xfrm>
          <a:prstGeom prst="ellipse">
            <a:avLst/>
          </a:prstGeom>
          <a:solidFill>
            <a:srgbClr val="6F529B"/>
          </a:solidFill>
          <a:ln>
            <a:solidFill>
              <a:srgbClr val="6F52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742431" y="2734056"/>
            <a:ext cx="713232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Daily Planner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5696712" y="2916936"/>
            <a:ext cx="749808" cy="0"/>
          </a:xfrm>
          <a:prstGeom prst="line">
            <a:avLst/>
          </a:prstGeom>
          <a:ln w="12700">
            <a:solidFill>
              <a:srgbClr val="6F52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Oval 89"/>
          <p:cNvSpPr/>
          <p:nvPr/>
        </p:nvSpPr>
        <p:spPr>
          <a:xfrm>
            <a:off x="6519672" y="2743200"/>
            <a:ext cx="347472" cy="347472"/>
          </a:xfrm>
          <a:prstGeom prst="ellipse">
            <a:avLst/>
          </a:prstGeom>
          <a:solidFill>
            <a:srgbClr val="2365A9"/>
          </a:solidFill>
          <a:ln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912864" y="2734056"/>
            <a:ext cx="713232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Roadmap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6867144" y="2916936"/>
            <a:ext cx="749808" cy="0"/>
          </a:xfrm>
          <a:prstGeom prst="line">
            <a:avLst/>
          </a:prstGeom>
          <a:ln w="12700">
            <a:solidFill>
              <a:srgbClr val="236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Oval 92"/>
          <p:cNvSpPr/>
          <p:nvPr/>
        </p:nvSpPr>
        <p:spPr>
          <a:xfrm>
            <a:off x="7690104" y="2743200"/>
            <a:ext cx="347472" cy="347472"/>
          </a:xfrm>
          <a:prstGeom prst="ellipse">
            <a:avLst/>
          </a:prstGeom>
          <a:solidFill>
            <a:srgbClr val="E77E22"/>
          </a:solidFill>
          <a:ln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083296" y="2734056"/>
            <a:ext cx="713232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Jobs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8037576" y="2916936"/>
            <a:ext cx="749808" cy="0"/>
          </a:xfrm>
          <a:prstGeom prst="line">
            <a:avLst/>
          </a:prstGeom>
          <a:ln w="12700">
            <a:solidFill>
              <a:srgbClr val="E7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Oval 95"/>
          <p:cNvSpPr/>
          <p:nvPr/>
        </p:nvSpPr>
        <p:spPr>
          <a:xfrm>
            <a:off x="8860536" y="2743200"/>
            <a:ext cx="347472" cy="347472"/>
          </a:xfrm>
          <a:prstGeom prst="ellipse">
            <a:avLst/>
          </a:prstGeom>
          <a:solidFill>
            <a:srgbClr val="26847C"/>
          </a:solidFill>
          <a:ln>
            <a:solidFill>
              <a:srgbClr val="268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253728" y="2734056"/>
            <a:ext cx="713232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Resume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9208008" y="2916936"/>
            <a:ext cx="749807" cy="0"/>
          </a:xfrm>
          <a:prstGeom prst="line">
            <a:avLst/>
          </a:prstGeom>
          <a:ln w="12700">
            <a:solidFill>
              <a:srgbClr val="2684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10424159" y="2734056"/>
            <a:ext cx="713232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Mock Interview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10204703" y="1993392"/>
            <a:ext cx="0" cy="585216"/>
          </a:xfrm>
          <a:prstGeom prst="line">
            <a:avLst/>
          </a:prstGeom>
          <a:ln w="12700">
            <a:solidFill>
              <a:srgbClr val="236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Oval 101"/>
          <p:cNvSpPr/>
          <p:nvPr/>
        </p:nvSpPr>
        <p:spPr>
          <a:xfrm>
            <a:off x="10012679" y="2715768"/>
            <a:ext cx="420624" cy="420624"/>
          </a:xfrm>
          <a:prstGeom prst="ellipse">
            <a:avLst/>
          </a:prstGeom>
          <a:solidFill>
            <a:srgbClr val="C24343"/>
          </a:solidFill>
          <a:ln>
            <a:solidFill>
              <a:srgbClr val="C2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502920"/>
            <a:ext cx="1124712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Arial"/>
              </a:rPr>
              <a:t>TECHNICAL APPROACH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987552"/>
            <a:ext cx="4754880" cy="29260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◆ Technology / Architecture Stack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1417320"/>
            <a:ext cx="1508760" cy="457200"/>
          </a:xfrm>
          <a:prstGeom prst="roundRect">
            <a:avLst/>
          </a:prstGeom>
          <a:solidFill>
            <a:srgbClr val="2365A9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FRONTEND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31720" y="1417320"/>
            <a:ext cx="315468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Existing frontend • role-based dashboards • responsive UI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2075688"/>
            <a:ext cx="1508760" cy="457200"/>
          </a:xfrm>
          <a:prstGeom prst="roundRect">
            <a:avLst/>
          </a:prstGeom>
          <a:solidFill>
            <a:srgbClr val="26847C"/>
          </a:solidFill>
          <a:ln w="12700">
            <a:solidFill>
              <a:srgbClr val="268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BACKEND API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31720" y="2075688"/>
            <a:ext cx="315468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Existing backend • REST API • authentication • RBAC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2734056"/>
            <a:ext cx="1508760" cy="457200"/>
          </a:xfrm>
          <a:prstGeom prst="roundRect">
            <a:avLst/>
          </a:prstGeom>
          <a:solidFill>
            <a:srgbClr val="E77E22"/>
          </a:solidFill>
          <a:ln w="12700"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AI SERVICES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331720" y="2734056"/>
            <a:ext cx="315468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Assessment scoring • skill-gap engine • recommendations • matching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392424"/>
            <a:ext cx="1508760" cy="457200"/>
          </a:xfrm>
          <a:prstGeom prst="roundRect">
            <a:avLst/>
          </a:prstGeom>
          <a:solidFill>
            <a:srgbClr val="43945C"/>
          </a:solidFill>
          <a:ln w="12700">
            <a:solidFill>
              <a:srgbClr val="439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DATABASE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331720" y="3392424"/>
            <a:ext cx="315468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Existing database architecture • indexed entities • transactional integrity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050791"/>
            <a:ext cx="1508760" cy="457200"/>
          </a:xfrm>
          <a:prstGeom prst="roundRect">
            <a:avLst/>
          </a:prstGeom>
          <a:solidFill>
            <a:srgbClr val="2C9CB6"/>
          </a:solidFill>
          <a:ln w="12700">
            <a:solidFill>
              <a:srgbClr val="2C9C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INTEGRATIONS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331720" y="4050791"/>
            <a:ext cx="315468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Jobs • internships • learning resources • notifications • analytics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987552"/>
            <a:ext cx="5212080" cy="29260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◆ System Architecture / Data Flow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97880" y="1417320"/>
            <a:ext cx="1234440" cy="530352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CLIENTS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98079" y="1417320"/>
            <a:ext cx="1325880" cy="530352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268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API GATEWAY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235440" y="1417320"/>
            <a:ext cx="1417320" cy="530352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SERVICES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132320" y="1682496"/>
            <a:ext cx="365759" cy="0"/>
          </a:xfrm>
          <a:prstGeom prst="line">
            <a:avLst/>
          </a:prstGeom>
          <a:ln w="22860">
            <a:solidFill>
              <a:srgbClr val="236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823960" y="1682496"/>
            <a:ext cx="411480" cy="0"/>
          </a:xfrm>
          <a:prstGeom prst="line">
            <a:avLst/>
          </a:prstGeom>
          <a:ln w="22860">
            <a:solidFill>
              <a:srgbClr val="2684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6903720" y="2331720"/>
            <a:ext cx="182880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AI INTELLIGENCE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2331720"/>
            <a:ext cx="141732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39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DATABASE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921240" y="1947672"/>
            <a:ext cx="0" cy="384048"/>
          </a:xfrm>
          <a:prstGeom prst="line">
            <a:avLst/>
          </a:prstGeom>
          <a:ln w="22860">
            <a:solidFill>
              <a:srgbClr val="E7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823960" y="2615184"/>
            <a:ext cx="411480" cy="0"/>
          </a:xfrm>
          <a:prstGeom prst="line">
            <a:avLst/>
          </a:prstGeom>
          <a:ln w="22860">
            <a:solidFill>
              <a:srgbClr val="4394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5897880" y="3337560"/>
            <a:ext cx="2011680" cy="530352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C2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AUTH + RBAC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0" y="3337560"/>
            <a:ext cx="2423160" cy="530352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6F52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AUDIT + ANALYTICS</a:t>
            </a:r>
          </a:p>
        </p:txBody>
      </p:sp>
      <p:cxnSp>
        <p:nvCxnSpPr>
          <p:cNvPr id="37" name="Connector 36"/>
          <p:cNvCxnSpPr/>
          <p:nvPr/>
        </p:nvCxnSpPr>
        <p:spPr>
          <a:xfrm flipH="1">
            <a:off x="6903720" y="1947672"/>
            <a:ext cx="274320" cy="384048"/>
          </a:xfrm>
          <a:prstGeom prst="line">
            <a:avLst/>
          </a:prstGeom>
          <a:ln w="22860">
            <a:solidFill>
              <a:srgbClr val="236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6903720" y="2898648"/>
            <a:ext cx="914400" cy="438912"/>
          </a:xfrm>
          <a:prstGeom prst="line">
            <a:avLst/>
          </a:prstGeom>
          <a:ln w="22860">
            <a:solidFill>
              <a:srgbClr val="2684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732520" y="2898648"/>
            <a:ext cx="594360" cy="438912"/>
          </a:xfrm>
          <a:prstGeom prst="line">
            <a:avLst/>
          </a:prstGeom>
          <a:ln w="22860">
            <a:solidFill>
              <a:srgbClr val="6F52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40080" y="4892040"/>
            <a:ext cx="1069848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◆ Implementation Flow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" y="5303520"/>
            <a:ext cx="141732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Capture
Evidence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57400" y="5586984"/>
            <a:ext cx="365760" cy="0"/>
          </a:xfrm>
          <a:prstGeom prst="line">
            <a:avLst/>
          </a:prstGeom>
          <a:ln w="16510">
            <a:solidFill>
              <a:srgbClr val="236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2468880" y="5303520"/>
            <a:ext cx="141732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68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Normalize
Skills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3886200" y="5586984"/>
            <a:ext cx="365760" cy="0"/>
          </a:xfrm>
          <a:prstGeom prst="line">
            <a:avLst/>
          </a:prstGeom>
          <a:ln w="16510">
            <a:solidFill>
              <a:srgbClr val="2684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4297680" y="5303520"/>
            <a:ext cx="141732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Analyze
Gaps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715000" y="5586984"/>
            <a:ext cx="365760" cy="0"/>
          </a:xfrm>
          <a:prstGeom prst="line">
            <a:avLst/>
          </a:prstGeom>
          <a:ln w="16510">
            <a:solidFill>
              <a:srgbClr val="E7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6126480" y="5303520"/>
            <a:ext cx="141732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39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Recommend
Actions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7543800" y="5586984"/>
            <a:ext cx="365760" cy="0"/>
          </a:xfrm>
          <a:prstGeom prst="line">
            <a:avLst/>
          </a:prstGeom>
          <a:ln w="16510">
            <a:solidFill>
              <a:srgbClr val="4394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7955279" y="5303520"/>
            <a:ext cx="141732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C9C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Match
Opportunities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9372600" y="5586984"/>
            <a:ext cx="365759" cy="0"/>
          </a:xfrm>
          <a:prstGeom prst="line">
            <a:avLst/>
          </a:prstGeom>
          <a:ln w="16510">
            <a:solidFill>
              <a:srgbClr val="2C9CB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9784080" y="5303520"/>
            <a:ext cx="141732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F52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Learn from
Feedback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" y="5989320"/>
            <a:ext cx="1069848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069" b="1">
                <a:solidFill>
                  <a:srgbClr val="FFFFFF"/>
                </a:solidFill>
                <a:latin typeface="Arial"/>
              </a:rPr>
              <a:t>Security-by-design: authentication • role isolation • least privilege • validation • rate limiting • auditability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31" name="TextBox 17430"/>
          <p:cNvSpPr txBox="1"/>
          <p:nvPr/>
        </p:nvSpPr>
        <p:spPr>
          <a:xfrm>
            <a:off x="457200" y="502920"/>
            <a:ext cx="1124712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Arial"/>
              </a:rPr>
              <a:t>FEASIBILITY AND VIABILITY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502920" y="1005840"/>
            <a:ext cx="521208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◆ Feasibility</a:t>
            </a:r>
          </a:p>
        </p:txBody>
      </p:sp>
      <p:sp>
        <p:nvSpPr>
          <p:cNvPr id="17433" name="Oval 17432"/>
          <p:cNvSpPr/>
          <p:nvPr/>
        </p:nvSpPr>
        <p:spPr>
          <a:xfrm>
            <a:off x="594360" y="1417320"/>
            <a:ext cx="347472" cy="347472"/>
          </a:xfrm>
          <a:prstGeom prst="ellipse">
            <a:avLst/>
          </a:prstGeom>
          <a:solidFill>
            <a:srgbClr val="2365A9"/>
          </a:solidFill>
          <a:ln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1024128" y="1399032"/>
            <a:ext cx="96012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Technical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1920240" y="1371600"/>
            <a:ext cx="3474720" cy="4754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Uses existing DB/backend foundation; modular APIs and AI services.</a:t>
            </a:r>
          </a:p>
        </p:txBody>
      </p:sp>
      <p:sp>
        <p:nvSpPr>
          <p:cNvPr id="17436" name="Oval 17435"/>
          <p:cNvSpPr/>
          <p:nvPr/>
        </p:nvSpPr>
        <p:spPr>
          <a:xfrm>
            <a:off x="594360" y="2167128"/>
            <a:ext cx="347472" cy="347472"/>
          </a:xfrm>
          <a:prstGeom prst="ellipse">
            <a:avLst/>
          </a:prstGeom>
          <a:solidFill>
            <a:srgbClr val="26847C"/>
          </a:solidFill>
          <a:ln>
            <a:solidFill>
              <a:srgbClr val="268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1024128" y="2148840"/>
            <a:ext cx="96012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Operational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1920240" y="2121408"/>
            <a:ext cx="3474720" cy="4754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Three role-based workflows share one skill intelligence layer.</a:t>
            </a:r>
          </a:p>
        </p:txBody>
      </p:sp>
      <p:sp>
        <p:nvSpPr>
          <p:cNvPr id="17439" name="Oval 17438"/>
          <p:cNvSpPr/>
          <p:nvPr/>
        </p:nvSpPr>
        <p:spPr>
          <a:xfrm>
            <a:off x="594360" y="2916936"/>
            <a:ext cx="347472" cy="347472"/>
          </a:xfrm>
          <a:prstGeom prst="ellipse">
            <a:avLst/>
          </a:prstGeom>
          <a:solidFill>
            <a:srgbClr val="43945C"/>
          </a:solidFill>
          <a:ln>
            <a:solidFill>
              <a:srgbClr val="439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1024128" y="2898648"/>
            <a:ext cx="96012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Scalable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1920240" y="2871216"/>
            <a:ext cx="3474720" cy="4754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Modules can be added independently as adoption grows.</a:t>
            </a:r>
          </a:p>
        </p:txBody>
      </p:sp>
      <p:sp>
        <p:nvSpPr>
          <p:cNvPr id="17442" name="Oval 17441"/>
          <p:cNvSpPr/>
          <p:nvPr/>
        </p:nvSpPr>
        <p:spPr>
          <a:xfrm>
            <a:off x="594360" y="3666744"/>
            <a:ext cx="347472" cy="347472"/>
          </a:xfrm>
          <a:prstGeom prst="ellipse">
            <a:avLst/>
          </a:prstGeom>
          <a:solidFill>
            <a:srgbClr val="E77E22"/>
          </a:solidFill>
          <a:ln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443" name="TextBox 17442"/>
          <p:cNvSpPr txBox="1"/>
          <p:nvPr/>
        </p:nvSpPr>
        <p:spPr>
          <a:xfrm>
            <a:off x="1024128" y="3648456"/>
            <a:ext cx="96012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Economic</a:t>
            </a:r>
          </a:p>
        </p:txBody>
      </p:sp>
      <p:sp>
        <p:nvSpPr>
          <p:cNvPr id="17444" name="TextBox 17443"/>
          <p:cNvSpPr txBox="1"/>
          <p:nvPr/>
        </p:nvSpPr>
        <p:spPr>
          <a:xfrm>
            <a:off x="1920240" y="3621024"/>
            <a:ext cx="3474720" cy="4754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Cloud-ready architecture supports incremental deployment.</a:t>
            </a:r>
          </a:p>
        </p:txBody>
      </p:sp>
      <p:sp>
        <p:nvSpPr>
          <p:cNvPr id="17445" name="TextBox 17444"/>
          <p:cNvSpPr txBox="1"/>
          <p:nvPr/>
        </p:nvSpPr>
        <p:spPr>
          <a:xfrm>
            <a:off x="5486400" y="1005840"/>
            <a:ext cx="256032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◆ Use Cases</a:t>
            </a:r>
          </a:p>
        </p:txBody>
      </p:sp>
      <p:sp>
        <p:nvSpPr>
          <p:cNvPr id="17446" name="Rounded Rectangle 17445"/>
          <p:cNvSpPr/>
          <p:nvPr/>
        </p:nvSpPr>
        <p:spPr>
          <a:xfrm>
            <a:off x="5486400" y="1417320"/>
            <a:ext cx="1143000" cy="475488"/>
          </a:xfrm>
          <a:prstGeom prst="roundRect">
            <a:avLst/>
          </a:prstGeom>
          <a:solidFill>
            <a:srgbClr val="2365A9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Student</a:t>
            </a:r>
          </a:p>
        </p:txBody>
      </p:sp>
      <p:sp>
        <p:nvSpPr>
          <p:cNvPr id="17447" name="TextBox 17446"/>
          <p:cNvSpPr txBox="1"/>
          <p:nvPr/>
        </p:nvSpPr>
        <p:spPr>
          <a:xfrm>
            <a:off x="6720840" y="1399032"/>
            <a:ext cx="1874519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Find gap → learn → prove skill → apply</a:t>
            </a:r>
          </a:p>
        </p:txBody>
      </p:sp>
      <p:sp>
        <p:nvSpPr>
          <p:cNvPr id="17448" name="Rounded Rectangle 17447"/>
          <p:cNvSpPr/>
          <p:nvPr/>
        </p:nvSpPr>
        <p:spPr>
          <a:xfrm>
            <a:off x="5486400" y="2167128"/>
            <a:ext cx="1143000" cy="475488"/>
          </a:xfrm>
          <a:prstGeom prst="roundRect">
            <a:avLst/>
          </a:prstGeom>
          <a:solidFill>
            <a:srgbClr val="26847C"/>
          </a:solidFill>
          <a:ln w="12700">
            <a:solidFill>
              <a:srgbClr val="268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Institution</a:t>
            </a:r>
          </a:p>
        </p:txBody>
      </p:sp>
      <p:sp>
        <p:nvSpPr>
          <p:cNvPr id="17449" name="TextBox 17448"/>
          <p:cNvSpPr txBox="1"/>
          <p:nvPr/>
        </p:nvSpPr>
        <p:spPr>
          <a:xfrm>
            <a:off x="6720840" y="2148840"/>
            <a:ext cx="1874519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See cohort gaps → align curriculum → track readiness</a:t>
            </a:r>
          </a:p>
        </p:txBody>
      </p:sp>
      <p:sp>
        <p:nvSpPr>
          <p:cNvPr id="17450" name="Rounded Rectangle 17449"/>
          <p:cNvSpPr/>
          <p:nvPr/>
        </p:nvSpPr>
        <p:spPr>
          <a:xfrm>
            <a:off x="5486400" y="2916936"/>
            <a:ext cx="1143000" cy="475488"/>
          </a:xfrm>
          <a:prstGeom prst="roundRect">
            <a:avLst/>
          </a:prstGeom>
          <a:solidFill>
            <a:srgbClr val="E77E22"/>
          </a:solidFill>
          <a:ln w="12700"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Industry</a:t>
            </a:r>
          </a:p>
        </p:txBody>
      </p:sp>
      <p:sp>
        <p:nvSpPr>
          <p:cNvPr id="17451" name="TextBox 17450"/>
          <p:cNvSpPr txBox="1"/>
          <p:nvPr/>
        </p:nvSpPr>
        <p:spPr>
          <a:xfrm>
            <a:off x="6720840" y="2898648"/>
            <a:ext cx="1874519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Publish skill needs → discover talent → give feedback</a:t>
            </a:r>
          </a:p>
        </p:txBody>
      </p:sp>
      <p:sp>
        <p:nvSpPr>
          <p:cNvPr id="17452" name="Rounded Rectangle 17451"/>
          <p:cNvSpPr/>
          <p:nvPr/>
        </p:nvSpPr>
        <p:spPr>
          <a:xfrm>
            <a:off x="5486400" y="3666744"/>
            <a:ext cx="1143000" cy="475488"/>
          </a:xfrm>
          <a:prstGeom prst="roundRect">
            <a:avLst/>
          </a:prstGeom>
          <a:solidFill>
            <a:srgbClr val="6F529B"/>
          </a:solidFill>
          <a:ln w="12700">
            <a:solidFill>
              <a:srgbClr val="6F52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Admin</a:t>
            </a:r>
          </a:p>
        </p:txBody>
      </p:sp>
      <p:sp>
        <p:nvSpPr>
          <p:cNvPr id="17453" name="TextBox 17452"/>
          <p:cNvSpPr txBox="1"/>
          <p:nvPr/>
        </p:nvSpPr>
        <p:spPr>
          <a:xfrm>
            <a:off x="6720840" y="3648456"/>
            <a:ext cx="1874519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Monitor adoption → quality → ecosystem health</a:t>
            </a:r>
          </a:p>
        </p:txBody>
      </p:sp>
      <p:sp>
        <p:nvSpPr>
          <p:cNvPr id="17454" name="TextBox 17453"/>
          <p:cNvSpPr txBox="1"/>
          <p:nvPr/>
        </p:nvSpPr>
        <p:spPr>
          <a:xfrm>
            <a:off x="8915400" y="1005840"/>
            <a:ext cx="237744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◆ Viability</a:t>
            </a:r>
          </a:p>
        </p:txBody>
      </p:sp>
      <p:sp>
        <p:nvSpPr>
          <p:cNvPr id="17455" name="Rounded Rectangle 17454"/>
          <p:cNvSpPr/>
          <p:nvPr/>
        </p:nvSpPr>
        <p:spPr>
          <a:xfrm>
            <a:off x="8915400" y="1417320"/>
            <a:ext cx="233172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Institution SaaS</a:t>
            </a:r>
          </a:p>
        </p:txBody>
      </p:sp>
      <p:sp>
        <p:nvSpPr>
          <p:cNvPr id="17456" name="TextBox 17455"/>
          <p:cNvSpPr txBox="1"/>
          <p:nvPr/>
        </p:nvSpPr>
        <p:spPr>
          <a:xfrm>
            <a:off x="9052560" y="1929384"/>
            <a:ext cx="205740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analytics + curriculum intelligence</a:t>
            </a:r>
          </a:p>
        </p:txBody>
      </p:sp>
      <p:sp>
        <p:nvSpPr>
          <p:cNvPr id="17457" name="Rounded Rectangle 17456"/>
          <p:cNvSpPr/>
          <p:nvPr/>
        </p:nvSpPr>
        <p:spPr>
          <a:xfrm>
            <a:off x="8915400" y="2167128"/>
            <a:ext cx="233172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68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Industry access</a:t>
            </a:r>
          </a:p>
        </p:txBody>
      </p:sp>
      <p:sp>
        <p:nvSpPr>
          <p:cNvPr id="17458" name="TextBox 17457"/>
          <p:cNvSpPr txBox="1"/>
          <p:nvPr/>
        </p:nvSpPr>
        <p:spPr>
          <a:xfrm>
            <a:off x="9052560" y="2679192"/>
            <a:ext cx="205740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talent / projects / mentorship</a:t>
            </a:r>
          </a:p>
        </p:txBody>
      </p:sp>
      <p:sp>
        <p:nvSpPr>
          <p:cNvPr id="17459" name="Rounded Rectangle 17458"/>
          <p:cNvSpPr/>
          <p:nvPr/>
        </p:nvSpPr>
        <p:spPr>
          <a:xfrm>
            <a:off x="8915400" y="2916936"/>
            <a:ext cx="233172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Premium career tools</a:t>
            </a:r>
          </a:p>
        </p:txBody>
      </p:sp>
      <p:sp>
        <p:nvSpPr>
          <p:cNvPr id="17460" name="TextBox 17459"/>
          <p:cNvSpPr txBox="1"/>
          <p:nvPr/>
        </p:nvSpPr>
        <p:spPr>
          <a:xfrm>
            <a:off x="9052560" y="3429000"/>
            <a:ext cx="205740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advanced readiness + mock interview</a:t>
            </a:r>
          </a:p>
        </p:txBody>
      </p:sp>
      <p:sp>
        <p:nvSpPr>
          <p:cNvPr id="17461" name="Rounded Rectangle 17460"/>
          <p:cNvSpPr/>
          <p:nvPr/>
        </p:nvSpPr>
        <p:spPr>
          <a:xfrm>
            <a:off x="8915400" y="3666744"/>
            <a:ext cx="233172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39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Ecosystem value</a:t>
            </a:r>
          </a:p>
        </p:txBody>
      </p:sp>
      <p:sp>
        <p:nvSpPr>
          <p:cNvPr id="17462" name="TextBox 17461"/>
          <p:cNvSpPr txBox="1"/>
          <p:nvPr/>
        </p:nvSpPr>
        <p:spPr>
          <a:xfrm>
            <a:off x="9052560" y="4178808"/>
            <a:ext cx="205740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shared skill language + feedback loop</a:t>
            </a:r>
          </a:p>
        </p:txBody>
      </p:sp>
      <p:sp>
        <p:nvSpPr>
          <p:cNvPr id="17463" name="TextBox 17462"/>
          <p:cNvSpPr txBox="1"/>
          <p:nvPr/>
        </p:nvSpPr>
        <p:spPr>
          <a:xfrm>
            <a:off x="548640" y="4572000"/>
            <a:ext cx="1069848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>
                <a:solidFill>
                  <a:srgbClr val="FFFFFF"/>
                </a:solidFill>
                <a:latin typeface="Arial"/>
              </a:rPr>
              <a:t>◆ Key Challenges → Mitigation</a:t>
            </a:r>
          </a:p>
        </p:txBody>
      </p:sp>
      <p:sp>
        <p:nvSpPr>
          <p:cNvPr id="17464" name="Rounded Rectangle 17463"/>
          <p:cNvSpPr/>
          <p:nvPr/>
        </p:nvSpPr>
        <p:spPr>
          <a:xfrm>
            <a:off x="594360" y="4956048"/>
            <a:ext cx="105156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Privacy</a:t>
            </a:r>
          </a:p>
        </p:txBody>
      </p:sp>
      <p:cxnSp>
        <p:nvCxnSpPr>
          <p:cNvPr id="17465" name="Connector 17464"/>
          <p:cNvCxnSpPr/>
          <p:nvPr/>
        </p:nvCxnSpPr>
        <p:spPr>
          <a:xfrm>
            <a:off x="1645919" y="5193792"/>
            <a:ext cx="274321" cy="0"/>
          </a:xfrm>
          <a:prstGeom prst="line">
            <a:avLst/>
          </a:prstGeom>
          <a:ln w="15240">
            <a:solidFill>
              <a:srgbClr val="C243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6" name="Rounded Rectangle 17465"/>
          <p:cNvSpPr/>
          <p:nvPr/>
        </p:nvSpPr>
        <p:spPr>
          <a:xfrm>
            <a:off x="1947672" y="4956048"/>
            <a:ext cx="1325880" cy="475488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RBAC + least privilege + audit trail</a:t>
            </a:r>
          </a:p>
        </p:txBody>
      </p:sp>
      <p:sp>
        <p:nvSpPr>
          <p:cNvPr id="17467" name="Rounded Rectangle 17466"/>
          <p:cNvSpPr/>
          <p:nvPr/>
        </p:nvSpPr>
        <p:spPr>
          <a:xfrm>
            <a:off x="3383279" y="4956048"/>
            <a:ext cx="105156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AI quality</a:t>
            </a:r>
          </a:p>
        </p:txBody>
      </p:sp>
      <p:cxnSp>
        <p:nvCxnSpPr>
          <p:cNvPr id="17468" name="Connector 17467"/>
          <p:cNvCxnSpPr/>
          <p:nvPr/>
        </p:nvCxnSpPr>
        <p:spPr>
          <a:xfrm>
            <a:off x="4434840" y="5193792"/>
            <a:ext cx="274319" cy="0"/>
          </a:xfrm>
          <a:prstGeom prst="line">
            <a:avLst/>
          </a:prstGeom>
          <a:ln w="15240">
            <a:solidFill>
              <a:srgbClr val="E7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9" name="Rounded Rectangle 17468"/>
          <p:cNvSpPr/>
          <p:nvPr/>
        </p:nvSpPr>
        <p:spPr>
          <a:xfrm>
            <a:off x="4736592" y="4956048"/>
            <a:ext cx="1325880" cy="475488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Evidence-based scoring + human review</a:t>
            </a:r>
          </a:p>
        </p:txBody>
      </p:sp>
      <p:sp>
        <p:nvSpPr>
          <p:cNvPr id="17470" name="Rounded Rectangle 17469"/>
          <p:cNvSpPr/>
          <p:nvPr/>
        </p:nvSpPr>
        <p:spPr>
          <a:xfrm>
            <a:off x="6172200" y="4956048"/>
            <a:ext cx="105156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68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Skill drift</a:t>
            </a:r>
          </a:p>
        </p:txBody>
      </p:sp>
      <p:cxnSp>
        <p:nvCxnSpPr>
          <p:cNvPr id="17471" name="Connector 17470"/>
          <p:cNvCxnSpPr/>
          <p:nvPr/>
        </p:nvCxnSpPr>
        <p:spPr>
          <a:xfrm>
            <a:off x="7223760" y="5193792"/>
            <a:ext cx="274319" cy="0"/>
          </a:xfrm>
          <a:prstGeom prst="line">
            <a:avLst/>
          </a:prstGeom>
          <a:ln w="15240">
            <a:solidFill>
              <a:srgbClr val="2684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72" name="Rounded Rectangle 17471"/>
          <p:cNvSpPr/>
          <p:nvPr/>
        </p:nvSpPr>
        <p:spPr>
          <a:xfrm>
            <a:off x="7525512" y="4956048"/>
            <a:ext cx="1325880" cy="475488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Versioned skill taxonomy + industry feedback</a:t>
            </a:r>
          </a:p>
        </p:txBody>
      </p:sp>
      <p:sp>
        <p:nvSpPr>
          <p:cNvPr id="17473" name="Rounded Rectangle 17472"/>
          <p:cNvSpPr/>
          <p:nvPr/>
        </p:nvSpPr>
        <p:spPr>
          <a:xfrm>
            <a:off x="8961119" y="4956048"/>
            <a:ext cx="105156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39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Stale opportunities</a:t>
            </a:r>
          </a:p>
        </p:txBody>
      </p:sp>
      <p:cxnSp>
        <p:nvCxnSpPr>
          <p:cNvPr id="17474" name="Connector 17473"/>
          <p:cNvCxnSpPr/>
          <p:nvPr/>
        </p:nvCxnSpPr>
        <p:spPr>
          <a:xfrm>
            <a:off x="10012680" y="5193792"/>
            <a:ext cx="274319" cy="0"/>
          </a:xfrm>
          <a:prstGeom prst="line">
            <a:avLst/>
          </a:prstGeom>
          <a:ln w="15240">
            <a:solidFill>
              <a:srgbClr val="4394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75" name="Rounded Rectangle 17474"/>
          <p:cNvSpPr/>
          <p:nvPr/>
        </p:nvSpPr>
        <p:spPr>
          <a:xfrm>
            <a:off x="10314432" y="4956048"/>
            <a:ext cx="1325880" cy="475488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Expiry + timestamps + source tracking</a:t>
            </a:r>
          </a:p>
        </p:txBody>
      </p:sp>
      <p:sp>
        <p:nvSpPr>
          <p:cNvPr id="17476" name="TextBox 17475"/>
          <p:cNvSpPr txBox="1"/>
          <p:nvPr/>
        </p:nvSpPr>
        <p:spPr>
          <a:xfrm>
            <a:off x="640080" y="5715000"/>
            <a:ext cx="1060704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Feasibility conclusion: build incrementally around the existing database and backend, then expand AI and integrations without replacing the core architecture.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23" name="TextBox 17422"/>
          <p:cNvSpPr txBox="1"/>
          <p:nvPr/>
        </p:nvSpPr>
        <p:spPr>
          <a:xfrm>
            <a:off x="457200" y="502920"/>
            <a:ext cx="1124712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Arial"/>
              </a:rPr>
              <a:t>IMPACT AND BENEFITS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502920" y="1005840"/>
            <a:ext cx="502920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>
                <a:solidFill>
                  <a:srgbClr val="FFFFFF"/>
                </a:solidFill>
                <a:latin typeface="Arial"/>
              </a:rPr>
              <a:t>◆ Proposed Module Coverage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594360" y="1399032"/>
            <a:ext cx="123444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Student OS</a:t>
            </a:r>
          </a:p>
        </p:txBody>
      </p:sp>
      <p:sp>
        <p:nvSpPr>
          <p:cNvPr id="17426" name="Rectangle 17425"/>
          <p:cNvSpPr/>
          <p:nvPr/>
        </p:nvSpPr>
        <p:spPr>
          <a:xfrm>
            <a:off x="1828800" y="1444752"/>
            <a:ext cx="2468880" cy="201168"/>
          </a:xfrm>
          <a:prstGeom prst="rect">
            <a:avLst/>
          </a:prstGeom>
          <a:solidFill>
            <a:srgbClr val="D5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7" name="Rectangle 17426"/>
          <p:cNvSpPr/>
          <p:nvPr/>
        </p:nvSpPr>
        <p:spPr>
          <a:xfrm>
            <a:off x="1828800" y="1444752"/>
            <a:ext cx="2468880" cy="201168"/>
          </a:xfrm>
          <a:prstGeom prst="rect">
            <a:avLst/>
          </a:prstGeom>
          <a:solidFill>
            <a:srgbClr val="2365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9" name="TextBox 17428"/>
          <p:cNvSpPr txBox="1"/>
          <p:nvPr/>
        </p:nvSpPr>
        <p:spPr>
          <a:xfrm>
            <a:off x="594360" y="1993392"/>
            <a:ext cx="123444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Institution</a:t>
            </a:r>
          </a:p>
        </p:txBody>
      </p:sp>
      <p:sp>
        <p:nvSpPr>
          <p:cNvPr id="17430" name="Rectangle 17429"/>
          <p:cNvSpPr/>
          <p:nvPr/>
        </p:nvSpPr>
        <p:spPr>
          <a:xfrm>
            <a:off x="1828800" y="2039112"/>
            <a:ext cx="2468880" cy="201168"/>
          </a:xfrm>
          <a:prstGeom prst="rect">
            <a:avLst/>
          </a:prstGeom>
          <a:solidFill>
            <a:srgbClr val="D5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1" name="Rectangle 17430"/>
          <p:cNvSpPr/>
          <p:nvPr/>
        </p:nvSpPr>
        <p:spPr>
          <a:xfrm>
            <a:off x="1828800" y="2039112"/>
            <a:ext cx="987552" cy="201168"/>
          </a:xfrm>
          <a:prstGeom prst="rect">
            <a:avLst/>
          </a:prstGeom>
          <a:solidFill>
            <a:srgbClr val="268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3" name="TextBox 17432"/>
          <p:cNvSpPr txBox="1"/>
          <p:nvPr/>
        </p:nvSpPr>
        <p:spPr>
          <a:xfrm>
            <a:off x="594360" y="2587752"/>
            <a:ext cx="123444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Industry</a:t>
            </a:r>
          </a:p>
        </p:txBody>
      </p:sp>
      <p:sp>
        <p:nvSpPr>
          <p:cNvPr id="17434" name="Rectangle 17433"/>
          <p:cNvSpPr/>
          <p:nvPr/>
        </p:nvSpPr>
        <p:spPr>
          <a:xfrm>
            <a:off x="1828800" y="2633472"/>
            <a:ext cx="2468880" cy="201168"/>
          </a:xfrm>
          <a:prstGeom prst="rect">
            <a:avLst/>
          </a:prstGeom>
          <a:solidFill>
            <a:srgbClr val="D5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5" name="Rectangle 17434"/>
          <p:cNvSpPr/>
          <p:nvPr/>
        </p:nvSpPr>
        <p:spPr>
          <a:xfrm>
            <a:off x="1828800" y="2633472"/>
            <a:ext cx="1481328" cy="201168"/>
          </a:xfrm>
          <a:prstGeom prst="rect">
            <a:avLst/>
          </a:prstGeom>
          <a:solidFill>
            <a:srgbClr val="E7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7" name="TextBox 17436"/>
          <p:cNvSpPr txBox="1"/>
          <p:nvPr/>
        </p:nvSpPr>
        <p:spPr>
          <a:xfrm>
            <a:off x="594360" y="3182112"/>
            <a:ext cx="123444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Cross-platform</a:t>
            </a:r>
          </a:p>
        </p:txBody>
      </p:sp>
      <p:sp>
        <p:nvSpPr>
          <p:cNvPr id="17438" name="Rectangle 17437"/>
          <p:cNvSpPr/>
          <p:nvPr/>
        </p:nvSpPr>
        <p:spPr>
          <a:xfrm>
            <a:off x="1828800" y="3227832"/>
            <a:ext cx="2468880" cy="201168"/>
          </a:xfrm>
          <a:prstGeom prst="rect">
            <a:avLst/>
          </a:prstGeom>
          <a:solidFill>
            <a:srgbClr val="D5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9" name="Rectangle 17438"/>
          <p:cNvSpPr/>
          <p:nvPr/>
        </p:nvSpPr>
        <p:spPr>
          <a:xfrm>
            <a:off x="1828800" y="3227832"/>
            <a:ext cx="1234440" cy="201168"/>
          </a:xfrm>
          <a:prstGeom prst="rect">
            <a:avLst/>
          </a:prstGeom>
          <a:solidFill>
            <a:srgbClr val="6F5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1" name="TextBox 17440"/>
          <p:cNvSpPr txBox="1"/>
          <p:nvPr/>
        </p:nvSpPr>
        <p:spPr>
          <a:xfrm>
            <a:off x="502920" y="3886200"/>
            <a:ext cx="502920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>
                <a:solidFill>
                  <a:srgbClr val="FFFFFF"/>
                </a:solidFill>
                <a:latin typeface="Arial"/>
              </a:rPr>
              <a:t>◆ Career Readiness Funnel</a:t>
            </a:r>
          </a:p>
        </p:txBody>
      </p:sp>
      <p:sp>
        <p:nvSpPr>
          <p:cNvPr id="17442" name="Rounded Rectangle 17441"/>
          <p:cNvSpPr/>
          <p:nvPr/>
        </p:nvSpPr>
        <p:spPr>
          <a:xfrm>
            <a:off x="640079" y="4297680"/>
            <a:ext cx="4572000" cy="256032"/>
          </a:xfrm>
          <a:prstGeom prst="roundRect">
            <a:avLst/>
          </a:prstGeom>
          <a:solidFill>
            <a:srgbClr val="2365A9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7443" name="Rounded Rectangle 17442"/>
          <p:cNvSpPr/>
          <p:nvPr/>
        </p:nvSpPr>
        <p:spPr>
          <a:xfrm>
            <a:off x="960119" y="4599432"/>
            <a:ext cx="3931920" cy="256032"/>
          </a:xfrm>
          <a:prstGeom prst="roundRect">
            <a:avLst/>
          </a:prstGeom>
          <a:solidFill>
            <a:srgbClr val="26847C"/>
          </a:solidFill>
          <a:ln w="12700">
            <a:solidFill>
              <a:srgbClr val="268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Profile</a:t>
            </a:r>
          </a:p>
        </p:txBody>
      </p:sp>
      <p:sp>
        <p:nvSpPr>
          <p:cNvPr id="17444" name="Rounded Rectangle 17443"/>
          <p:cNvSpPr/>
          <p:nvPr/>
        </p:nvSpPr>
        <p:spPr>
          <a:xfrm>
            <a:off x="1280160" y="4901184"/>
            <a:ext cx="3291840" cy="256032"/>
          </a:xfrm>
          <a:prstGeom prst="roundRect">
            <a:avLst/>
          </a:prstGeom>
          <a:solidFill>
            <a:srgbClr val="E77E22"/>
          </a:solidFill>
          <a:ln w="12700"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Gap</a:t>
            </a:r>
          </a:p>
        </p:txBody>
      </p:sp>
      <p:sp>
        <p:nvSpPr>
          <p:cNvPr id="17445" name="Rounded Rectangle 17444"/>
          <p:cNvSpPr/>
          <p:nvPr/>
        </p:nvSpPr>
        <p:spPr>
          <a:xfrm>
            <a:off x="1600200" y="5202936"/>
            <a:ext cx="2651760" cy="256032"/>
          </a:xfrm>
          <a:prstGeom prst="roundRect">
            <a:avLst/>
          </a:prstGeom>
          <a:solidFill>
            <a:srgbClr val="43945C"/>
          </a:solidFill>
          <a:ln w="12700">
            <a:solidFill>
              <a:srgbClr val="439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Action</a:t>
            </a:r>
          </a:p>
        </p:txBody>
      </p:sp>
      <p:sp>
        <p:nvSpPr>
          <p:cNvPr id="17446" name="Rounded Rectangle 17445"/>
          <p:cNvSpPr/>
          <p:nvPr/>
        </p:nvSpPr>
        <p:spPr>
          <a:xfrm>
            <a:off x="1920239" y="5504688"/>
            <a:ext cx="2011680" cy="256032"/>
          </a:xfrm>
          <a:prstGeom prst="roundRect">
            <a:avLst/>
          </a:prstGeom>
          <a:solidFill>
            <a:srgbClr val="6F529B"/>
          </a:solidFill>
          <a:ln w="12700">
            <a:solidFill>
              <a:srgbClr val="6F52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Opportunity</a:t>
            </a:r>
          </a:p>
        </p:txBody>
      </p:sp>
      <p:sp>
        <p:nvSpPr>
          <p:cNvPr id="17447" name="TextBox 17446"/>
          <p:cNvSpPr txBox="1"/>
          <p:nvPr/>
        </p:nvSpPr>
        <p:spPr>
          <a:xfrm>
            <a:off x="5532120" y="1005840"/>
            <a:ext cx="548640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>
                <a:solidFill>
                  <a:srgbClr val="FFFFFF"/>
                </a:solidFill>
                <a:latin typeface="Arial"/>
              </a:rPr>
              <a:t>◆ Benefits of the Solution</a:t>
            </a:r>
          </a:p>
        </p:txBody>
      </p:sp>
      <p:sp>
        <p:nvSpPr>
          <p:cNvPr id="17448" name="Rounded Rectangle 17447"/>
          <p:cNvSpPr/>
          <p:nvPr/>
        </p:nvSpPr>
        <p:spPr>
          <a:xfrm>
            <a:off x="5532120" y="1444752"/>
            <a:ext cx="1234440" cy="475488"/>
          </a:xfrm>
          <a:prstGeom prst="roundRect">
            <a:avLst/>
          </a:prstGeom>
          <a:solidFill>
            <a:srgbClr val="2365A9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SOCIAL</a:t>
            </a:r>
          </a:p>
        </p:txBody>
      </p:sp>
      <p:sp>
        <p:nvSpPr>
          <p:cNvPr id="17449" name="TextBox 17448"/>
          <p:cNvSpPr txBox="1"/>
          <p:nvPr/>
        </p:nvSpPr>
        <p:spPr>
          <a:xfrm>
            <a:off x="6903720" y="1426464"/>
            <a:ext cx="3840480" cy="4754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Mentorship, guidance and stronger student–industry connections</a:t>
            </a:r>
          </a:p>
        </p:txBody>
      </p:sp>
      <p:sp>
        <p:nvSpPr>
          <p:cNvPr id="17450" name="Rounded Rectangle 17449"/>
          <p:cNvSpPr/>
          <p:nvPr/>
        </p:nvSpPr>
        <p:spPr>
          <a:xfrm>
            <a:off x="5532120" y="2221992"/>
            <a:ext cx="1234440" cy="475488"/>
          </a:xfrm>
          <a:prstGeom prst="roundRect">
            <a:avLst/>
          </a:prstGeom>
          <a:solidFill>
            <a:srgbClr val="26847C"/>
          </a:solidFill>
          <a:ln w="12700">
            <a:solidFill>
              <a:srgbClr val="268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EDUCATIONAL</a:t>
            </a:r>
          </a:p>
        </p:txBody>
      </p:sp>
      <p:sp>
        <p:nvSpPr>
          <p:cNvPr id="17451" name="TextBox 17450"/>
          <p:cNvSpPr txBox="1"/>
          <p:nvPr/>
        </p:nvSpPr>
        <p:spPr>
          <a:xfrm>
            <a:off x="6903720" y="2203704"/>
            <a:ext cx="3840480" cy="4754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Skill-gap visibility and curriculum alignment</a:t>
            </a:r>
          </a:p>
        </p:txBody>
      </p:sp>
      <p:sp>
        <p:nvSpPr>
          <p:cNvPr id="17452" name="Rounded Rectangle 17451"/>
          <p:cNvSpPr/>
          <p:nvPr/>
        </p:nvSpPr>
        <p:spPr>
          <a:xfrm>
            <a:off x="5532120" y="2999232"/>
            <a:ext cx="1234440" cy="475488"/>
          </a:xfrm>
          <a:prstGeom prst="roundRect">
            <a:avLst/>
          </a:prstGeom>
          <a:solidFill>
            <a:srgbClr val="E77E22"/>
          </a:solidFill>
          <a:ln w="12700"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ECONOMIC</a:t>
            </a:r>
          </a:p>
        </p:txBody>
      </p:sp>
      <p:sp>
        <p:nvSpPr>
          <p:cNvPr id="17453" name="TextBox 17452"/>
          <p:cNvSpPr txBox="1"/>
          <p:nvPr/>
        </p:nvSpPr>
        <p:spPr>
          <a:xfrm>
            <a:off x="6903720" y="2980944"/>
            <a:ext cx="3840480" cy="4754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Better opportunity matching and reduced skill mismatch</a:t>
            </a:r>
          </a:p>
        </p:txBody>
      </p:sp>
      <p:sp>
        <p:nvSpPr>
          <p:cNvPr id="17454" name="Rounded Rectangle 17453"/>
          <p:cNvSpPr/>
          <p:nvPr/>
        </p:nvSpPr>
        <p:spPr>
          <a:xfrm>
            <a:off x="5532120" y="3776472"/>
            <a:ext cx="1234440" cy="475488"/>
          </a:xfrm>
          <a:prstGeom prst="roundRect">
            <a:avLst/>
          </a:prstGeom>
          <a:solidFill>
            <a:srgbClr val="6F529B"/>
          </a:solidFill>
          <a:ln w="12700">
            <a:solidFill>
              <a:srgbClr val="6F52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TECHNOLOGICAL</a:t>
            </a:r>
          </a:p>
        </p:txBody>
      </p:sp>
      <p:sp>
        <p:nvSpPr>
          <p:cNvPr id="17455" name="TextBox 17454"/>
          <p:cNvSpPr txBox="1"/>
          <p:nvPr/>
        </p:nvSpPr>
        <p:spPr>
          <a:xfrm>
            <a:off x="6903720" y="3758184"/>
            <a:ext cx="3840480" cy="4754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r>
              <a:rPr sz="950" b="1">
                <a:solidFill/>
                <a:latin typeface="Arial"/>
              </a:rPr>
              <a:t>AI-assisted personalization (Gemini) and continuous feedback (SkillEngine)</a:t>
            </a:r>
          </a:p>
        </p:txBody>
      </p:sp>
      <p:sp>
        <p:nvSpPr>
          <p:cNvPr id="17456" name="Rounded Rectangle 17455"/>
          <p:cNvSpPr/>
          <p:nvPr/>
        </p:nvSpPr>
        <p:spPr>
          <a:xfrm>
            <a:off x="5532120" y="4553712"/>
            <a:ext cx="1234440" cy="475488"/>
          </a:xfrm>
          <a:prstGeom prst="roundRect">
            <a:avLst/>
          </a:prstGeom>
          <a:solidFill>
            <a:srgbClr val="43945C"/>
          </a:solidFill>
          <a:ln w="12700">
            <a:solidFill>
              <a:srgbClr val="439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ENVIRONMENTAL</a:t>
            </a:r>
          </a:p>
        </p:txBody>
      </p:sp>
      <p:sp>
        <p:nvSpPr>
          <p:cNvPr id="17457" name="TextBox 17456"/>
          <p:cNvSpPr txBox="1"/>
          <p:nvPr/>
        </p:nvSpPr>
        <p:spPr>
          <a:xfrm>
            <a:off x="6903720" y="4535424"/>
            <a:ext cx="3840480" cy="4754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More digital mentorship and remote engagement</a:t>
            </a:r>
          </a:p>
        </p:txBody>
      </p:sp>
      <p:sp>
        <p:nvSpPr>
          <p:cNvPr id="17458" name="TextBox 17457"/>
          <p:cNvSpPr txBox="1"/>
          <p:nvPr/>
        </p:nvSpPr>
        <p:spPr>
          <a:xfrm>
            <a:off x="5532120" y="5349240"/>
            <a:ext cx="548640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Arial"/>
              </a:rPr>
              <a:t>◆ From Fragmented → Intelligent</a:t>
            </a:r>
          </a:p>
        </p:txBody>
      </p:sp>
      <p:sp>
        <p:nvSpPr>
          <p:cNvPr id="17459" name="Rounded Rectangle 17458"/>
          <p:cNvSpPr/>
          <p:nvPr/>
        </p:nvSpPr>
        <p:spPr>
          <a:xfrm>
            <a:off x="5532120" y="5669280"/>
            <a:ext cx="1874519" cy="475488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C2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Assessments
in isolation</a:t>
            </a:r>
          </a:p>
        </p:txBody>
      </p:sp>
      <p:cxnSp>
        <p:nvCxnSpPr>
          <p:cNvPr id="17460" name="Connector 17459"/>
          <p:cNvCxnSpPr/>
          <p:nvPr/>
        </p:nvCxnSpPr>
        <p:spPr>
          <a:xfrm>
            <a:off x="7498079" y="5907024"/>
            <a:ext cx="502921" cy="0"/>
          </a:xfrm>
          <a:prstGeom prst="line">
            <a:avLst/>
          </a:prstGeom>
          <a:ln w="25400">
            <a:solidFill>
              <a:srgbClr val="236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1" name="Rounded Rectangle 17460"/>
          <p:cNvSpPr/>
          <p:nvPr/>
        </p:nvSpPr>
        <p:spPr>
          <a:xfrm>
            <a:off x="8046720" y="5669280"/>
            <a:ext cx="233172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Continuous career
readiness loop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502920"/>
            <a:ext cx="1124712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Arial"/>
              </a:rPr>
              <a:t>RESEARCH AND REFERENCES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1005840"/>
            <a:ext cx="384048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>
                <a:solidFill>
                  <a:srgbClr val="FFFFFF"/>
                </a:solidFill>
                <a:latin typeface="Arial"/>
              </a:rPr>
              <a:t>◆ Research / Design References</a:t>
            </a:r>
          </a:p>
        </p:txBody>
      </p:sp>
      <p:sp>
        <p:nvSpPr>
          <p:cNvPr id="15" name="Oval 14"/>
          <p:cNvSpPr/>
          <p:nvPr/>
        </p:nvSpPr>
        <p:spPr>
          <a:xfrm>
            <a:off x="594360" y="1417320"/>
            <a:ext cx="320040" cy="320040"/>
          </a:xfrm>
          <a:prstGeom prst="ellipse">
            <a:avLst/>
          </a:prstGeom>
          <a:solidFill>
            <a:srgbClr val="2365A9"/>
          </a:solidFill>
          <a:ln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1389888"/>
            <a:ext cx="150876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SIH PS 26044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1664208"/>
            <a:ext cx="3246120" cy="34747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Portal for Academia–Industry Collaboration for Skill Mapping, Internships and Placement</a:t>
            </a:r>
          </a:p>
        </p:txBody>
      </p:sp>
      <p:sp>
        <p:nvSpPr>
          <p:cNvPr id="18" name="Oval 17"/>
          <p:cNvSpPr/>
          <p:nvPr/>
        </p:nvSpPr>
        <p:spPr>
          <a:xfrm>
            <a:off x="594360" y="2258568"/>
            <a:ext cx="320040" cy="320040"/>
          </a:xfrm>
          <a:prstGeom prst="ellipse">
            <a:avLst/>
          </a:prstGeom>
          <a:solidFill>
            <a:srgbClr val="2365A9"/>
          </a:solidFill>
          <a:ln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231136"/>
            <a:ext cx="150876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Provided SIH template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505456"/>
            <a:ext cx="3246120" cy="34747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Six-slide structure; concise points; diagrams / infographics</a:t>
            </a:r>
          </a:p>
        </p:txBody>
      </p:sp>
      <p:sp>
        <p:nvSpPr>
          <p:cNvPr id="21" name="Oval 20"/>
          <p:cNvSpPr/>
          <p:nvPr/>
        </p:nvSpPr>
        <p:spPr>
          <a:xfrm>
            <a:off x="594360" y="3099816"/>
            <a:ext cx="320040" cy="320040"/>
          </a:xfrm>
          <a:prstGeom prst="ellipse">
            <a:avLst/>
          </a:prstGeom>
          <a:solidFill>
            <a:srgbClr val="2365A9"/>
          </a:solidFill>
          <a:ln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3072384"/>
            <a:ext cx="150876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Product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346704"/>
            <a:ext cx="3246120" cy="34747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Career readiness • assessment • learning • talent matching patterns</a:t>
            </a:r>
          </a:p>
        </p:txBody>
      </p:sp>
      <p:sp>
        <p:nvSpPr>
          <p:cNvPr id="24" name="Oval 23"/>
          <p:cNvSpPr/>
          <p:nvPr/>
        </p:nvSpPr>
        <p:spPr>
          <a:xfrm>
            <a:off x="594360" y="3941064"/>
            <a:ext cx="320040" cy="320040"/>
          </a:xfrm>
          <a:prstGeom prst="ellipse">
            <a:avLst/>
          </a:prstGeom>
          <a:solidFill>
            <a:srgbClr val="2365A9"/>
          </a:solidFill>
          <a:ln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913632"/>
            <a:ext cx="150876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Architecture research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4187952"/>
            <a:ext cx="3246120" cy="34747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REST APIs • RBAC • relational data • analytics • AI recommendation pipelines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00600" y="1005840"/>
            <a:ext cx="640080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>
                <a:solidFill>
                  <a:srgbClr val="FFFFFF"/>
                </a:solidFill>
                <a:latin typeface="Arial"/>
              </a:rPr>
              <a:t>◆ Conceptual Comparison with Single-Purpose Systems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800600" y="1417320"/>
            <a:ext cx="1645920" cy="594360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Capability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37960" y="1417320"/>
            <a:ext cx="1554480" cy="594360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Career Readiness 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83879" y="1417320"/>
            <a:ext cx="1051560" cy="594360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Assessment
Portal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326880" y="1417320"/>
            <a:ext cx="1051560" cy="594360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LMS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469880" y="1417320"/>
            <a:ext cx="822960" cy="594360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Job Portal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800600" y="2057400"/>
            <a:ext cx="164592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Skill profile + gap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37960" y="2057400"/>
            <a:ext cx="155448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83879" y="2057400"/>
            <a:ext cx="10515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△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326880" y="2057400"/>
            <a:ext cx="10515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△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469880" y="2057400"/>
            <a:ext cx="8229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×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800600" y="2514600"/>
            <a:ext cx="164592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Personalized roadmap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37960" y="2514600"/>
            <a:ext cx="155448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183879" y="2514600"/>
            <a:ext cx="10515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△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326880" y="2514600"/>
            <a:ext cx="10515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469880" y="2514600"/>
            <a:ext cx="8229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×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800600" y="2971800"/>
            <a:ext cx="164592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Daily planner + streak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37960" y="2971800"/>
            <a:ext cx="155448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183879" y="2971800"/>
            <a:ext cx="10515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×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326880" y="2971800"/>
            <a:ext cx="10515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△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469880" y="2971800"/>
            <a:ext cx="8229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×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800600" y="3429000"/>
            <a:ext cx="164592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Institution skill analytics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537960" y="3429000"/>
            <a:ext cx="155448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183879" y="3429000"/>
            <a:ext cx="10515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△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326880" y="3429000"/>
            <a:ext cx="10515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469880" y="3429000"/>
            <a:ext cx="8229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×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800600" y="3886200"/>
            <a:ext cx="164592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Industry skill requirements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537960" y="3886200"/>
            <a:ext cx="155448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183879" y="3886200"/>
            <a:ext cx="10515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×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326880" y="3886200"/>
            <a:ext cx="10515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×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469880" y="3886200"/>
            <a:ext cx="8229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800600" y="4343400"/>
            <a:ext cx="164592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Jobs + internships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537960" y="4343400"/>
            <a:ext cx="155448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183879" y="4343400"/>
            <a:ext cx="10515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×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326880" y="4343400"/>
            <a:ext cx="10515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×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469880" y="4343400"/>
            <a:ext cx="8229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800600" y="4800600"/>
            <a:ext cx="164592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Mock interview + resume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537960" y="4800600"/>
            <a:ext cx="155448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183879" y="4800600"/>
            <a:ext cx="10515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△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326880" y="4800600"/>
            <a:ext cx="10515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×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0469880" y="4800600"/>
            <a:ext cx="8229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△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800600" y="5257800"/>
            <a:ext cx="164592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Feedback loop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537960" y="5257800"/>
            <a:ext cx="155448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183879" y="5257800"/>
            <a:ext cx="10515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△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326880" y="5257800"/>
            <a:ext cx="10515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0469880" y="5257800"/>
            <a:ext cx="8229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800600" y="5806440"/>
            <a:ext cx="621792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✓ Core focus   △ Partial / indirect   × Not the primary purpose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48640" y="5989320"/>
            <a:ext cx="1078992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Comparison is conceptual and based on the functional scope defined for this proposed platform; it is not a benchmark of named commercial products.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94360" y="1417320"/>
            <a:ext cx="320040" cy="320040"/>
          </a:xfrm>
          <a:prstGeom prst="ellipse">
            <a:avLst/>
          </a:prstGeom>
          <a:solidFill>
            <a:srgbClr val="2365A9"/>
          </a:solidFill>
          <a:ln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8" name="Oval 17"/>
          <p:cNvSpPr/>
          <p:nvPr/>
        </p:nvSpPr>
        <p:spPr>
          <a:xfrm>
            <a:off x="594360" y="2258568"/>
            <a:ext cx="320040" cy="320040"/>
          </a:xfrm>
          <a:prstGeom prst="ellipse">
            <a:avLst/>
          </a:prstGeom>
          <a:solidFill>
            <a:srgbClr val="2365A9"/>
          </a:solidFill>
          <a:ln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21" name="Oval 20"/>
          <p:cNvSpPr/>
          <p:nvPr/>
        </p:nvSpPr>
        <p:spPr>
          <a:xfrm>
            <a:off x="594360" y="3099816"/>
            <a:ext cx="320040" cy="320040"/>
          </a:xfrm>
          <a:prstGeom prst="ellipse">
            <a:avLst/>
          </a:prstGeom>
          <a:solidFill>
            <a:srgbClr val="2365A9"/>
          </a:solidFill>
          <a:ln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4" name="Oval 23"/>
          <p:cNvSpPr/>
          <p:nvPr/>
        </p:nvSpPr>
        <p:spPr>
          <a:xfrm>
            <a:off x="594360" y="3941064"/>
            <a:ext cx="320040" cy="320040"/>
          </a:xfrm>
          <a:prstGeom prst="ellipse">
            <a:avLst/>
          </a:prstGeom>
          <a:solidFill>
            <a:srgbClr val="2365A9"/>
          </a:solidFill>
          <a:ln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320040"/>
            <a:ext cx="1133856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COMPETITOR COMPARISON — WHY OUR PLATFORM IS THE BEST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713232"/>
            <a:ext cx="1106424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The differentiator is a continuous, evidence-driven skill intelligence loop — not just a collection of career features.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1024128"/>
            <a:ext cx="2907792" cy="365760"/>
          </a:xfrm>
          <a:prstGeom prst="roundRect">
            <a:avLst/>
          </a:prstGeom>
          <a:solidFill>
            <a:srgbClr val="2365A9"/>
          </a:solidFill>
          <a:ln w="762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Feature / Capability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56432" y="1024128"/>
            <a:ext cx="1481328" cy="365760"/>
          </a:xfrm>
          <a:prstGeom prst="roundRect">
            <a:avLst/>
          </a:prstGeom>
          <a:solidFill>
            <a:srgbClr val="43945C"/>
          </a:solidFill>
          <a:ln w="7620">
            <a:solidFill>
              <a:srgbClr val="439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OUR PLATFORM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74920" y="1024128"/>
            <a:ext cx="1143000" cy="365760"/>
          </a:xfrm>
          <a:prstGeom prst="roundRect">
            <a:avLst/>
          </a:prstGeom>
          <a:solidFill>
            <a:srgbClr val="2365A9"/>
          </a:solidFill>
          <a:ln w="762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iKlavya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27648" y="1024128"/>
            <a:ext cx="1143000" cy="365760"/>
          </a:xfrm>
          <a:prstGeom prst="roundRect">
            <a:avLst/>
          </a:prstGeom>
          <a:solidFill>
            <a:srgbClr val="2365A9"/>
          </a:solidFill>
          <a:ln w="762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Superset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580375" y="1024128"/>
            <a:ext cx="1143000" cy="365760"/>
          </a:xfrm>
          <a:prstGeom prst="roundRect">
            <a:avLst/>
          </a:prstGeom>
          <a:solidFill>
            <a:srgbClr val="2365A9"/>
          </a:solidFill>
          <a:ln w="762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Unstop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833104" y="1024128"/>
            <a:ext cx="1783080" cy="365760"/>
          </a:xfrm>
          <a:prstGeom prst="roundRect">
            <a:avLst/>
          </a:prstGeom>
          <a:solidFill>
            <a:srgbClr val="2365A9"/>
          </a:solidFill>
          <a:ln w="762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LinkedIn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1435608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AI Career Guidance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456432" y="1435608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Advanced &amp; Personalized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74920" y="1435608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Basic Guidance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27648" y="1435608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Career Resources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580375" y="1435608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× Not Available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33104" y="1435608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Limited Insights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1668780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AI Resume Builder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456432" y="1668780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AI Optimized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74920" y="1668780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Available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327648" y="1668780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Available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580375" y="1668780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× Not Available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833104" y="1668780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× Not Available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1901952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AI Mock Interview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456432" y="1901952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Adaptive &amp; AI Driven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74920" y="1901952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Available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327648" y="1901952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Available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580375" y="1901952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Available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833104" y="1901952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× Not Available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11480" y="2135124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Jobs &amp; Internships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456432" y="2135124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Curated + AI Matched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074920" y="2135124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Available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327648" y="2135124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Available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580375" y="2135124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Available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833104" y="2135124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Yes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11480" y="2368296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Skill Assessment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456432" y="2368296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20–30 Q AI Diagnostic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074920" y="2368296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Available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327648" y="2368296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Available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580375" y="2368296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Available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833104" y="2368296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× Not Available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11480" y="2601468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Skill Gap Detection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456432" y="2601468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Evidence Based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74920" y="2601468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● Basic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327648" y="2601468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● Limited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580375" y="2601468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● Limited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833104" y="2601468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● Limited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11480" y="2834640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Personalized Learning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456432" y="2834640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AI Driven &amp; Adaptive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5074920" y="2834640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Available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327648" y="2834640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● Available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580375" y="2834640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Available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833104" y="2834640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Limited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11480" y="3067812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Continuous Skill Updating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456432" y="3067812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Auto Update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074920" y="3067812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● Manual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327648" y="3067812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× Not Available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580375" y="3067812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× Not Available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833104" y="3067812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× Not Available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11480" y="3300984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Evidence-Based Skill Profile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456432" y="3300984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Projects, Tests, GitHub, Courses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074920" y="3300984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● Partial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327648" y="3300984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● Partial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580375" y="3300984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● Partial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8833104" y="3300984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× Not Available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411480" y="3534156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Resource → Test → Skill Update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456432" y="3534156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Closed Loop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5074920" y="3534156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● Partial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327648" y="3534156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× Not Available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7580375" y="3534156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● Partial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8833104" y="3534156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× Not Available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11480" y="3767328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80% Skill Verification Rule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3456432" y="3767328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Quality Assurance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5074920" y="3767328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×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327648" y="3767328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×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7580375" y="3767328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×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8833104" y="3767328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×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411480" y="4000500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Easy → Medium → Hard Adaptive Tests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456432" y="4000500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Adaptive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5074920" y="4000500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● Limited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327648" y="4000500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● Limited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7580375" y="4000500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Adaptive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8833104" y="4000500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× Not Available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411480" y="4233672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AI Daily Timetable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3456432" y="4233672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Personalized Planner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5074920" y="4233672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×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6327648" y="4233672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×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7580375" y="4233672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● Partial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8833104" y="4233672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×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411480" y="4466844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Streak System for Learning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3456432" y="4466844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Gamified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5074920" y="4466844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● Available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327648" y="4466844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×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7580375" y="4466844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● Available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8833104" y="4466844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● Available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411480" y="4700016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XP / Gamified Skill Progression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3456432" y="4700016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XP + Levels + Rewards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5074920" y="4700016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● Available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6327648" y="4700016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×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7580375" y="4700016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Gamified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8833104" y="4700016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● Limited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411480" y="4933188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Dynamic Career Readiness Score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3456432" y="4933188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Real-time Score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5074920" y="4933188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Partial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6327648" y="4933188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● Partial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7580375" y="4933188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● Partial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8833104" y="4933188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× Not Available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411480" y="5166360"/>
            <a:ext cx="2907792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Skill Evidence Graph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3456432" y="5166360"/>
            <a:ext cx="1481328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Visual Skill Map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074920" y="5166360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×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6327648" y="5166360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×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7580375" y="5166360"/>
            <a:ext cx="114300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×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8833104" y="5166360"/>
            <a:ext cx="1783080" cy="23317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× Limited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57200" y="5596128"/>
            <a:ext cx="10972800" cy="2103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WHY OUR PLATFORM STANDS OUT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502920" y="5870448"/>
            <a:ext cx="3566160" cy="310896"/>
          </a:xfrm>
          <a:prstGeom prst="roundRect">
            <a:avLst/>
          </a:prstGeom>
          <a:solidFill>
            <a:srgbClr val="F3F7FA"/>
          </a:solidFill>
          <a:ln w="762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1. End-to-end: Assess → Learn → Grow → Get Hired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4325112" y="5870448"/>
            <a:ext cx="3566160" cy="310896"/>
          </a:xfrm>
          <a:prstGeom prst="roundRect">
            <a:avLst/>
          </a:prstGeom>
          <a:solidFill>
            <a:srgbClr val="F3F7FA"/>
          </a:solidFill>
          <a:ln w="7620">
            <a:solidFill>
              <a:srgbClr val="268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2. Closed loop: Resource → Test → Update → Verify → Improve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8147304" y="5870448"/>
            <a:ext cx="3566160" cy="310896"/>
          </a:xfrm>
          <a:prstGeom prst="roundRect">
            <a:avLst/>
          </a:prstGeom>
          <a:solidFill>
            <a:srgbClr val="F3F7FA"/>
          </a:solidFill>
          <a:ln w="7620">
            <a:solidFill>
              <a:srgbClr val="439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3. Evidence-based profile + Skill Evidence Graph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502920" y="6254496"/>
            <a:ext cx="3566160" cy="310896"/>
          </a:xfrm>
          <a:prstGeom prst="roundRect">
            <a:avLst/>
          </a:prstGeom>
          <a:solidFill>
            <a:srgbClr val="F3F7FA"/>
          </a:solidFill>
          <a:ln w="7620"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4. Adaptive learning + Daily Planner + Streaks + XP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4325112" y="6254496"/>
            <a:ext cx="3566160" cy="310896"/>
          </a:xfrm>
          <a:prstGeom prst="roundRect">
            <a:avLst/>
          </a:prstGeom>
          <a:solidFill>
            <a:srgbClr val="F3F7FA"/>
          </a:solidFill>
          <a:ln w="7620">
            <a:solidFill>
              <a:srgbClr val="C2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FFFFFF"/>
                </a:solidFill>
                <a:latin typeface="Arial"/>
              </a:rPr>
              <a:t>5. Academia + Industry + Students in one intelligence layer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48640" y="6629400"/>
            <a:ext cx="1078992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✓ Core/strong   ● Partial/basic/limited   × Not a primary offering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