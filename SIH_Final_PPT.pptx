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00000" y="200000"/>
            <a:ext cx="11600000" cy="600000"/>
          </a:xfrm>
          <a:prstGeom prst="round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SMART INDIA HACKATHON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0000" y="1000000"/>
            <a:ext cx="116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00D4AA"/>
                </a:solidFill>
                <a:latin typeface="Calibri"/>
              </a:defRPr>
            </a:pPr>
            <a:r>
              <a:t>CAREER READINESS 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0000" y="1600000"/>
            <a:ext cx="116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CCCCC"/>
                </a:solidFill>
                <a:latin typeface="Calibri"/>
              </a:defRPr>
            </a:pPr>
            <a:r>
              <a:t>AI-Powered Academia–Industry Skill Intelligence 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0000" y="2200000"/>
            <a:ext cx="116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D700"/>
                </a:solidFill>
                <a:latin typeface="Calibri"/>
              </a:defRPr>
            </a:pPr>
            <a:r>
              <a:t>STUDENT  ↔  INSTITUTION  ↔  INDUSTRY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0000" y="2900000"/>
            <a:ext cx="5400000" cy="400000"/>
          </a:xfrm>
          <a:prstGeom prst="roundRect">
            <a:avLst/>
          </a:prstGeom>
          <a:solidFill>
            <a:srgbClr val="333344"/>
          </a:solidFill>
          <a:ln w="19050">
            <a:solidFill>
              <a:srgbClr val="007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Problem Statement ID — 26044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0000" y="2900000"/>
            <a:ext cx="5400000" cy="400000"/>
          </a:xfrm>
          <a:prstGeom prst="roundRect">
            <a:avLst/>
          </a:prstGeom>
          <a:solidFill>
            <a:srgbClr val="333344"/>
          </a:solidFill>
          <a:ln w="19050">
            <a:solidFill>
              <a:srgbClr val="007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Theme — Education &amp; Skill Development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0000" y="3400000"/>
            <a:ext cx="5400000" cy="400000"/>
          </a:xfrm>
          <a:prstGeom prst="roundRect">
            <a:avLst/>
          </a:prstGeom>
          <a:solidFill>
            <a:srgbClr val="333344"/>
          </a:solidFill>
          <a:ln w="19050">
            <a:solidFill>
              <a:srgbClr val="007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PS Category — Software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0000" y="3400000"/>
            <a:ext cx="5400000" cy="400000"/>
          </a:xfrm>
          <a:prstGeom prst="roundRect">
            <a:avLst/>
          </a:prstGeom>
          <a:solidFill>
            <a:srgbClr val="333344"/>
          </a:solidFill>
          <a:ln w="19050">
            <a:solidFill>
              <a:srgbClr val="007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Team ID — YOUR TEAM ID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0000" y="3900000"/>
            <a:ext cx="11200000" cy="500000"/>
          </a:xfrm>
          <a:prstGeom prst="roundRect">
            <a:avLst/>
          </a:prstGeom>
          <a:solidFill>
            <a:srgbClr val="333344"/>
          </a:solidFill>
          <a:ln w="1905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0000" y="3950000"/>
            <a:ext cx="110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D4AA"/>
                </a:solidFill>
                <a:latin typeface="Calibri"/>
              </a:defRPr>
            </a:pPr>
            <a:r>
              <a:t>Problem Statement Title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0000" y="4150000"/>
            <a:ext cx="110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Portal for Academia–Industry Collaboration for Skill Mapping, Internships and Placement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0000" y="4600000"/>
            <a:ext cx="11200000" cy="400000"/>
          </a:xfrm>
          <a:prstGeom prst="roundRect">
            <a:avLst/>
          </a:prstGeom>
          <a:solidFill>
            <a:srgbClr val="333344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Team Name — YOUR REGISTERED TEAM NAME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00000" y="5300000"/>
            <a:ext cx="1080000" cy="350000"/>
          </a:xfrm>
          <a:prstGeom prst="round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Onboard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80000" y="5350000"/>
            <a:ext cx="5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D4AA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530000" y="5300000"/>
            <a:ext cx="1080000" cy="350000"/>
          </a:xfrm>
          <a:prstGeom prst="round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Assess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10000" y="5350000"/>
            <a:ext cx="5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D4AA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60000" y="5300000"/>
            <a:ext cx="1080000" cy="350000"/>
          </a:xfrm>
          <a:prstGeom prst="roundRect">
            <a:avLst/>
          </a:prstGeom>
          <a:solidFill>
            <a:srgbClr val="AA5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Skill Profile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40000" y="5350000"/>
            <a:ext cx="5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D4AA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790000" y="5300000"/>
            <a:ext cx="1080000" cy="350000"/>
          </a:xfrm>
          <a:prstGeom prst="round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Skill Gap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70000" y="5350000"/>
            <a:ext cx="5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D4AA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920000" y="5300000"/>
            <a:ext cx="1080000" cy="350000"/>
          </a:xfrm>
          <a:prstGeom prst="roundRect">
            <a:avLst/>
          </a:prstGeom>
          <a:solidFill>
            <a:srgbClr val="00C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Learn+Test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00000" y="5350000"/>
            <a:ext cx="5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D4AA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50000" y="5300000"/>
            <a:ext cx="1080000" cy="350000"/>
          </a:xfrm>
          <a:prstGeom prst="round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Planner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0000" y="5350000"/>
            <a:ext cx="5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D4AA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80000" y="5300000"/>
            <a:ext cx="1080000" cy="350000"/>
          </a:xfrm>
          <a:prstGeom prst="round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Roadmap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60000" y="5350000"/>
            <a:ext cx="5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D4AA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10000" y="5300000"/>
            <a:ext cx="1080000" cy="350000"/>
          </a:xfrm>
          <a:prstGeom prst="round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Jobs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90000" y="5350000"/>
            <a:ext cx="5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D4AA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440000" y="5300000"/>
            <a:ext cx="1080000" cy="350000"/>
          </a:xfrm>
          <a:prstGeom prst="roundRect">
            <a:avLst/>
          </a:prstGeom>
          <a:solidFill>
            <a:srgbClr val="AA5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Resume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20000" y="5350000"/>
            <a:ext cx="5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D4AA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570000" y="5300000"/>
            <a:ext cx="1080000" cy="350000"/>
          </a:xfrm>
          <a:prstGeom prst="round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Interview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0000" y="5750000"/>
            <a:ext cx="116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AAAAA"/>
                </a:solidFill>
                <a:latin typeface="Calibri"/>
              </a:defRPr>
            </a:pPr>
            <a:r>
              <a:t>End-to-End Student Career Readiness Journey — Powered by AI Intelligence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0000" y="650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AAAAAA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00000" y="650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AAAAAA"/>
                </a:solidFill>
                <a:latin typeface="Calibri"/>
              </a:defRPr>
            </a:pPr>
            <a:r>
              <a:t>@SIH Idea submission- Template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00000" y="6500000"/>
            <a:ext cx="3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00D4AA"/>
                </a:solidFill>
                <a:latin typeface="Calibri"/>
              </a:defRPr>
            </a:pPr>
            <a:r>
              <a:t>Career Readiness 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0000" y="150000"/>
            <a:ext cx="11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D4AA"/>
                </a:solidFill>
                <a:latin typeface="Calibri"/>
              </a:defRPr>
            </a:pPr>
            <a:r>
              <a:t>PROPOSED SOLUTION — 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0000" y="650000"/>
            <a:ext cx="5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Calibri"/>
              </a:defRPr>
            </a:pPr>
            <a:r>
              <a:t>◆ What is Career Readiness OS?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0000" y="950000"/>
            <a:ext cx="55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CC"/>
                </a:solidFill>
                <a:latin typeface="Calibri"/>
              </a:defRPr>
            </a:pPr>
            <a:r>
              <a:t>A unified intelligence platform that converts learner</a:t>
            </a:r>
            <a:br/>
            <a:r>
              <a:t>evidence into skill profiles, identifies gaps, drives</a:t>
            </a:r>
            <a:br/>
            <a:r>
              <a:t>personalized action, and connects verified readiness</a:t>
            </a:r>
            <a:br/>
            <a:r>
              <a:t>with institutions and industry.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0000" y="1550000"/>
            <a:ext cx="55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D700"/>
                </a:solidFill>
                <a:latin typeface="Calibri"/>
              </a:defRPr>
            </a:pPr>
            <a:r>
              <a:t>◆ Intelligence Outputs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0000" y="1800000"/>
            <a:ext cx="1200000" cy="280000"/>
          </a:xfrm>
          <a:prstGeom prst="round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0000" y="1830000"/>
            <a:ext cx="40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Calibri"/>
              </a:defRPr>
            </a:pPr>
            <a:r>
              <a:t>Readiness score + roadmap + daily planner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00000" y="2150000"/>
            <a:ext cx="1200000" cy="280000"/>
          </a:xfrm>
          <a:prstGeom prst="roundRect">
            <a:avLst/>
          </a:prstGeom>
          <a:solidFill>
            <a:srgbClr val="AA5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Institution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00000" y="2180000"/>
            <a:ext cx="40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Calibri"/>
              </a:defRPr>
            </a:pPr>
            <a:r>
              <a:t>Skill heatmap + curriculum alignment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0000" y="2500000"/>
            <a:ext cx="1200000" cy="280000"/>
          </a:xfrm>
          <a:prstGeom prst="round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Industry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00000" y="2530000"/>
            <a:ext cx="40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Calibri"/>
              </a:defRPr>
            </a:pPr>
            <a:r>
              <a:t>Demand analytics + candidate matching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00000" y="650000"/>
            <a:ext cx="57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D700"/>
                </a:solidFill>
                <a:latin typeface="Calibri"/>
              </a:defRPr>
            </a:pPr>
            <a:r>
              <a:t>◆ System Architecture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0000" y="950000"/>
            <a:ext cx="5500000" cy="320000"/>
          </a:xfrm>
          <a:prstGeom prst="roundRect">
            <a:avLst/>
          </a:prstGeom>
          <a:solidFill>
            <a:srgbClr val="333344"/>
          </a:solidFill>
          <a:ln w="19050">
            <a:solidFill>
              <a:srgbClr val="007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000" y="980000"/>
            <a:ext cx="5300000" cy="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7BFF"/>
                </a:solidFill>
                <a:latin typeface="Calibri"/>
              </a:defRPr>
            </a:pPr>
            <a:r>
              <a:t>FRONTEND (React 19 + Vite)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000" y="1120000"/>
            <a:ext cx="5300000" cy="1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AAAAAA"/>
                </a:solidFill>
                <a:latin typeface="Calibri"/>
              </a:defRPr>
            </a:pPr>
            <a:r>
              <a:t>Role-based dashboards • Responsive UI • Charts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0000" y="1350000"/>
            <a:ext cx="5500000" cy="320000"/>
          </a:xfrm>
          <a:prstGeom prst="roundRect">
            <a:avLst/>
          </a:prstGeom>
          <a:solidFill>
            <a:srgbClr val="333344"/>
          </a:solidFill>
          <a:ln w="1905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000" y="1380000"/>
            <a:ext cx="5300000" cy="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D4AA"/>
                </a:solidFill>
                <a:latin typeface="Calibri"/>
              </a:defRPr>
            </a:pPr>
            <a:r>
              <a:t>API GATEWAY (Django REST)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000" y="1520000"/>
            <a:ext cx="5300000" cy="1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AAAAAA"/>
                </a:solidFill>
                <a:latin typeface="Calibri"/>
              </a:defRPr>
            </a:pPr>
            <a:r>
              <a:t>JWT Auth • RBAC • Rate Limiting • CORS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0000" y="1750000"/>
            <a:ext cx="5500000" cy="320000"/>
          </a:xfrm>
          <a:prstGeom prst="roundRect">
            <a:avLst/>
          </a:prstGeom>
          <a:solidFill>
            <a:srgbClr val="333344"/>
          </a:solidFill>
          <a:ln w="19050">
            <a:solidFill>
              <a:srgbClr val="AA5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000" y="1780000"/>
            <a:ext cx="5300000" cy="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AA55FF"/>
                </a:solidFill>
                <a:latin typeface="Calibri"/>
              </a:defRPr>
            </a:pPr>
            <a:r>
              <a:t>BACKEND SERVICES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000" y="1920000"/>
            <a:ext cx="5300000" cy="1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AAAAAA"/>
                </a:solidFill>
                <a:latin typeface="Calibri"/>
              </a:defRPr>
            </a:pPr>
            <a:r>
              <a:t>SkillEngine • GamificationEngine • MatchEngine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0000" y="2150000"/>
            <a:ext cx="5500000" cy="320000"/>
          </a:xfrm>
          <a:prstGeom prst="roundRect">
            <a:avLst/>
          </a:prstGeom>
          <a:solidFill>
            <a:srgbClr val="333344"/>
          </a:solidFill>
          <a:ln w="1905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000" y="2180000"/>
            <a:ext cx="5300000" cy="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8C00"/>
                </a:solidFill>
                <a:latin typeface="Calibri"/>
              </a:defRPr>
            </a:pPr>
            <a:r>
              <a:t>AI INTELLIGENCE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000" y="2320000"/>
            <a:ext cx="5300000" cy="1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AAAAAA"/>
                </a:solidFill>
                <a:latin typeface="Calibri"/>
              </a:defRPr>
            </a:pPr>
            <a:r>
              <a:t>Gemini 1.5 • Assessment • Resume • Interview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0000" y="2550000"/>
            <a:ext cx="5500000" cy="320000"/>
          </a:xfrm>
          <a:prstGeom prst="roundRect">
            <a:avLst/>
          </a:prstGeom>
          <a:solidFill>
            <a:srgbClr val="333344"/>
          </a:solidFill>
          <a:ln w="19050">
            <a:solidFill>
              <a:srgbClr val="00C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000" y="2580000"/>
            <a:ext cx="5300000" cy="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C66"/>
                </a:solidFill>
                <a:latin typeface="Calibri"/>
              </a:defRPr>
            </a:pPr>
            <a:r>
              <a:t>DATABASE (PostgreSQL/SQLite)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000" y="2720000"/>
            <a:ext cx="5300000" cy="1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AAAAAA"/>
                </a:solidFill>
                <a:latin typeface="Calibri"/>
              </a:defRPr>
            </a:pPr>
            <a:r>
              <a:t>14 Apps • 60+ Models • Indexed • Normalized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00000" y="1270000"/>
            <a:ext cx="500000" cy="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D4AA"/>
                </a:solidFill>
                <a:latin typeface="Calibri"/>
              </a:defRPr>
            </a:pPr>
            <a:r>
              <a:t>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00000" y="1670000"/>
            <a:ext cx="500000" cy="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D4AA"/>
                </a:solidFill>
                <a:latin typeface="Calibri"/>
              </a:defRPr>
            </a:pPr>
            <a:r>
              <a:t>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00000" y="2070000"/>
            <a:ext cx="500000" cy="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D4AA"/>
                </a:solidFill>
                <a:latin typeface="Calibri"/>
              </a:defRPr>
            </a:pPr>
            <a:r>
              <a:t>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00000" y="2470000"/>
            <a:ext cx="500000" cy="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D4AA"/>
                </a:solidFill>
                <a:latin typeface="Calibri"/>
              </a:defRPr>
            </a:pPr>
            <a:r>
              <a:t>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0000" y="3100000"/>
            <a:ext cx="116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D700"/>
                </a:solidFill>
                <a:latin typeface="Calibri"/>
              </a:defRPr>
            </a:pPr>
            <a:r>
              <a:t>◆ End-to-End Data Flow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0000" y="3450000"/>
            <a:ext cx="1600000" cy="500000"/>
          </a:xfrm>
          <a:prstGeom prst="round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Capture</a:t>
            </a:r>
            <a:br/>
            <a:r>
              <a:t>Evidence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00000" y="3600000"/>
            <a:ext cx="2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300000" y="3450000"/>
            <a:ext cx="1600000" cy="500000"/>
          </a:xfrm>
          <a:prstGeom prst="round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Normalize</a:t>
            </a:r>
            <a:br/>
            <a:r>
              <a:t>Skills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900000" y="3600000"/>
            <a:ext cx="2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100000" y="3450000"/>
            <a:ext cx="1600000" cy="500000"/>
          </a:xfrm>
          <a:prstGeom prst="roundRect">
            <a:avLst/>
          </a:prstGeom>
          <a:solidFill>
            <a:srgbClr val="AA5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Analyze</a:t>
            </a:r>
            <a:br/>
            <a:r>
              <a:t>Gaps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700000" y="3600000"/>
            <a:ext cx="2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00000" y="3450000"/>
            <a:ext cx="1600000" cy="500000"/>
          </a:xfrm>
          <a:prstGeom prst="round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Recommend</a:t>
            </a:r>
            <a:br/>
            <a:r>
              <a:t>Actions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500000" y="3600000"/>
            <a:ext cx="2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700000" y="3450000"/>
            <a:ext cx="1600000" cy="500000"/>
          </a:xfrm>
          <a:prstGeom prst="roundRect">
            <a:avLst/>
          </a:prstGeom>
          <a:solidFill>
            <a:srgbClr val="00C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Match</a:t>
            </a:r>
            <a:br/>
            <a:r>
              <a:t>Opportunities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300000" y="3600000"/>
            <a:ext cx="2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500000" y="3450000"/>
            <a:ext cx="1600000" cy="500000"/>
          </a:xfrm>
          <a:prstGeom prst="round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Learn from</a:t>
            </a:r>
            <a:br/>
            <a:r>
              <a:t>Feedback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00000" y="4100000"/>
            <a:ext cx="116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D700"/>
                </a:solidFill>
                <a:latin typeface="Calibri"/>
              </a:defRPr>
            </a:pPr>
            <a:r>
              <a:t>◆ Complete Student Journey (10 Stages)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50000" y="4400000"/>
            <a:ext cx="1050000" cy="350000"/>
          </a:xfrm>
          <a:prstGeom prst="round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1. Onboard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460000" y="4400000"/>
            <a:ext cx="1050000" cy="350000"/>
          </a:xfrm>
          <a:prstGeom prst="round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2. AI Assessment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570000" y="4400000"/>
            <a:ext cx="1050000" cy="350000"/>
          </a:xfrm>
          <a:prstGeom prst="roundRect">
            <a:avLst/>
          </a:prstGeom>
          <a:solidFill>
            <a:srgbClr val="AA5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3. Skill Profile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680000" y="4400000"/>
            <a:ext cx="1050000" cy="350000"/>
          </a:xfrm>
          <a:prstGeom prst="round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4. Skill Gap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790000" y="4400000"/>
            <a:ext cx="1050000" cy="350000"/>
          </a:xfrm>
          <a:prstGeom prst="roundRect">
            <a:avLst/>
          </a:prstGeom>
          <a:solidFill>
            <a:srgbClr val="00C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5. Learn + Test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900000" y="4400000"/>
            <a:ext cx="1050000" cy="350000"/>
          </a:xfrm>
          <a:prstGeom prst="round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6. Daily Planner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010000" y="4400000"/>
            <a:ext cx="1050000" cy="350000"/>
          </a:xfrm>
          <a:prstGeom prst="round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7. Roadmap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120000" y="4400000"/>
            <a:ext cx="1050000" cy="350000"/>
          </a:xfrm>
          <a:prstGeom prst="round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8. Jobs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230000" y="4400000"/>
            <a:ext cx="1050000" cy="350000"/>
          </a:xfrm>
          <a:prstGeom prst="roundRect">
            <a:avLst/>
          </a:prstGeom>
          <a:solidFill>
            <a:srgbClr val="AA5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9. Resume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0340000" y="4400000"/>
            <a:ext cx="1050000" cy="350000"/>
          </a:xfrm>
          <a:prstGeom prst="round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10. Mock Interview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00000" y="4900000"/>
            <a:ext cx="116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AAAAAA"/>
                </a:solidFill>
                <a:latin typeface="Calibri"/>
              </a:defRPr>
            </a:pPr>
            <a:r>
              <a:t>Security-by-design: JWT authentication • role isolation • least privilege • input validation • rate limiting • audit logging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00000" y="650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AAAAAA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00000" y="650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AAAAAA"/>
                </a:solidFill>
                <a:latin typeface="Calibri"/>
              </a:defRPr>
            </a:pPr>
            <a:r>
              <a:t>@SIH Idea submission- Template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500000" y="6500000"/>
            <a:ext cx="3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00D4AA"/>
                </a:solidFill>
                <a:latin typeface="Calibri"/>
              </a:defRPr>
            </a:pPr>
            <a:r>
              <a:t>Career Readiness 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0000" y="150000"/>
            <a:ext cx="116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D4AA"/>
                </a:solidFill>
                <a:latin typeface="Calibri"/>
              </a:defRPr>
            </a:pPr>
            <a:r>
              <a:t>TECHNICAL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0000" y="550000"/>
            <a:ext cx="5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Calibri"/>
              </a:defRPr>
            </a:pPr>
            <a:r>
              <a:t>◆ Technology Stack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00000" y="850000"/>
            <a:ext cx="1500000" cy="420000"/>
          </a:xfrm>
          <a:prstGeom prst="round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FRONTEND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50000" y="900000"/>
            <a:ext cx="38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Calibri"/>
              </a:defRPr>
            </a:pPr>
            <a:r>
              <a:t>React 19 • Vite • Axios • Chart.js</a:t>
            </a:r>
            <a:br/>
            <a:r>
              <a:t>Role-based dashboards • Responsive design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0000" y="1330000"/>
            <a:ext cx="1500000" cy="420000"/>
          </a:xfrm>
          <a:prstGeom prst="round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BACKEND API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0000" y="1380000"/>
            <a:ext cx="38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Calibri"/>
              </a:defRPr>
            </a:pPr>
            <a:r>
              <a:t>Django 6.1 • DRF • Daphne</a:t>
            </a:r>
            <a:br/>
            <a:r>
              <a:t>JWT Auth • RBAC • WebSockets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00000" y="1810000"/>
            <a:ext cx="1500000" cy="420000"/>
          </a:xfrm>
          <a:prstGeom prst="round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AI SERVICES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50000" y="1860000"/>
            <a:ext cx="38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Calibri"/>
              </a:defRPr>
            </a:pPr>
            <a:r>
              <a:t>Google Gemini 1.5 Flash</a:t>
            </a:r>
            <a:br/>
            <a:r>
              <a:t>Assessment • Resume • Interview • Chatbot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0000" y="2290000"/>
            <a:ext cx="1500000" cy="420000"/>
          </a:xfrm>
          <a:prstGeom prst="roundRect">
            <a:avLst/>
          </a:prstGeom>
          <a:solidFill>
            <a:srgbClr val="00C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DATABASE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0000" y="2340000"/>
            <a:ext cx="38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Calibri"/>
              </a:defRPr>
            </a:pPr>
            <a:r>
              <a:t>PostgreSQL / SQLite • 14 Apps • 60+ Models</a:t>
            </a:r>
            <a:br/>
            <a:r>
              <a:t>Normalized • Indexed • Soft-Delete • Audit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00000" y="2770000"/>
            <a:ext cx="1500000" cy="420000"/>
          </a:xfrm>
          <a:prstGeom prst="roundRect">
            <a:avLst/>
          </a:prstGeom>
          <a:solidFill>
            <a:srgbClr val="AA5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INFRA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50000" y="2820000"/>
            <a:ext cx="38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Calibri"/>
              </a:defRPr>
            </a:pPr>
            <a:r>
              <a:t>Celery + Redis • GitHub Actions CI/CD</a:t>
            </a:r>
            <a:br/>
            <a:r>
              <a:t>Caching • Background Tasks • Rate Limiting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00000" y="550000"/>
            <a:ext cx="5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D700"/>
                </a:solidFill>
                <a:latin typeface="Calibri"/>
              </a:defRPr>
            </a:pPr>
            <a:r>
              <a:t>◆ Database Architecture (14 Django Apps)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0000" y="850000"/>
            <a:ext cx="1100000" cy="320000"/>
          </a:xfrm>
          <a:prstGeom prst="round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core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0000" y="910000"/>
            <a:ext cx="16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AAAAAA"/>
                </a:solidFill>
                <a:latin typeface="Calibri"/>
              </a:defRPr>
            </a:pPr>
            <a:r>
              <a:t>Audit, Notifications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0000" y="1230000"/>
            <a:ext cx="1100000" cy="320000"/>
          </a:xfrm>
          <a:prstGeom prst="round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users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50000" y="1290000"/>
            <a:ext cx="16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AAAAAA"/>
                </a:solidFill>
                <a:latin typeface="Calibri"/>
              </a:defRPr>
            </a:pPr>
            <a:r>
              <a:t>User, StudentProfile, Faculty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0000" y="1610000"/>
            <a:ext cx="1100000" cy="320000"/>
          </a:xfrm>
          <a:prstGeom prst="roundRect">
            <a:avLst/>
          </a:prstGeom>
          <a:solidFill>
            <a:srgbClr val="AA5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skills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50000" y="1670000"/>
            <a:ext cx="16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AAAAAA"/>
                </a:solidFill>
                <a:latin typeface="Calibri"/>
              </a:defRPr>
            </a:pPr>
            <a:r>
              <a:t>Taxonomy, StudentSkills, Evidence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00000" y="1990000"/>
            <a:ext cx="1100000" cy="320000"/>
          </a:xfrm>
          <a:prstGeom prst="round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institutions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50000" y="2050000"/>
            <a:ext cx="16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AAAAAA"/>
                </a:solidFill>
                <a:latin typeface="Calibri"/>
              </a:defRPr>
            </a:pPr>
            <a:r>
              <a:t>Institution, Department, Curriculum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0000" y="2370000"/>
            <a:ext cx="1100000" cy="320000"/>
          </a:xfrm>
          <a:prstGeom prst="roundRect">
            <a:avLst/>
          </a:prstGeom>
          <a:solidFill>
            <a:srgbClr val="00C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assessments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50000" y="2430000"/>
            <a:ext cx="16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AAAAAA"/>
                </a:solidFill>
                <a:latin typeface="Calibri"/>
              </a:defRPr>
            </a:pPr>
            <a:r>
              <a:t>Diagnostic Assessments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0000" y="2750000"/>
            <a:ext cx="1100000" cy="320000"/>
          </a:xfrm>
          <a:prstGeom prst="round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learning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0000" y="2810000"/>
            <a:ext cx="16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AAAAAA"/>
                </a:solidFill>
                <a:latin typeface="Calibri"/>
              </a:defRPr>
            </a:pPr>
            <a:r>
              <a:t>Resources, Prerequisites, Progress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00000" y="3130000"/>
            <a:ext cx="1100000" cy="320000"/>
          </a:xfrm>
          <a:prstGeom prst="round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skill_tests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50000" y="3190000"/>
            <a:ext cx="16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AAAAAA"/>
                </a:solidFill>
                <a:latin typeface="Calibri"/>
              </a:defRPr>
            </a:pPr>
            <a:r>
              <a:t>Verification Tests, Attempts, Results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50000" y="850000"/>
            <a:ext cx="1100000" cy="320000"/>
          </a:xfrm>
          <a:prstGeom prst="round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planner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00000" y="910000"/>
            <a:ext cx="16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AAAAAA"/>
                </a:solidFill>
                <a:latin typeface="Calibri"/>
              </a:defRPr>
            </a:pPr>
            <a:r>
              <a:t>DailyPlan, Streaks, XP, Achievements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150000" y="1230000"/>
            <a:ext cx="1100000" cy="320000"/>
          </a:xfrm>
          <a:prstGeom prst="roundRect">
            <a:avLst/>
          </a:prstGeom>
          <a:solidFill>
            <a:srgbClr val="AA5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roadmaps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300000" y="1290000"/>
            <a:ext cx="16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AAAAAA"/>
                </a:solidFill>
                <a:latin typeface="Calibri"/>
              </a:defRPr>
            </a:pPr>
            <a:r>
              <a:t>Career Roadmaps, Nodes, Dependencies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150000" y="1610000"/>
            <a:ext cx="1100000" cy="320000"/>
          </a:xfrm>
          <a:prstGeom prst="round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jobs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300000" y="1670000"/>
            <a:ext cx="16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AAAAAA"/>
                </a:solidFill>
                <a:latin typeface="Calibri"/>
              </a:defRPr>
            </a:pPr>
            <a:r>
              <a:t>Companies, Postings, Matching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50000" y="1990000"/>
            <a:ext cx="1100000" cy="320000"/>
          </a:xfrm>
          <a:prstGeom prst="roundRect">
            <a:avLst/>
          </a:prstGeom>
          <a:solidFill>
            <a:srgbClr val="00C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interviews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300000" y="2050000"/>
            <a:ext cx="16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AAAAAA"/>
                </a:solidFill>
                <a:latin typeface="Calibri"/>
              </a:defRPr>
            </a:pPr>
            <a:r>
              <a:t>Mock Interviews, Scoring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150000" y="2370000"/>
            <a:ext cx="1100000" cy="320000"/>
          </a:xfrm>
          <a:prstGeom prst="round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resumes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00000" y="2430000"/>
            <a:ext cx="16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AAAAAA"/>
                </a:solidFill>
                <a:latin typeface="Calibri"/>
              </a:defRPr>
            </a:pPr>
            <a:r>
              <a:t>Resume Builder, Versions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50000" y="2750000"/>
            <a:ext cx="1100000" cy="320000"/>
          </a:xfrm>
          <a:prstGeom prst="round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guidance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300000" y="2810000"/>
            <a:ext cx="16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AAAAAA"/>
                </a:solidFill>
                <a:latin typeface="Calibri"/>
              </a:defRPr>
            </a:pPr>
            <a:r>
              <a:t>AI Career Guidance, Chat Sessions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150000" y="3130000"/>
            <a:ext cx="1100000" cy="320000"/>
          </a:xfrm>
          <a:prstGeom prst="round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industry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300000" y="3190000"/>
            <a:ext cx="16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AAAAAA"/>
                </a:solidFill>
                <a:latin typeface="Calibri"/>
              </a:defRPr>
            </a:pPr>
            <a:r>
              <a:t>Skill Demand, Projects, Feedback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00000" y="3550000"/>
            <a:ext cx="116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D700"/>
                </a:solidFill>
                <a:latin typeface="Calibri"/>
              </a:defRPr>
            </a:pPr>
            <a:r>
              <a:t>◆ Implementation Methodology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50000" y="3850000"/>
            <a:ext cx="900000" cy="350000"/>
          </a:xfrm>
          <a:prstGeom prst="round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PHASE 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0000" y="3850000"/>
            <a:ext cx="13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CCCCC"/>
                </a:solidFill>
                <a:latin typeface="Calibri"/>
              </a:defRPr>
            </a:pPr>
            <a:r>
              <a:t>Database</a:t>
            </a:r>
            <a:br/>
            <a:r>
              <a:t>Architecture</a:t>
            </a:r>
            <a:br/>
            <a:r>
              <a:t>14 Apps, 60+ Models</a:t>
            </a:r>
            <a:br/>
            <a:r>
              <a:t>Migrations + Seed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500000" y="3950000"/>
            <a:ext cx="2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4AA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650000" y="3850000"/>
            <a:ext cx="900000" cy="350000"/>
          </a:xfrm>
          <a:prstGeom prst="round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PHASE 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00000" y="3850000"/>
            <a:ext cx="13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CCCCC"/>
                </a:solidFill>
                <a:latin typeface="Calibri"/>
              </a:defRPr>
            </a:pPr>
            <a:r>
              <a:t>Backend API</a:t>
            </a:r>
            <a:br/>
            <a:r>
              <a:t>JWT + RBAC + Engines</a:t>
            </a:r>
            <a:br/>
            <a:r>
              <a:t>Skill, Gamification,</a:t>
            </a:r>
            <a:br/>
            <a:r>
              <a:t>Matching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00000" y="3950000"/>
            <a:ext cx="2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4AA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950000" y="3850000"/>
            <a:ext cx="900000" cy="350000"/>
          </a:xfrm>
          <a:prstGeom prst="round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PHASE 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900000" y="3850000"/>
            <a:ext cx="13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CCCCC"/>
                </a:solidFill>
                <a:latin typeface="Calibri"/>
              </a:defRPr>
            </a:pPr>
            <a:r>
              <a:t>AI Integration</a:t>
            </a:r>
            <a:br/>
            <a:r>
              <a:t>Gemini 1.5 Flash</a:t>
            </a:r>
            <a:br/>
            <a:r>
              <a:t>Assessment, Resume,</a:t>
            </a:r>
            <a:br/>
            <a:r>
              <a:t>Interview, Chatbot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100000" y="3950000"/>
            <a:ext cx="2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4AA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250000" y="3850000"/>
            <a:ext cx="900000" cy="350000"/>
          </a:xfrm>
          <a:prstGeom prst="roundRect">
            <a:avLst/>
          </a:prstGeom>
          <a:solidFill>
            <a:srgbClr val="AA5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PHASE 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00000" y="3850000"/>
            <a:ext cx="13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CCCCC"/>
                </a:solidFill>
                <a:latin typeface="Calibri"/>
              </a:defRPr>
            </a:pPr>
            <a:r>
              <a:t>Frontend UI</a:t>
            </a:r>
            <a:br/>
            <a:r>
              <a:t>React 19 + Vite</a:t>
            </a:r>
            <a:br/>
            <a:r>
              <a:t>Dashboards, Charts,</a:t>
            </a:r>
            <a:br/>
            <a:r>
              <a:t>Role-based Views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400000" y="3950000"/>
            <a:ext cx="2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4AA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550000" y="3850000"/>
            <a:ext cx="900000" cy="350000"/>
          </a:xfrm>
          <a:prstGeom prst="roundRect">
            <a:avLst/>
          </a:prstGeom>
          <a:solidFill>
            <a:srgbClr val="00C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PHASE 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500000" y="3850000"/>
            <a:ext cx="13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CCCCC"/>
                </a:solidFill>
                <a:latin typeface="Calibri"/>
              </a:defRPr>
            </a:pPr>
            <a:r>
              <a:t>Testing + Deploy</a:t>
            </a:r>
            <a:br/>
            <a:r>
              <a:t>CI/CD Pipeline</a:t>
            </a:r>
            <a:br/>
            <a:r>
              <a:t>Unit Tests, Redis</a:t>
            </a:r>
            <a:br/>
            <a:r>
              <a:t>Caching, Security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00000" y="4400000"/>
            <a:ext cx="116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AAAAAA"/>
                </a:solidFill>
                <a:latin typeface="Calibri"/>
              </a:defRPr>
            </a:pPr>
            <a:r>
              <a:t>Agile methodology: Each phase is independently deployable • Modular • Cloud-ready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00000" y="650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AAAAAA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500000" y="650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AAAAAA"/>
                </a:solidFill>
                <a:latin typeface="Calibri"/>
              </a:defRPr>
            </a:pPr>
            <a:r>
              <a:t>@SIH Idea submission- Template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00000" y="6500000"/>
            <a:ext cx="3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00D4AA"/>
                </a:solidFill>
                <a:latin typeface="Calibri"/>
              </a:defRPr>
            </a:pPr>
            <a:r>
              <a:t>Career Readiness 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0000" y="150000"/>
            <a:ext cx="116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D4AA"/>
                </a:solidFill>
                <a:latin typeface="Calibri"/>
              </a:defRPr>
            </a:pPr>
            <a:r>
              <a:t>FEASIBILITY AND VIABILITY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0000" y="550000"/>
            <a:ext cx="5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Calibri"/>
              </a:defRPr>
            </a:pPr>
            <a:r>
              <a:t>◆ Feasibility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00000" y="850000"/>
            <a:ext cx="400000" cy="380000"/>
          </a:xfrm>
          <a:prstGeom prst="round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0000" y="870000"/>
            <a:ext cx="12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7BFF"/>
                </a:solidFill>
                <a:latin typeface="Calibri"/>
              </a:defRPr>
            </a:pPr>
            <a:r>
              <a:t>Technical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1030000"/>
            <a:ext cx="480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Calibri"/>
              </a:defRPr>
            </a:pPr>
            <a:r>
              <a:t>Uses existing DB/backend foundation;</a:t>
            </a:r>
            <a:br/>
            <a:r>
              <a:t>modular APIs and AI services.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00000" y="1300000"/>
            <a:ext cx="400000" cy="380000"/>
          </a:xfrm>
          <a:prstGeom prst="round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0000" y="1320000"/>
            <a:ext cx="12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D4AA"/>
                </a:solidFill>
                <a:latin typeface="Calibri"/>
              </a:defRPr>
            </a:pPr>
            <a:r>
              <a:t>Operational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0000" y="1480000"/>
            <a:ext cx="480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Calibri"/>
              </a:defRPr>
            </a:pPr>
            <a:r>
              <a:t>Three role-based workflows share</a:t>
            </a:r>
            <a:br/>
            <a:r>
              <a:t>one skill intelligence layer.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0000" y="1750000"/>
            <a:ext cx="400000" cy="380000"/>
          </a:xfrm>
          <a:prstGeom prst="roundRect">
            <a:avLst/>
          </a:prstGeom>
          <a:solidFill>
            <a:srgbClr val="AA5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1770000"/>
            <a:ext cx="12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AA55FF"/>
                </a:solidFill>
                <a:latin typeface="Calibri"/>
              </a:defRPr>
            </a:pPr>
            <a:r>
              <a:t>Scalable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1930000"/>
            <a:ext cx="480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Calibri"/>
              </a:defRPr>
            </a:pPr>
            <a:r>
              <a:t>Modules can be added independently</a:t>
            </a:r>
            <a:br/>
            <a:r>
              <a:t>as adoption grows.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00000" y="2200000"/>
            <a:ext cx="400000" cy="380000"/>
          </a:xfrm>
          <a:prstGeom prst="round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0000" y="2220000"/>
            <a:ext cx="12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8C00"/>
                </a:solidFill>
                <a:latin typeface="Calibri"/>
              </a:defRPr>
            </a:pPr>
            <a:r>
              <a:t>Economic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0000" y="2380000"/>
            <a:ext cx="480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Calibri"/>
              </a:defRPr>
            </a:pPr>
            <a:r>
              <a:t>Cloud-ready architecture supports</a:t>
            </a:r>
            <a:br/>
            <a:r>
              <a:t>incremental deployment.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00000" y="550000"/>
            <a:ext cx="5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Calibri"/>
              </a:defRPr>
            </a:pPr>
            <a:r>
              <a:t>◆ Use Cases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0000" y="850000"/>
            <a:ext cx="1500000" cy="380000"/>
          </a:xfrm>
          <a:prstGeom prst="round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00000" y="930000"/>
            <a:ext cx="38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CC"/>
                </a:solidFill>
                <a:latin typeface="Calibri"/>
              </a:defRPr>
            </a:pPr>
            <a:r>
              <a:t>Find gap → learn → prove skill → apply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0000" y="1300000"/>
            <a:ext cx="1500000" cy="380000"/>
          </a:xfrm>
          <a:prstGeom prst="round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Institution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00000" y="1380000"/>
            <a:ext cx="38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CC"/>
                </a:solidFill>
                <a:latin typeface="Calibri"/>
              </a:defRPr>
            </a:pPr>
            <a:r>
              <a:t>See cohort gaps → align curriculum → track readiness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00000" y="1750000"/>
            <a:ext cx="1500000" cy="380000"/>
          </a:xfrm>
          <a:prstGeom prst="round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Industry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00000" y="1830000"/>
            <a:ext cx="38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CC"/>
                </a:solidFill>
                <a:latin typeface="Calibri"/>
              </a:defRPr>
            </a:pPr>
            <a:r>
              <a:t>Publish skill needs → discover talent → give feedback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0000" y="2200000"/>
            <a:ext cx="1500000" cy="380000"/>
          </a:xfrm>
          <a:prstGeom prst="roundRect">
            <a:avLst/>
          </a:prstGeom>
          <a:solidFill>
            <a:srgbClr val="AA5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Admin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00000" y="2280000"/>
            <a:ext cx="38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CC"/>
                </a:solidFill>
                <a:latin typeface="Calibri"/>
              </a:defRPr>
            </a:pPr>
            <a:r>
              <a:t>Monitor adoption → quality → ecosystem health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0000" y="2800000"/>
            <a:ext cx="116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D700"/>
                </a:solidFill>
                <a:latin typeface="Calibri"/>
              </a:defRPr>
            </a:pPr>
            <a:r>
              <a:t>◆ Key Challenges → Mitigation Strategies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50000" y="3100000"/>
            <a:ext cx="1200000" cy="300000"/>
          </a:xfrm>
          <a:prstGeom prst="roundRect">
            <a:avLst/>
          </a:prstGeom>
          <a:solidFill>
            <a:srgbClr val="F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Privacy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0000" y="3450000"/>
            <a:ext cx="27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CCCCCC"/>
                </a:solidFill>
                <a:latin typeface="Calibri"/>
              </a:defRPr>
            </a:pPr>
            <a:r>
              <a:t>RBAC + least privilege + audit trail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250000" y="3100000"/>
            <a:ext cx="1200000" cy="300000"/>
          </a:xfrm>
          <a:prstGeom prst="round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AI Quality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50000" y="3450000"/>
            <a:ext cx="27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CCCCCC"/>
                </a:solidFill>
                <a:latin typeface="Calibri"/>
              </a:defRPr>
            </a:pPr>
            <a:r>
              <a:t>Evidence-based scoring + human review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50000" y="3100000"/>
            <a:ext cx="1200000" cy="300000"/>
          </a:xfrm>
          <a:prstGeom prst="roundRect">
            <a:avLst/>
          </a:prstGeom>
          <a:solidFill>
            <a:srgbClr val="AA5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Skill Drift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50000" y="3450000"/>
            <a:ext cx="27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CCCCCC"/>
                </a:solidFill>
                <a:latin typeface="Calibri"/>
              </a:defRPr>
            </a:pPr>
            <a:r>
              <a:t>Versioned skill taxonomy + industry feedback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50000" y="3100000"/>
            <a:ext cx="1200000" cy="300000"/>
          </a:xfrm>
          <a:prstGeom prst="round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Stale Opportunities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50000" y="3450000"/>
            <a:ext cx="27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CCCCCC"/>
                </a:solidFill>
                <a:latin typeface="Calibri"/>
              </a:defRPr>
            </a:pPr>
            <a:r>
              <a:t>Expiry + timestamps + source tracking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0000" y="3800000"/>
            <a:ext cx="116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D700"/>
                </a:solidFill>
                <a:latin typeface="Calibri"/>
              </a:defRPr>
            </a:pPr>
            <a:r>
              <a:t>◆ Viability &amp; Revenue Potential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50000" y="4100000"/>
            <a:ext cx="2700000" cy="500000"/>
          </a:xfrm>
          <a:prstGeom prst="roundRect">
            <a:avLst/>
          </a:prstGeom>
          <a:solidFill>
            <a:srgbClr val="333344"/>
          </a:solidFill>
          <a:ln w="19050">
            <a:solidFill>
              <a:srgbClr val="007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0000" y="4130000"/>
            <a:ext cx="25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7BFF"/>
                </a:solidFill>
                <a:latin typeface="Calibri"/>
              </a:defRPr>
            </a:pPr>
            <a:r>
              <a:t>Institution SaaS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0000" y="4330000"/>
            <a:ext cx="25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CCCCCC"/>
                </a:solidFill>
                <a:latin typeface="Calibri"/>
              </a:defRPr>
            </a:pPr>
            <a:r>
              <a:t>Analytics + curriculum</a:t>
            </a:r>
            <a:br/>
            <a:r>
              <a:t>intelligence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250000" y="4100000"/>
            <a:ext cx="2700000" cy="500000"/>
          </a:xfrm>
          <a:prstGeom prst="roundRect">
            <a:avLst/>
          </a:prstGeom>
          <a:solidFill>
            <a:srgbClr val="333344"/>
          </a:solidFill>
          <a:ln w="1905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350000" y="4130000"/>
            <a:ext cx="25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D4AA"/>
                </a:solidFill>
                <a:latin typeface="Calibri"/>
              </a:defRPr>
            </a:pPr>
            <a:r>
              <a:t>Industry Access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50000" y="4330000"/>
            <a:ext cx="25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CCCCCC"/>
                </a:solidFill>
                <a:latin typeface="Calibri"/>
              </a:defRPr>
            </a:pPr>
            <a:r>
              <a:t>Talent discovery /</a:t>
            </a:r>
            <a:br/>
            <a:r>
              <a:t>projects / mentorship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150000" y="4100000"/>
            <a:ext cx="2700000" cy="500000"/>
          </a:xfrm>
          <a:prstGeom prst="roundRect">
            <a:avLst/>
          </a:prstGeom>
          <a:solidFill>
            <a:srgbClr val="333344"/>
          </a:solidFill>
          <a:ln w="1905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50000" y="4130000"/>
            <a:ext cx="25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8C00"/>
                </a:solidFill>
                <a:latin typeface="Calibri"/>
              </a:defRPr>
            </a:pPr>
            <a:r>
              <a:t>Premium Tools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50000" y="4330000"/>
            <a:ext cx="25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CCCCCC"/>
                </a:solidFill>
                <a:latin typeface="Calibri"/>
              </a:defRPr>
            </a:pPr>
            <a:r>
              <a:t>Advanced readiness +</a:t>
            </a:r>
            <a:br/>
            <a:r>
              <a:t>mock interview + AI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050000" y="4100000"/>
            <a:ext cx="2700000" cy="500000"/>
          </a:xfrm>
          <a:prstGeom prst="roundRect">
            <a:avLst/>
          </a:prstGeom>
          <a:solidFill>
            <a:srgbClr val="333344"/>
          </a:solidFill>
          <a:ln w="19050">
            <a:solidFill>
              <a:srgbClr val="00C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150000" y="4130000"/>
            <a:ext cx="25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CC66"/>
                </a:solidFill>
                <a:latin typeface="Calibri"/>
              </a:defRPr>
            </a:pPr>
            <a:r>
              <a:t>Ecosystem Value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50000" y="4330000"/>
            <a:ext cx="25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CCCCCC"/>
                </a:solidFill>
                <a:latin typeface="Calibri"/>
              </a:defRPr>
            </a:pPr>
            <a:r>
              <a:t>Shared skill language +</a:t>
            </a:r>
            <a:br/>
            <a:r>
              <a:t>feedback loop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00000" y="4700000"/>
            <a:ext cx="116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AAAAAA"/>
                </a:solidFill>
                <a:latin typeface="Calibri"/>
              </a:defRPr>
            </a:pPr>
            <a:r>
              <a:t>Feasibility conclusion: build incrementally around the existing database and backend, then expand AI and integrations.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00000" y="650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AAAAAA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00000" y="650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AAAAAA"/>
                </a:solidFill>
                <a:latin typeface="Calibri"/>
              </a:defRPr>
            </a:pPr>
            <a:r>
              <a:t>@SIH Idea submission- Template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500000" y="6500000"/>
            <a:ext cx="3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00D4AA"/>
                </a:solidFill>
                <a:latin typeface="Calibri"/>
              </a:defRPr>
            </a:pPr>
            <a:r>
              <a:t>Career Readiness OS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0000" y="150000"/>
            <a:ext cx="116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D4AA"/>
                </a:solidFill>
                <a:latin typeface="Calibri"/>
              </a:defRPr>
            </a:pPr>
            <a:r>
              <a:t>IMPACT AND BENEFITS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0000" y="550000"/>
            <a:ext cx="116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D700"/>
                </a:solidFill>
                <a:latin typeface="Calibri"/>
              </a:defRPr>
            </a:pPr>
            <a:r>
              <a:t>◆ Complete Module Coverage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0000" y="850000"/>
            <a:ext cx="2700000" cy="350000"/>
          </a:xfrm>
          <a:prstGeom prst="round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Student 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0000" y="1250000"/>
            <a:ext cx="25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Calibri"/>
              </a:defRPr>
            </a:pPr>
            <a:r>
              <a:t>• AI Assessment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0000" y="1480000"/>
            <a:ext cx="25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Calibri"/>
              </a:defRPr>
            </a:pPr>
            <a:r>
              <a:t>• Skill Profile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0000" y="1710000"/>
            <a:ext cx="25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Calibri"/>
              </a:defRPr>
            </a:pPr>
            <a:r>
              <a:t>• Skill Gap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0000" y="1940000"/>
            <a:ext cx="25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Calibri"/>
              </a:defRPr>
            </a:pPr>
            <a:r>
              <a:t>• Learning Path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0000" y="2170000"/>
            <a:ext cx="25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Calibri"/>
              </a:defRPr>
            </a:pPr>
            <a:r>
              <a:t>• Daily Planner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0000" y="2400000"/>
            <a:ext cx="25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Calibri"/>
              </a:defRPr>
            </a:pPr>
            <a:r>
              <a:t>• Streaks + XP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0000" y="2630000"/>
            <a:ext cx="25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Calibri"/>
              </a:defRPr>
            </a:pPr>
            <a:r>
              <a:t>• Career Roadmap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0000" y="2860000"/>
            <a:ext cx="25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Calibri"/>
              </a:defRPr>
            </a:pPr>
            <a:r>
              <a:t>• Job Matching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0000" y="3090000"/>
            <a:ext cx="25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Calibri"/>
              </a:defRPr>
            </a:pPr>
            <a:r>
              <a:t>• Resume Builder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0000" y="3320000"/>
            <a:ext cx="25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Calibri"/>
              </a:defRPr>
            </a:pPr>
            <a:r>
              <a:t>• Mock Interview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00000" y="850000"/>
            <a:ext cx="2700000" cy="350000"/>
          </a:xfrm>
          <a:prstGeom prst="roundRect">
            <a:avLst/>
          </a:prstGeom>
          <a:solidFill>
            <a:srgbClr val="AA5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Institution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00000" y="1250000"/>
            <a:ext cx="25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Calibri"/>
              </a:defRPr>
            </a:pPr>
            <a:r>
              <a:t>• Student Analytics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00000" y="1480000"/>
            <a:ext cx="25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Calibri"/>
              </a:defRPr>
            </a:pPr>
            <a:r>
              <a:t>• Skill Heatmap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00000" y="1710000"/>
            <a:ext cx="25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Calibri"/>
              </a:defRPr>
            </a:pPr>
            <a:r>
              <a:t>• Curriculum Alignment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00000" y="1940000"/>
            <a:ext cx="25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Calibri"/>
              </a:defRPr>
            </a:pPr>
            <a:r>
              <a:t>• Placement Readiness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00000" y="2170000"/>
            <a:ext cx="25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Calibri"/>
              </a:defRPr>
            </a:pPr>
            <a:r>
              <a:t>• Department Analysis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00000" y="850000"/>
            <a:ext cx="2700000" cy="350000"/>
          </a:xfrm>
          <a:prstGeom prst="round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Industry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00000" y="1250000"/>
            <a:ext cx="25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Calibri"/>
              </a:defRPr>
            </a:pPr>
            <a:r>
              <a:t>• Skill Requirements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00000" y="1480000"/>
            <a:ext cx="25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Calibri"/>
              </a:defRPr>
            </a:pPr>
            <a:r>
              <a:t>• Job/Internship Posting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00000" y="1710000"/>
            <a:ext cx="25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Calibri"/>
              </a:defRPr>
            </a:pPr>
            <a:r>
              <a:t>• Talent Discovery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0000" y="1940000"/>
            <a:ext cx="25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Calibri"/>
              </a:defRPr>
            </a:pPr>
            <a:r>
              <a:t>• Mentor Feedback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00000" y="2170000"/>
            <a:ext cx="25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Calibri"/>
              </a:defRPr>
            </a:pPr>
            <a:r>
              <a:t>• Demand Analytics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00000" y="850000"/>
            <a:ext cx="2700000" cy="350000"/>
          </a:xfrm>
          <a:prstGeom prst="roundRect">
            <a:avLst/>
          </a:prstGeom>
          <a:solidFill>
            <a:srgbClr val="00C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Cross-Platform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00000" y="1250000"/>
            <a:ext cx="25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Calibri"/>
              </a:defRPr>
            </a:pPr>
            <a:r>
              <a:t>• AI Career Copilot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00000" y="1480000"/>
            <a:ext cx="25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Calibri"/>
              </a:defRPr>
            </a:pPr>
            <a:r>
              <a:t>• Notifications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00000" y="1710000"/>
            <a:ext cx="25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Calibri"/>
              </a:defRPr>
            </a:pPr>
            <a:r>
              <a:t>• Audit Logging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00000" y="1940000"/>
            <a:ext cx="25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Calibri"/>
              </a:defRPr>
            </a:pPr>
            <a:r>
              <a:t>• Evidence Graph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00000" y="2170000"/>
            <a:ext cx="25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Calibri"/>
              </a:defRPr>
            </a:pPr>
            <a:r>
              <a:t>• Feedback Loop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0000" y="3700000"/>
            <a:ext cx="116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D700"/>
                </a:solidFill>
                <a:latin typeface="Calibri"/>
              </a:defRPr>
            </a:pPr>
            <a:r>
              <a:t>◆ Career Readiness Funnel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00000" y="4000000"/>
            <a:ext cx="11000000" cy="240000"/>
          </a:xfrm>
          <a:prstGeom prst="round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Evidence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350000" y="4280000"/>
            <a:ext cx="9500000" cy="240000"/>
          </a:xfrm>
          <a:prstGeom prst="round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Profile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100000" y="4560000"/>
            <a:ext cx="8000000" cy="240000"/>
          </a:xfrm>
          <a:prstGeom prst="roundRect">
            <a:avLst/>
          </a:prstGeom>
          <a:solidFill>
            <a:srgbClr val="AA5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Gap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850000" y="4840000"/>
            <a:ext cx="6500000" cy="240000"/>
          </a:xfrm>
          <a:prstGeom prst="round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Action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600000" y="5120000"/>
            <a:ext cx="5000000" cy="240000"/>
          </a:xfrm>
          <a:prstGeom prst="roundRect">
            <a:avLst/>
          </a:prstGeom>
          <a:solidFill>
            <a:srgbClr val="00C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Opportunity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00000" y="5500000"/>
            <a:ext cx="116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D700"/>
                </a:solidFill>
                <a:latin typeface="Calibri"/>
              </a:defRPr>
            </a:pPr>
            <a:r>
              <a:t>◆ Benefits of the Solution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50000" y="5800000"/>
            <a:ext cx="2150000" cy="500000"/>
          </a:xfrm>
          <a:prstGeom prst="roundRect">
            <a:avLst/>
          </a:prstGeom>
          <a:solidFill>
            <a:srgbClr val="333344"/>
          </a:solidFill>
          <a:ln w="19050">
            <a:solidFill>
              <a:srgbClr val="007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00000" y="5820000"/>
            <a:ext cx="205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7BFF"/>
                </a:solidFill>
                <a:latin typeface="Calibri"/>
              </a:defRPr>
            </a:pPr>
            <a:r>
              <a:t>SOCIAL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00000" y="6010000"/>
            <a:ext cx="20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CCCCCC"/>
                </a:solidFill>
                <a:latin typeface="Calibri"/>
              </a:defRPr>
            </a:pPr>
            <a:r>
              <a:t>Mentorship &amp; student–industry</a:t>
            </a:r>
            <a:br/>
            <a:r>
              <a:t>connections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550000" y="5800000"/>
            <a:ext cx="2150000" cy="500000"/>
          </a:xfrm>
          <a:prstGeom prst="roundRect">
            <a:avLst/>
          </a:prstGeom>
          <a:solidFill>
            <a:srgbClr val="333344"/>
          </a:solidFill>
          <a:ln w="1905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600000" y="5820000"/>
            <a:ext cx="205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D4AA"/>
                </a:solidFill>
                <a:latin typeface="Calibri"/>
              </a:defRPr>
            </a:pPr>
            <a:r>
              <a:t>EDUCATIONAL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600000" y="6010000"/>
            <a:ext cx="20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CCCCCC"/>
                </a:solidFill>
                <a:latin typeface="Calibri"/>
              </a:defRPr>
            </a:pPr>
            <a:r>
              <a:t>Skill-gap visibility &amp;</a:t>
            </a:r>
            <a:br/>
            <a:r>
              <a:t>curriculum alignment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850000" y="5800000"/>
            <a:ext cx="2150000" cy="500000"/>
          </a:xfrm>
          <a:prstGeom prst="roundRect">
            <a:avLst/>
          </a:prstGeom>
          <a:solidFill>
            <a:srgbClr val="333344"/>
          </a:solidFill>
          <a:ln w="1905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900000" y="5820000"/>
            <a:ext cx="205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8C00"/>
                </a:solidFill>
                <a:latin typeface="Calibri"/>
              </a:defRPr>
            </a:pPr>
            <a:r>
              <a:t>ECONOMIC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900000" y="6010000"/>
            <a:ext cx="20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CCCCCC"/>
                </a:solidFill>
                <a:latin typeface="Calibri"/>
              </a:defRPr>
            </a:pPr>
            <a:r>
              <a:t>Better opportunity matching</a:t>
            </a:r>
            <a:br/>
            <a:r>
              <a:t>&amp; reduced skill mismatch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150000" y="5800000"/>
            <a:ext cx="2150000" cy="500000"/>
          </a:xfrm>
          <a:prstGeom prst="roundRect">
            <a:avLst/>
          </a:prstGeom>
          <a:solidFill>
            <a:srgbClr val="333344"/>
          </a:solidFill>
          <a:ln w="19050">
            <a:solidFill>
              <a:srgbClr val="AA5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200000" y="5820000"/>
            <a:ext cx="205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AA55FF"/>
                </a:solidFill>
                <a:latin typeface="Calibri"/>
              </a:defRPr>
            </a:pPr>
            <a:r>
              <a:t>TECH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00000" y="6010000"/>
            <a:ext cx="20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CCCCCC"/>
                </a:solidFill>
                <a:latin typeface="Calibri"/>
              </a:defRPr>
            </a:pPr>
            <a:r>
              <a:t>AI-assisted personalization</a:t>
            </a:r>
            <a:br/>
            <a:r>
              <a:t>&amp; continuous feedback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450000" y="5800000"/>
            <a:ext cx="2150000" cy="500000"/>
          </a:xfrm>
          <a:prstGeom prst="roundRect">
            <a:avLst/>
          </a:prstGeom>
          <a:solidFill>
            <a:srgbClr val="333344"/>
          </a:solidFill>
          <a:ln w="19050">
            <a:solidFill>
              <a:srgbClr val="00C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500000" y="5820000"/>
            <a:ext cx="205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CC66"/>
                </a:solidFill>
                <a:latin typeface="Calibri"/>
              </a:defRPr>
            </a:pPr>
            <a:r>
              <a:t>ENV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500000" y="6010000"/>
            <a:ext cx="20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CCCCCC"/>
                </a:solidFill>
                <a:latin typeface="Calibri"/>
              </a:defRPr>
            </a:pPr>
            <a:r>
              <a:t>Digital mentorship &amp;</a:t>
            </a:r>
            <a:br/>
            <a:r>
              <a:t>remote engagement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00000" y="650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AAAAAA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00000" y="650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AAAAAA"/>
                </a:solidFill>
                <a:latin typeface="Calibri"/>
              </a:defRPr>
            </a:pPr>
            <a:r>
              <a:t>@SIH Idea submission- Template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00000" y="6500000"/>
            <a:ext cx="3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00D4AA"/>
                </a:solidFill>
                <a:latin typeface="Calibri"/>
              </a:defRPr>
            </a:pPr>
            <a:r>
              <a:t>Career Readiness OS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0000" y="150000"/>
            <a:ext cx="116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D4AA"/>
                </a:solidFill>
                <a:latin typeface="Calibri"/>
              </a:defRPr>
            </a:pPr>
            <a:r>
              <a:t>RESEARCH, REFERENCES &amp; COMPETITOR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0000" y="550000"/>
            <a:ext cx="55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D700"/>
                </a:solidFill>
                <a:latin typeface="Calibri"/>
              </a:defRPr>
            </a:pPr>
            <a:r>
              <a:t>◆ Research / Design References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00000" y="800000"/>
            <a:ext cx="400000" cy="270000"/>
          </a:xfrm>
          <a:prstGeom prst="round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0000" y="820000"/>
            <a:ext cx="1500000" cy="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D4AA"/>
                </a:solidFill>
                <a:latin typeface="Calibri"/>
              </a:defRPr>
            </a:pPr>
            <a:r>
              <a:t>SIH PS 26044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950000"/>
            <a:ext cx="4800000" cy="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AAAAAA"/>
                </a:solidFill>
                <a:latin typeface="Calibri"/>
              </a:defRPr>
            </a:pPr>
            <a:r>
              <a:t>Portal for Academia–Industry Collaboration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00000" y="1130000"/>
            <a:ext cx="400000" cy="270000"/>
          </a:xfrm>
          <a:prstGeom prst="round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0000" y="1150000"/>
            <a:ext cx="1500000" cy="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D4AA"/>
                </a:solidFill>
                <a:latin typeface="Calibri"/>
              </a:defRPr>
            </a:pPr>
            <a:r>
              <a:t>SIH Template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0000" y="1280000"/>
            <a:ext cx="4800000" cy="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AAAAAA"/>
                </a:solidFill>
                <a:latin typeface="Calibri"/>
              </a:defRPr>
            </a:pPr>
            <a:r>
              <a:t>Six-slide structure; diagrams / infographics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0000" y="1460000"/>
            <a:ext cx="400000" cy="270000"/>
          </a:xfrm>
          <a:prstGeom prst="round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1480000"/>
            <a:ext cx="1500000" cy="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D4AA"/>
                </a:solidFill>
                <a:latin typeface="Calibri"/>
              </a:defRPr>
            </a:pPr>
            <a:r>
              <a:t>Product Research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1610000"/>
            <a:ext cx="4800000" cy="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AAAAAA"/>
                </a:solidFill>
                <a:latin typeface="Calibri"/>
              </a:defRPr>
            </a:pPr>
            <a:r>
              <a:t>Career readiness • assessment • learning • talent matching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00000" y="1790000"/>
            <a:ext cx="400000" cy="270000"/>
          </a:xfrm>
          <a:prstGeom prst="round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0000" y="1810000"/>
            <a:ext cx="1500000" cy="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D4AA"/>
                </a:solidFill>
                <a:latin typeface="Calibri"/>
              </a:defRPr>
            </a:pPr>
            <a:r>
              <a:t>Architecture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0000" y="1940000"/>
            <a:ext cx="4800000" cy="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AAAAAA"/>
                </a:solidFill>
                <a:latin typeface="Calibri"/>
              </a:defRPr>
            </a:pPr>
            <a:r>
              <a:t>REST APIs • RBAC • relational DB • AI pipelines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0000" y="2200000"/>
            <a:ext cx="116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D700"/>
                </a:solidFill>
                <a:latin typeface="Calibri"/>
              </a:defRPr>
            </a:pPr>
            <a:r>
              <a:t>◆ Competitor Comparison — Why Our Platform Is The Best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50000" y="2500000"/>
            <a:ext cx="3150000" cy="280000"/>
          </a:xfrm>
          <a:prstGeom prst="roundRect">
            <a:avLst/>
          </a:prstGeom>
          <a:solidFill>
            <a:srgbClr val="333344"/>
          </a:solidFill>
          <a:ln w="1905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00D4AA"/>
                </a:solidFill>
                <a:latin typeface="Calibri"/>
              </a:defRPr>
            </a:pPr>
            <a:r>
              <a:t>Feature / Capability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550000" y="2500000"/>
            <a:ext cx="1950000" cy="280000"/>
          </a:xfrm>
          <a:prstGeom prst="roundRect">
            <a:avLst/>
          </a:prstGeom>
          <a:solidFill>
            <a:srgbClr val="333344"/>
          </a:solidFill>
          <a:ln w="19050">
            <a:solidFill>
              <a:srgbClr val="00C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00CC66"/>
                </a:solidFill>
                <a:latin typeface="Calibri"/>
              </a:defRPr>
            </a:pPr>
            <a:r>
              <a:t>✓ OUR PLATFORM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550000" y="2500000"/>
            <a:ext cx="1350000" cy="280000"/>
          </a:xfrm>
          <a:prstGeom prst="roundRect">
            <a:avLst/>
          </a:prstGeom>
          <a:solidFill>
            <a:srgbClr val="333344"/>
          </a:solidFill>
          <a:ln w="19050">
            <a:solidFill>
              <a:srgbClr val="666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666677"/>
                </a:solidFill>
                <a:latin typeface="Calibri"/>
              </a:defRPr>
            </a:pPr>
            <a:r>
              <a:t>iKlavya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950000" y="2500000"/>
            <a:ext cx="1350000" cy="280000"/>
          </a:xfrm>
          <a:prstGeom prst="roundRect">
            <a:avLst/>
          </a:prstGeom>
          <a:solidFill>
            <a:srgbClr val="333344"/>
          </a:solidFill>
          <a:ln w="19050">
            <a:solidFill>
              <a:srgbClr val="666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666677"/>
                </a:solidFill>
                <a:latin typeface="Calibri"/>
              </a:defRPr>
            </a:pPr>
            <a:r>
              <a:t>Superset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0000" y="2500000"/>
            <a:ext cx="1350000" cy="280000"/>
          </a:xfrm>
          <a:prstGeom prst="roundRect">
            <a:avLst/>
          </a:prstGeom>
          <a:solidFill>
            <a:srgbClr val="333344"/>
          </a:solidFill>
          <a:ln w="19050">
            <a:solidFill>
              <a:srgbClr val="666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666677"/>
                </a:solidFill>
                <a:latin typeface="Calibri"/>
              </a:defRPr>
            </a:pPr>
            <a:r>
              <a:t>Unstop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750000" y="2500000"/>
            <a:ext cx="1350000" cy="280000"/>
          </a:xfrm>
          <a:prstGeom prst="roundRect">
            <a:avLst/>
          </a:prstGeom>
          <a:solidFill>
            <a:srgbClr val="333344"/>
          </a:solidFill>
          <a:ln w="19050">
            <a:solidFill>
              <a:srgbClr val="666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666677"/>
                </a:solidFill>
                <a:latin typeface="Calibri"/>
              </a:defRPr>
            </a:pPr>
            <a:r>
              <a:t>LinkedIn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0000" y="2820000"/>
            <a:ext cx="3100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CCCCCC"/>
                </a:solidFill>
                <a:latin typeface="Calibri"/>
              </a:defRPr>
            </a:pPr>
            <a:r>
              <a:t>AI Career Guidance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80000" y="2820000"/>
            <a:ext cx="1940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00CC66"/>
                </a:solidFill>
                <a:latin typeface="Calibri"/>
              </a:defRPr>
            </a:pPr>
            <a:r>
              <a:t>✓ Advanced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80000" y="2820000"/>
            <a:ext cx="1340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00CC66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80000" y="2820000"/>
            <a:ext cx="1340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00CC66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0000" y="2820000"/>
            <a:ext cx="1340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FF4444"/>
                </a:solidFill>
                <a:latin typeface="Calibri"/>
              </a:defRPr>
            </a:pPr>
            <a:r>
              <a:t>×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80000" y="2820000"/>
            <a:ext cx="1340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00CC66"/>
                </a:solidFill>
                <a:latin typeface="Calibri"/>
              </a:defRPr>
            </a:pPr>
            <a:r>
              <a:t>✓ Limited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0000" y="3050000"/>
            <a:ext cx="3100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CCCCCC"/>
                </a:solidFill>
                <a:latin typeface="Calibri"/>
              </a:defRPr>
            </a:pPr>
            <a:r>
              <a:t>AI Resume Builder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80000" y="3050000"/>
            <a:ext cx="1940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00CC66"/>
                </a:solidFill>
                <a:latin typeface="Calibri"/>
              </a:defRPr>
            </a:pPr>
            <a:r>
              <a:t>✓ AI Optimized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580000" y="3050000"/>
            <a:ext cx="1340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00CC66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80000" y="3050000"/>
            <a:ext cx="1340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00CC66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80000" y="3050000"/>
            <a:ext cx="1340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FF4444"/>
                </a:solidFill>
                <a:latin typeface="Calibri"/>
              </a:defRPr>
            </a:pPr>
            <a:r>
              <a:t>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0000" y="3050000"/>
            <a:ext cx="1340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FF4444"/>
                </a:solidFill>
                <a:latin typeface="Calibri"/>
              </a:defRPr>
            </a:pPr>
            <a:r>
              <a:t>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0000" y="3280000"/>
            <a:ext cx="3100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CCCCCC"/>
                </a:solidFill>
                <a:latin typeface="Calibri"/>
              </a:defRPr>
            </a:pPr>
            <a:r>
              <a:t>AI Mock Interview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80000" y="3280000"/>
            <a:ext cx="1940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00CC66"/>
                </a:solidFill>
                <a:latin typeface="Calibri"/>
              </a:defRPr>
            </a:pPr>
            <a:r>
              <a:t>✓ Adaptive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80000" y="3280000"/>
            <a:ext cx="1340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00CC66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80000" y="3280000"/>
            <a:ext cx="1340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00CC66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80000" y="3280000"/>
            <a:ext cx="1340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00CC66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0000" y="3280000"/>
            <a:ext cx="1340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FF4444"/>
                </a:solidFill>
                <a:latin typeface="Calibri"/>
              </a:defRPr>
            </a:pPr>
            <a:r>
              <a:t>×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0000" y="3510000"/>
            <a:ext cx="3100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CCCCCC"/>
                </a:solidFill>
                <a:latin typeface="Calibri"/>
              </a:defRPr>
            </a:pPr>
            <a:r>
              <a:t>Skill Assessment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80000" y="3510000"/>
            <a:ext cx="1940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00CC66"/>
                </a:solidFill>
                <a:latin typeface="Calibri"/>
              </a:defRPr>
            </a:pPr>
            <a:r>
              <a:t>✓ 20-30Q AI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580000" y="3510000"/>
            <a:ext cx="1340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00CC66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80000" y="3510000"/>
            <a:ext cx="1340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00CC66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80000" y="3510000"/>
            <a:ext cx="1340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00CC66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780000" y="3510000"/>
            <a:ext cx="1340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FF4444"/>
                </a:solidFill>
                <a:latin typeface="Calibri"/>
              </a:defRPr>
            </a:pPr>
            <a:r>
              <a:t>×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00000" y="3740000"/>
            <a:ext cx="3100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CCCCCC"/>
                </a:solidFill>
                <a:latin typeface="Calibri"/>
              </a:defRPr>
            </a:pPr>
            <a:r>
              <a:t>Skill Gap Detection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80000" y="3740000"/>
            <a:ext cx="1940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00CC66"/>
                </a:solidFill>
                <a:latin typeface="Calibri"/>
              </a:defRPr>
            </a:pPr>
            <a:r>
              <a:t>✓ Evidence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580000" y="3740000"/>
            <a:ext cx="1340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FFCC00"/>
                </a:solidFill>
                <a:latin typeface="Calibri"/>
              </a:defRPr>
            </a:pPr>
            <a:r>
              <a:t>● Basic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980000" y="3740000"/>
            <a:ext cx="1340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FFCC00"/>
                </a:solidFill>
                <a:latin typeface="Calibri"/>
              </a:defRPr>
            </a:pPr>
            <a:r>
              <a:t>● Limited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80000" y="3740000"/>
            <a:ext cx="1340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FFCC00"/>
                </a:solidFill>
                <a:latin typeface="Calibri"/>
              </a:defRPr>
            </a:pPr>
            <a:r>
              <a:t>● Limited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780000" y="3740000"/>
            <a:ext cx="1340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FFCC00"/>
                </a:solidFill>
                <a:latin typeface="Calibri"/>
              </a:defRPr>
            </a:pPr>
            <a:r>
              <a:t>● Limited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00000" y="3970000"/>
            <a:ext cx="3100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CCCCCC"/>
                </a:solidFill>
                <a:latin typeface="Calibri"/>
              </a:defRPr>
            </a:pPr>
            <a:r>
              <a:t>Continuous Skill Update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580000" y="3970000"/>
            <a:ext cx="1940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00CC66"/>
                </a:solidFill>
                <a:latin typeface="Calibri"/>
              </a:defRPr>
            </a:pPr>
            <a:r>
              <a:t>✓ Auto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580000" y="3970000"/>
            <a:ext cx="1340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FFCC00"/>
                </a:solidFill>
                <a:latin typeface="Calibri"/>
              </a:defRPr>
            </a:pPr>
            <a:r>
              <a:t>● Manual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80000" y="3970000"/>
            <a:ext cx="1340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FF4444"/>
                </a:solidFill>
                <a:latin typeface="Calibri"/>
              </a:defRPr>
            </a:pPr>
            <a:r>
              <a:t>×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380000" y="3970000"/>
            <a:ext cx="1340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FF4444"/>
                </a:solidFill>
                <a:latin typeface="Calibri"/>
              </a:defRPr>
            </a:pPr>
            <a:r>
              <a:t>×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780000" y="3970000"/>
            <a:ext cx="1340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FF4444"/>
                </a:solidFill>
                <a:latin typeface="Calibri"/>
              </a:defRPr>
            </a:pPr>
            <a:r>
              <a:t>×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00000" y="4200000"/>
            <a:ext cx="3100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CCCCCC"/>
                </a:solidFill>
                <a:latin typeface="Calibri"/>
              </a:defRPr>
            </a:pPr>
            <a:r>
              <a:t>Evidence-Based Profile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580000" y="4200000"/>
            <a:ext cx="1940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00CC66"/>
                </a:solidFill>
                <a:latin typeface="Calibri"/>
              </a:defRPr>
            </a:pPr>
            <a:r>
              <a:t>✓ Full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580000" y="4200000"/>
            <a:ext cx="1340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FFCC00"/>
                </a:solidFill>
                <a:latin typeface="Calibri"/>
              </a:defRPr>
            </a:pPr>
            <a:r>
              <a:t>● Partial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980000" y="4200000"/>
            <a:ext cx="1340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FFCC00"/>
                </a:solidFill>
                <a:latin typeface="Calibri"/>
              </a:defRPr>
            </a:pPr>
            <a:r>
              <a:t>● Partial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380000" y="4200000"/>
            <a:ext cx="1340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FFCC00"/>
                </a:solidFill>
                <a:latin typeface="Calibri"/>
              </a:defRPr>
            </a:pPr>
            <a:r>
              <a:t>● Partial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780000" y="4200000"/>
            <a:ext cx="1340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FF4444"/>
                </a:solidFill>
                <a:latin typeface="Calibri"/>
              </a:defRPr>
            </a:pPr>
            <a:r>
              <a:t>×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00000" y="4430000"/>
            <a:ext cx="3100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CCCCCC"/>
                </a:solidFill>
                <a:latin typeface="Calibri"/>
              </a:defRPr>
            </a:pPr>
            <a:r>
              <a:t>80% Verification Rule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580000" y="4430000"/>
            <a:ext cx="1940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00CC66"/>
                </a:solidFill>
                <a:latin typeface="Calibri"/>
              </a:defRPr>
            </a:pPr>
            <a:r>
              <a:t>✓ Quality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580000" y="4430000"/>
            <a:ext cx="1340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FF4444"/>
                </a:solidFill>
                <a:latin typeface="Calibri"/>
              </a:defRPr>
            </a:pPr>
            <a:r>
              <a:t>×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980000" y="4430000"/>
            <a:ext cx="1340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FF4444"/>
                </a:solidFill>
                <a:latin typeface="Calibri"/>
              </a:defRPr>
            </a:pPr>
            <a:r>
              <a:t>×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380000" y="4430000"/>
            <a:ext cx="1340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FF4444"/>
                </a:solidFill>
                <a:latin typeface="Calibri"/>
              </a:defRPr>
            </a:pPr>
            <a:r>
              <a:t>×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780000" y="4430000"/>
            <a:ext cx="1340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FF4444"/>
                </a:solidFill>
                <a:latin typeface="Calibri"/>
              </a:defRPr>
            </a:pPr>
            <a:r>
              <a:t>×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00000" y="4660000"/>
            <a:ext cx="3100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CCCCCC"/>
                </a:solidFill>
                <a:latin typeface="Calibri"/>
              </a:defRPr>
            </a:pPr>
            <a:r>
              <a:t>Adaptive Tests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580000" y="4660000"/>
            <a:ext cx="1940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00CC66"/>
                </a:solidFill>
                <a:latin typeface="Calibri"/>
              </a:defRPr>
            </a:pPr>
            <a:r>
              <a:t>✓ E→M→H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580000" y="4660000"/>
            <a:ext cx="1340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FFCC00"/>
                </a:solidFill>
                <a:latin typeface="Calibri"/>
              </a:defRPr>
            </a:pPr>
            <a:r>
              <a:t>● Limited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80000" y="4660000"/>
            <a:ext cx="1340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FFCC00"/>
                </a:solidFill>
                <a:latin typeface="Calibri"/>
              </a:defRPr>
            </a:pPr>
            <a:r>
              <a:t>● Limited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380000" y="4660000"/>
            <a:ext cx="1340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00CC66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780000" y="4660000"/>
            <a:ext cx="1340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FF4444"/>
                </a:solidFill>
                <a:latin typeface="Calibri"/>
              </a:defRPr>
            </a:pPr>
            <a:r>
              <a:t>×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00000" y="4890000"/>
            <a:ext cx="3100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CCCCCC"/>
                </a:solidFill>
                <a:latin typeface="Calibri"/>
              </a:defRPr>
            </a:pPr>
            <a:r>
              <a:t>AI Daily Timetable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580000" y="4890000"/>
            <a:ext cx="1940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00CC66"/>
                </a:solidFill>
                <a:latin typeface="Calibri"/>
              </a:defRPr>
            </a:pPr>
            <a:r>
              <a:t>✓ Planner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580000" y="4890000"/>
            <a:ext cx="1340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FF4444"/>
                </a:solidFill>
                <a:latin typeface="Calibri"/>
              </a:defRPr>
            </a:pPr>
            <a:r>
              <a:t>×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980000" y="4890000"/>
            <a:ext cx="1340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FF4444"/>
                </a:solidFill>
                <a:latin typeface="Calibri"/>
              </a:defRPr>
            </a:pPr>
            <a:r>
              <a:t>×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380000" y="4890000"/>
            <a:ext cx="1340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FFCC00"/>
                </a:solidFill>
                <a:latin typeface="Calibri"/>
              </a:defRPr>
            </a:pPr>
            <a:r>
              <a:t>●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780000" y="4890000"/>
            <a:ext cx="1340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FF4444"/>
                </a:solidFill>
                <a:latin typeface="Calibri"/>
              </a:defRPr>
            </a:pPr>
            <a:r>
              <a:t>×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00000" y="5120000"/>
            <a:ext cx="3100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CCCCCC"/>
                </a:solidFill>
                <a:latin typeface="Calibri"/>
              </a:defRPr>
            </a:pPr>
            <a:r>
              <a:t>Streak + XP System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580000" y="5120000"/>
            <a:ext cx="1940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00CC66"/>
                </a:solidFill>
                <a:latin typeface="Calibri"/>
              </a:defRPr>
            </a:pPr>
            <a:r>
              <a:t>✓ Gamified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580000" y="5120000"/>
            <a:ext cx="1340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FFCC00"/>
                </a:solidFill>
                <a:latin typeface="Calibri"/>
              </a:defRPr>
            </a:pPr>
            <a:r>
              <a:t>●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980000" y="5120000"/>
            <a:ext cx="1340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FF4444"/>
                </a:solidFill>
                <a:latin typeface="Calibri"/>
              </a:defRPr>
            </a:pPr>
            <a:r>
              <a:t>×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380000" y="5120000"/>
            <a:ext cx="1340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FFCC00"/>
                </a:solidFill>
                <a:latin typeface="Calibri"/>
              </a:defRPr>
            </a:pPr>
            <a:r>
              <a:t>●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780000" y="5120000"/>
            <a:ext cx="1340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FFCC00"/>
                </a:solidFill>
                <a:latin typeface="Calibri"/>
              </a:defRPr>
            </a:pPr>
            <a:r>
              <a:t>●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00000" y="5350000"/>
            <a:ext cx="3100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CCCCCC"/>
                </a:solidFill>
                <a:latin typeface="Calibri"/>
              </a:defRPr>
            </a:pPr>
            <a:r>
              <a:t>Career Readiness Score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580000" y="5350000"/>
            <a:ext cx="1940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00CC66"/>
                </a:solidFill>
                <a:latin typeface="Calibri"/>
              </a:defRPr>
            </a:pPr>
            <a:r>
              <a:t>✓ Real-time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580000" y="5350000"/>
            <a:ext cx="1340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00CC66"/>
                </a:solidFill>
                <a:latin typeface="Calibri"/>
              </a:defRPr>
            </a:pPr>
            <a:r>
              <a:t>✓ Partial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980000" y="5350000"/>
            <a:ext cx="1340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FFCC00"/>
                </a:solidFill>
                <a:latin typeface="Calibri"/>
              </a:defRPr>
            </a:pPr>
            <a:r>
              <a:t>●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380000" y="5350000"/>
            <a:ext cx="1340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FFCC00"/>
                </a:solidFill>
                <a:latin typeface="Calibri"/>
              </a:defRPr>
            </a:pPr>
            <a:r>
              <a:t>●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0000" y="5350000"/>
            <a:ext cx="1340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FF4444"/>
                </a:solidFill>
                <a:latin typeface="Calibri"/>
              </a:defRPr>
            </a:pPr>
            <a:r>
              <a:t>×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00000" y="5580000"/>
            <a:ext cx="3100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CCCCCC"/>
                </a:solidFill>
                <a:latin typeface="Calibri"/>
              </a:defRPr>
            </a:pPr>
            <a:r>
              <a:t>Skill Evidence Graph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580000" y="5580000"/>
            <a:ext cx="1940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00CC66"/>
                </a:solidFill>
                <a:latin typeface="Calibri"/>
              </a:defRPr>
            </a:pPr>
            <a:r>
              <a:t>✓ Visual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580000" y="5580000"/>
            <a:ext cx="1340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FF4444"/>
                </a:solidFill>
                <a:latin typeface="Calibri"/>
              </a:defRPr>
            </a:pPr>
            <a:r>
              <a:t>×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980000" y="5580000"/>
            <a:ext cx="1340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FF4444"/>
                </a:solidFill>
                <a:latin typeface="Calibri"/>
              </a:defRPr>
            </a:pPr>
            <a:r>
              <a:t>×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380000" y="5580000"/>
            <a:ext cx="1340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FF4444"/>
                </a:solidFill>
                <a:latin typeface="Calibri"/>
              </a:defRPr>
            </a:pPr>
            <a:r>
              <a:t>×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780000" y="5580000"/>
            <a:ext cx="1340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FF4444"/>
                </a:solidFill>
                <a:latin typeface="Calibri"/>
              </a:defRPr>
            </a:pPr>
            <a:r>
              <a:t>×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00000" y="5810000"/>
            <a:ext cx="3100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CCCCCC"/>
                </a:solidFill>
                <a:latin typeface="Calibri"/>
              </a:defRPr>
            </a:pPr>
            <a:r>
              <a:t>Explainable Job Match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3580000" y="5810000"/>
            <a:ext cx="1940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00CC66"/>
                </a:solidFill>
                <a:latin typeface="Calibri"/>
              </a:defRPr>
            </a:pPr>
            <a:r>
              <a:t>✓ AI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580000" y="5810000"/>
            <a:ext cx="1340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00CC66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980000" y="5810000"/>
            <a:ext cx="1340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FFCC00"/>
                </a:solidFill>
                <a:latin typeface="Calibri"/>
              </a:defRPr>
            </a:pPr>
            <a:r>
              <a:t>●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380000" y="5810000"/>
            <a:ext cx="1340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FFCC00"/>
                </a:solidFill>
                <a:latin typeface="Calibri"/>
              </a:defRPr>
            </a:pPr>
            <a:r>
              <a:t>●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780000" y="5810000"/>
            <a:ext cx="1340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FFCC00"/>
                </a:solidFill>
                <a:latin typeface="Calibri"/>
              </a:defRPr>
            </a:pPr>
            <a:r>
              <a:t>●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00000" y="6040000"/>
            <a:ext cx="3100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CCCCCC"/>
                </a:solidFill>
                <a:latin typeface="Calibri"/>
              </a:defRPr>
            </a:pPr>
            <a:r>
              <a:t>Institution Analytics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3580000" y="6040000"/>
            <a:ext cx="1940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00CC66"/>
                </a:solidFill>
                <a:latin typeface="Calibri"/>
              </a:defRPr>
            </a:pPr>
            <a:r>
              <a:t>✓ Full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580000" y="6040000"/>
            <a:ext cx="1340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00CC66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980000" y="6040000"/>
            <a:ext cx="1340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00CC66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380000" y="6040000"/>
            <a:ext cx="1340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FFCC00"/>
                </a:solidFill>
                <a:latin typeface="Calibri"/>
              </a:defRPr>
            </a:pPr>
            <a:r>
              <a:t>●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780000" y="6040000"/>
            <a:ext cx="1340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FF4444"/>
                </a:solidFill>
                <a:latin typeface="Calibri"/>
              </a:defRPr>
            </a:pPr>
            <a:r>
              <a:t>×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00000" y="6270000"/>
            <a:ext cx="3100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CCCCCC"/>
                </a:solidFill>
                <a:latin typeface="Calibri"/>
              </a:defRPr>
            </a:pPr>
            <a:r>
              <a:t>Industry Feedback Loop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580000" y="6270000"/>
            <a:ext cx="1940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00CC66"/>
                </a:solidFill>
                <a:latin typeface="Calibri"/>
              </a:defRPr>
            </a:pPr>
            <a:r>
              <a:t>✓ Closed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580000" y="6270000"/>
            <a:ext cx="1340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FFCC00"/>
                </a:solidFill>
                <a:latin typeface="Calibri"/>
              </a:defRPr>
            </a:pPr>
            <a:r>
              <a:t>●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80000" y="6270000"/>
            <a:ext cx="1340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FFCC00"/>
                </a:solidFill>
                <a:latin typeface="Calibri"/>
              </a:defRPr>
            </a:pPr>
            <a:r>
              <a:t>●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380000" y="6270000"/>
            <a:ext cx="1340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FF4444"/>
                </a:solidFill>
                <a:latin typeface="Calibri"/>
              </a:defRPr>
            </a:pPr>
            <a:r>
              <a:t>×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780000" y="6270000"/>
            <a:ext cx="1340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FF4444"/>
                </a:solidFill>
                <a:latin typeface="Calibri"/>
              </a:defRPr>
            </a:pPr>
            <a:r>
              <a:t>×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00000" y="6500000"/>
            <a:ext cx="3100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CCCCCC"/>
                </a:solidFill>
                <a:latin typeface="Calibri"/>
              </a:defRPr>
            </a:pPr>
            <a:r>
              <a:t>Curriculum→Industry Gap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3580000" y="6500000"/>
            <a:ext cx="1940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00CC66"/>
                </a:solidFill>
                <a:latin typeface="Calibri"/>
              </a:defRPr>
            </a:pPr>
            <a:r>
              <a:t>✓ Analysis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580000" y="6500000"/>
            <a:ext cx="1340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FFCC00"/>
                </a:solidFill>
                <a:latin typeface="Calibri"/>
              </a:defRPr>
            </a:pPr>
            <a:r>
              <a:t>●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980000" y="6500000"/>
            <a:ext cx="1340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FFCC00"/>
                </a:solidFill>
                <a:latin typeface="Calibri"/>
              </a:defRPr>
            </a:pPr>
            <a:r>
              <a:t>●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380000" y="6500000"/>
            <a:ext cx="1340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FF4444"/>
                </a:solidFill>
                <a:latin typeface="Calibri"/>
              </a:defRPr>
            </a:pPr>
            <a:r>
              <a:t>×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780000" y="6500000"/>
            <a:ext cx="1340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FF4444"/>
                </a:solidFill>
                <a:latin typeface="Calibri"/>
              </a:defRPr>
            </a:pPr>
            <a:r>
              <a:t>×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00000" y="6700000"/>
            <a:ext cx="116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AAAAAA"/>
                </a:solidFill>
                <a:latin typeface="Calibri"/>
              </a:defRPr>
            </a:pPr>
            <a:r>
              <a:t>✓ Core/strong   ● Partial/basic/limited   × Not a primary offering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00000" y="650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AAAAAA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500000" y="650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AAAAAA"/>
                </a:solidFill>
                <a:latin typeface="Calibri"/>
              </a:defRPr>
            </a:pPr>
            <a:r>
              <a:t>@SIH Idea submission- Template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00000" y="6500000"/>
            <a:ext cx="3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00D4AA"/>
                </a:solidFill>
                <a:latin typeface="Calibri"/>
              </a:defRPr>
            </a:pPr>
            <a:r>
              <a:t>Career Readiness OS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