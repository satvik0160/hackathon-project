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2400" b="1">
                <a:solidFill>
                  <a:srgbClr val="000000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rgbClr val="000000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rgbClr val="000000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Problem Statement ID – </a:t>
            </a:r>
            <a:r>
              <a:rPr sz="1250" b="1">
                <a:solidFill>
                  <a:srgbClr val="000000"/>
                </a:solidFill>
                <a:latin typeface="Arial"/>
              </a:rPr>
              <a:t>26044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Problem Statement Title – </a:t>
            </a:r>
            <a:r>
              <a:rPr sz="1250" b="1">
                <a:solidFill>
                  <a:srgbClr val="000000"/>
                </a:solidFill>
                <a:latin typeface="Arial"/>
              </a:rPr>
              <a:t>Portal for Academia–Industry Collaboration for Skill Mapping, Internships and Placement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Theme – </a:t>
            </a:r>
            <a:r>
              <a:rPr sz="1250" b="1">
                <a:solidFill>
                  <a:srgbClr val="000000"/>
                </a:solidFill>
                <a:latin typeface="Arial"/>
              </a:rPr>
              <a:t>Education &amp; Skill Development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PS Category – </a:t>
            </a:r>
            <a:r>
              <a:rPr sz="12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Team ID – </a:t>
            </a:r>
            <a:r>
              <a:rPr sz="1250" b="1">
                <a:solidFill>
                  <a:srgbClr val="000000"/>
                </a:solidFill>
                <a:latin typeface="Arial"/>
              </a:rPr>
              <a:t>YOUR TEAM ID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Team Name – </a:t>
            </a:r>
            <a:r>
              <a:rPr sz="1250" b="1">
                <a:solidFill>
                  <a:srgbClr val="000000"/>
                </a:solidFill>
                <a:latin typeface="Arial"/>
              </a:rPr>
              <a:t>YOUR REGISTERED TEAM NAME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46520" y="5349240"/>
            <a:ext cx="3840480" cy="566928"/>
          </a:xfrm>
          <a:prstGeom prst="roundRect">
            <a:avLst/>
          </a:prstGeom>
          <a:solidFill>
            <a:srgbClr val="1F66AA"/>
          </a:solidFill>
          <a:ln w="13970">
            <a:solidFill>
              <a:srgbClr val="1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STUDENT ↔ INSTITUTION ↔ INDUSTRY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85232"/>
            <a:ext cx="3977639" cy="59436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STUDENT  ↔  INSTITUTION  ↔  INDUSTRY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943600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AI-powered Skill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rgbClr val="000000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CAREER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987552"/>
            <a:ext cx="44805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◆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53312"/>
            <a:ext cx="429768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unified intelligence platform that converts learner evidence into skill profiles, identifies gaps, drives personalized action, and connects verified readiness with institutions and industry.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51460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ASSESSMENT +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333756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SKILL PROFILE + SKILL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416052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SKILL GAP + READINESS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498348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ACTION + FEEDBACK LOOP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10896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3931920"/>
            <a:ext cx="0" cy="201167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74720" y="475488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349240" y="42245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EVIDENCE → GAP → ACTION → OPPORTUNITY → INDUSTRY FEEDBACK → PROFILE UPDATE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5138928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Intelligence Outputs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48640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548640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Readiness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576072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76072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heatmap + curriculum alignment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603504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603504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Demand + candidate matching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2743200"/>
            <a:ext cx="1207008" cy="1207008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67" name="Oval 66"/>
          <p:cNvSpPr/>
          <p:nvPr/>
        </p:nvSpPr>
        <p:spPr>
          <a:xfrm>
            <a:off x="594360" y="4160520"/>
            <a:ext cx="1207008" cy="1207008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5486400"/>
            <a:ext cx="1207008" cy="1207008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1801368" y="3108960"/>
            <a:ext cx="256032" cy="237744"/>
          </a:xfrm>
          <a:prstGeom prst="line">
            <a:avLst/>
          </a:prstGeom>
          <a:ln w="1524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1368" y="4160520"/>
            <a:ext cx="256032" cy="603504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01368" y="5166360"/>
            <a:ext cx="256032" cy="923544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49240" y="118872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End-to-End Student Journey</a:t>
            </a:r>
          </a:p>
        </p:txBody>
      </p:sp>
      <p:sp>
        <p:nvSpPr>
          <p:cNvPr id="73" name="Oval 72"/>
          <p:cNvSpPr/>
          <p:nvPr/>
        </p:nvSpPr>
        <p:spPr>
          <a:xfrm>
            <a:off x="5349240" y="1627632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1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Onboard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96712" y="1801368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19672" y="1627632"/>
            <a:ext cx="347472" cy="347472"/>
          </a:xfrm>
          <a:prstGeom prst="ellipse">
            <a:avLst/>
          </a:prstGeom>
          <a:solidFill>
            <a:srgbClr val="2C9CB6"/>
          </a:solidFill>
          <a:ln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12864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AI Assessment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67144" y="1801368"/>
            <a:ext cx="749808" cy="0"/>
          </a:xfrm>
          <a:prstGeom prst="line">
            <a:avLst/>
          </a:prstGeom>
          <a:ln w="1270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690104" y="1627632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6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Profile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037576" y="1801368"/>
            <a:ext cx="749808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860536" y="1627632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53728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Gap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208008" y="1801368"/>
            <a:ext cx="749807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030967" y="1627632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59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Learn + Test</a:t>
            </a:r>
          </a:p>
        </p:txBody>
      </p:sp>
      <p:sp>
        <p:nvSpPr>
          <p:cNvPr id="87" name="Oval 86"/>
          <p:cNvSpPr/>
          <p:nvPr/>
        </p:nvSpPr>
        <p:spPr>
          <a:xfrm>
            <a:off x="5349240" y="2743200"/>
            <a:ext cx="347472" cy="347472"/>
          </a:xfrm>
          <a:prstGeom prst="ellipse">
            <a:avLst/>
          </a:prstGeom>
          <a:solidFill>
            <a:srgbClr val="6F529B"/>
          </a:solidFill>
          <a:ln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42431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Daily Planner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96712" y="2916936"/>
            <a:ext cx="749808" cy="0"/>
          </a:xfrm>
          <a:prstGeom prst="line">
            <a:avLst/>
          </a:prstGeom>
          <a:ln w="1270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519672" y="274320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12864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Roadmap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67144" y="2916936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7690104" y="2743200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3296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Jobs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37576" y="2916936"/>
            <a:ext cx="749808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860536" y="2743200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3728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Resume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08008" y="2916936"/>
            <a:ext cx="749807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424159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Mock Interview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0204703" y="1993392"/>
            <a:ext cx="0" cy="585216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0012679" y="2715768"/>
            <a:ext cx="420624" cy="420624"/>
          </a:xfrm>
          <a:prstGeom prst="ellipse">
            <a:avLst/>
          </a:prstGeom>
          <a:solidFill>
            <a:srgbClr val="C24343"/>
          </a:solidFill>
          <a:ln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rgbClr val="000000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TECHNICAL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987552"/>
            <a:ext cx="47548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Technology / Architecture Stack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417320"/>
            <a:ext cx="1508760" cy="45720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1417320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frontend • role-based dashboards • responsive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075688"/>
            <a:ext cx="1508760" cy="457200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BACKEND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075688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backend • REST API • authentication •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34056"/>
            <a:ext cx="1508760" cy="457200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AI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2734056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Assessment scoring • skill-gap engine • recommendations • 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1508760" cy="457200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3392424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database architecture • indexed entities • transactional integrity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1508760" cy="457200"/>
          </a:xfrm>
          <a:prstGeom prst="roundRect">
            <a:avLst/>
          </a:prstGeom>
          <a:solidFill>
            <a:srgbClr val="2C9CB6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INTEGRATIONS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4050791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Jobs • internships • learning resources • notifications •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987552"/>
            <a:ext cx="52120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System Architecture / 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417320"/>
            <a:ext cx="123444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417320"/>
            <a:ext cx="13258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API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417320"/>
            <a:ext cx="141732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SERVICES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0" y="1682496"/>
            <a:ext cx="365759" cy="0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23960" y="1682496"/>
            <a:ext cx="411480" cy="0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903720" y="2331720"/>
            <a:ext cx="1828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AI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3317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DATABASE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1947672"/>
            <a:ext cx="0" cy="384048"/>
          </a:xfrm>
          <a:prstGeom prst="line">
            <a:avLst/>
          </a:prstGeom>
          <a:ln w="2286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23960" y="2615184"/>
            <a:ext cx="411480" cy="0"/>
          </a:xfrm>
          <a:prstGeom prst="line">
            <a:avLst/>
          </a:prstGeom>
          <a:ln w="2286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337560"/>
            <a:ext cx="20116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AUTH + RBAC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37560"/>
            <a:ext cx="242316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AUDIT + ANALYTICS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903720" y="1947672"/>
            <a:ext cx="274320" cy="384048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03720" y="2898648"/>
            <a:ext cx="914400" cy="438912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2898648"/>
            <a:ext cx="594360" cy="438912"/>
          </a:xfrm>
          <a:prstGeom prst="line">
            <a:avLst/>
          </a:prstGeom>
          <a:ln w="2286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89204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Implementation 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Capture
Evidence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57400" y="5586984"/>
            <a:ext cx="365760" cy="0"/>
          </a:xfrm>
          <a:prstGeom prst="line">
            <a:avLst/>
          </a:prstGeom>
          <a:ln w="1651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688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Normalize
Skills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86200" y="5586984"/>
            <a:ext cx="365760" cy="0"/>
          </a:xfrm>
          <a:prstGeom prst="line">
            <a:avLst/>
          </a:prstGeom>
          <a:ln w="1651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2976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Analyze
Gaps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15000" y="5586984"/>
            <a:ext cx="365760" cy="0"/>
          </a:xfrm>
          <a:prstGeom prst="line">
            <a:avLst/>
          </a:prstGeom>
          <a:ln w="1651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Recommend
Actions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43800" y="5586984"/>
            <a:ext cx="365760" cy="0"/>
          </a:xfrm>
          <a:prstGeom prst="line">
            <a:avLst/>
          </a:prstGeom>
          <a:ln w="1651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955279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Match
Opportunities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5586984"/>
            <a:ext cx="365759" cy="0"/>
          </a:xfrm>
          <a:prstGeom prst="line">
            <a:avLst/>
          </a:prstGeom>
          <a:ln w="1651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784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Learn from
Feedback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89320"/>
            <a:ext cx="106984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69" b="1">
                <a:solidFill>
                  <a:srgbClr val="000000"/>
                </a:solidFill>
                <a:latin typeface="Arial"/>
              </a:rPr>
              <a:t>Security-by-design: authentication • role isolation • least privilege • validation • rate limiting • auditability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FEASIBILITY AND VIABILITY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02920" y="1005840"/>
            <a:ext cx="52120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Feasibility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024128" y="1399032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Technical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920240" y="1371600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Uses existing DB/backend foundation; modular APIs and AI services.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94360" y="2167128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24128" y="2148840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Operational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20240" y="2121408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Three role-based workflows share one skill intelligence layer.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594360" y="2916936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24128" y="2898648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Scalable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920240" y="2871216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Modules can be added independently as adoption grows.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024128" y="3648456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920240" y="3621024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Cloud-ready architecture supports incremental deployment.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486400" y="1005840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Use Cases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0" y="1417320"/>
            <a:ext cx="114300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20840" y="1399032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Find gap → learn → prove skill → apply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486400" y="2167128"/>
            <a:ext cx="114300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20840" y="214884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See cohort gaps → align curriculum → track readiness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0" y="2916936"/>
            <a:ext cx="114300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720840" y="2898648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Publish skill needs → discover talent → give feedback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486400" y="3666744"/>
            <a:ext cx="114300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Admin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720840" y="3648456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Monitor adoption → quality → ecosystem health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915400" y="1005840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Viability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915400" y="141732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 SaaS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052560" y="1929384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analytics + curriculum intelligence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915400" y="2167128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 access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052560" y="2679192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talent / projects / mentorship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915400" y="2916936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Premium career tools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052560" y="3429000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advanced readiness + mock interview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8915400" y="3666744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Ecosystem value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052560" y="4178808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shared skill language + feedback loop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" y="457200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Key Challenges → Mitigation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59436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Privacy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645919" y="5193792"/>
            <a:ext cx="274321" cy="0"/>
          </a:xfrm>
          <a:prstGeom prst="line">
            <a:avLst/>
          </a:prstGeom>
          <a:ln w="15240">
            <a:solidFill>
              <a:srgbClr val="C2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194767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RBAC + least privilege + audit trail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38327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AI quality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4434840" y="5193792"/>
            <a:ext cx="274319" cy="0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473659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Evidence-based scoring + human review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7220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Skill drift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7223760" y="5193792"/>
            <a:ext cx="274319" cy="0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ounded Rectangle 17471"/>
          <p:cNvSpPr/>
          <p:nvPr/>
        </p:nvSpPr>
        <p:spPr>
          <a:xfrm>
            <a:off x="752551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Versioned skill taxonomy + industry feedback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896111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Stale opportunities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012680" y="5193792"/>
            <a:ext cx="274319" cy="0"/>
          </a:xfrm>
          <a:prstGeom prst="line">
            <a:avLst/>
          </a:prstGeom>
          <a:ln w="1524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1443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Expiry + timestamps + source tracking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640080" y="5715000"/>
            <a:ext cx="10607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Feasibility conclusion: build incrementally around the existing database and backend, then expand AI and integrations without replacing the core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IMPACT AND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Proposed Module Coverage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139903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Student OS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236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94360" y="199339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1828800" y="203911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1828800" y="2039112"/>
            <a:ext cx="987552" cy="201168"/>
          </a:xfrm>
          <a:prstGeom prst="rect">
            <a:avLst/>
          </a:prstGeom>
          <a:solidFill>
            <a:srgbClr val="268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94360" y="258775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1828800" y="263347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1828800" y="2633472"/>
            <a:ext cx="1481328" cy="201168"/>
          </a:xfrm>
          <a:prstGeom prst="rect">
            <a:avLst/>
          </a:prstGeom>
          <a:solidFill>
            <a:srgbClr val="E7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94360" y="318211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Cross-platform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1828800" y="322783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ectangle 17438"/>
          <p:cNvSpPr/>
          <p:nvPr/>
        </p:nvSpPr>
        <p:spPr>
          <a:xfrm>
            <a:off x="1828800" y="3227832"/>
            <a:ext cx="1234440" cy="201168"/>
          </a:xfrm>
          <a:prstGeom prst="rect">
            <a:avLst/>
          </a:prstGeom>
          <a:solidFill>
            <a:srgbClr val="6F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Career Readiness Funnel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40079" y="4297680"/>
            <a:ext cx="4572000" cy="256032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Evidence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60119" y="4599432"/>
            <a:ext cx="3931920" cy="256032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Profile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1280160" y="4901184"/>
            <a:ext cx="3291840" cy="256032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Gap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600200" y="5202936"/>
            <a:ext cx="2651760" cy="256032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920239" y="5504688"/>
            <a:ext cx="2011680" cy="256032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Opportunity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532120" y="10058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Benefits of the Solution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532120" y="1444752"/>
            <a:ext cx="123444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903720" y="142646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Mentorship, guidance and stronger student–industry connections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532120" y="2221992"/>
            <a:ext cx="123444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EDUCATIONAL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903720" y="220370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Skill-gap visibility and curriculum alignment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532120" y="2999232"/>
            <a:ext cx="123444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903720" y="298094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Better opportunity matching and reduced skill mismatch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5532120" y="3776472"/>
            <a:ext cx="123444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TECHNOLOGICAL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903720" y="375818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Arial"/>
              </a:rPr>
              <a:t>AI-assisted personalization (Gemini) and continuous feedback (SkillEngine)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5532120" y="4553712"/>
            <a:ext cx="1234440" cy="475488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ENVIRONMENTAL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903720" y="453542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More digital mentorship and remote engagement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532120" y="53492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◆ From Fragmented → Intelligent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532120" y="5669280"/>
            <a:ext cx="1874519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Assessments
in isolation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98079" y="5907024"/>
            <a:ext cx="502921" cy="0"/>
          </a:xfrm>
          <a:prstGeom prst="line">
            <a:avLst/>
          </a:prstGeom>
          <a:ln w="254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046720" y="566928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Continuous career
readiness loop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RESEARCH AND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0058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Research / Design References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389888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SIH PS 26044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1664208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Portal for Academia–Industry Collaboration for Skill Mapping, Internships and Placement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231136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Provided SIH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505456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Six-slide structure; concise points; diagrams / infographics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72384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Product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46704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Career readiness • assessment • learning • talent matching patterns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913632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Architecture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87952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REST APIs • RBAC • relational data • analytics • AI recommendation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005840"/>
            <a:ext cx="6400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Conceptual Comparison with Single-Purpose Systems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0600" y="1417320"/>
            <a:ext cx="164592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1417320"/>
            <a:ext cx="155448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Career Readiness 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Assessment
Portal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LMS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1417320"/>
            <a:ext cx="8229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Job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2057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Skill profile + gap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2057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2057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2514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Personalized roadmap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2514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9880" y="2514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2971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Daily planner + streak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7960" y="2971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3879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69880" y="2971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00600" y="34290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 skill analytics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34290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69880" y="34290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00600" y="38862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 skill requirements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38862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83879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9880" y="38862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00600" y="4343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Jobs + internships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343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79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26880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9880" y="4343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00600" y="4800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Mock interview + resume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37960" y="4800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83879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469880" y="4800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800600" y="5257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Feedback loop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37960" y="5257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83879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26880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69880" y="5257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5806440"/>
            <a:ext cx="6217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✓ Core focus   △ Partial / indirect   × Not the primary purpose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989320"/>
            <a:ext cx="10789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Comparison is conceptual and based on the functional scope defined for this proposed platform; it is not a benchmark of named commercial products.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"/>
            <a:ext cx="11338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COMPETITOR COMPARISON — WHY OUR PLATFORM IS THE BEST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713232"/>
            <a:ext cx="110642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The differentiator is a continuous, evidence-driven skill intelligence loop — not just a collection of career features.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024128"/>
            <a:ext cx="2907792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/ Capability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1024128"/>
            <a:ext cx="1481328" cy="365760"/>
          </a:xfrm>
          <a:prstGeom prst="roundRect">
            <a:avLst/>
          </a:prstGeom>
          <a:solidFill>
            <a:srgbClr val="43945C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OUR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iKlavya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Superset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0375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Unstop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1024128"/>
            <a:ext cx="178308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43560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Career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143560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Advanced &amp; Personalized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Basic Guidance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27648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Career Resources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0375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143560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Limited Insights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66878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Resume Builder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166878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AI Optimized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7648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0375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3104" y="166878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90195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Mock Interview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6432" y="190195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 &amp; AI Driven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4920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27648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5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3104" y="190195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13512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Jobs &amp; Internships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6432" y="213512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Curated + AI Matched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7648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0375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33104" y="213512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236829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Assessment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56432" y="236829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20–30 Q AI Diagnostic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4920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27648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80375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33104" y="236829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260146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Gap Detection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56432" y="260146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Evidence Based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74920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Basic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27648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0375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33104" y="260146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283464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Personalized Learning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56432" y="283464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AI Driven &amp; Adaptive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80375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33104" y="283464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Limited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306781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Continuous Skill Updating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56432" y="306781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Auto Update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74920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Manual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580375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33104" y="306781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30098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Evidence-Based Skill Profile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56432" y="330098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Projects, Tests, GitHub, Courses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74920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75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33104" y="330098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1480" y="353415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Resource → Test → Skill Update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56432" y="353415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Closed Loop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74920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27648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580375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833104" y="353415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376732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80% Skill Verification Rule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56432" y="376732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Quality Assurance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7648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80375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833104" y="376732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1480" y="400050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Easy → Medium → Hard Adaptive Tests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56432" y="400050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74920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27648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0375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833104" y="400050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11480" y="423367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Daily Timetable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56432" y="423367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Personalized Planner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74920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27648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580375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833104" y="423367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446684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Streak System for Learning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56432" y="446684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Gamified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4920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27648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580375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833104" y="446684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470001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XP / Gamified Skill Progression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456432" y="470001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XP + Levels + Rewards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27648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580375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Gamified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33104" y="470001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1480" y="493318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Dynamic Career Readiness Score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456432" y="493318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Real-time Score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74920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Partial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27648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580375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33104" y="493318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516636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Evidence Graph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56432" y="516636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Visual Skill Map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74920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7648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580375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33104" y="516636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Limited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5596128"/>
            <a:ext cx="10972800" cy="210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WHY OUR PLATFORM STANDS OUT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0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1. End-to-end: Assess → Learn → Grow → Get Hired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2. Closed loop: Resource → Test → Update → Verify → Improve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47304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3. Evidence-based profile + Skill Evidence Graph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0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4. Adaptive learning + Daily Planner + Streaks + XP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25112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5. Academia + Industry + Students in one intelligence layer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6629400"/>
            <a:ext cx="1078992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Core/strong   ● Partial/basic/limited   × Not a primary offering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