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anchor="ctr"/>
          <a:lstStyle/>
          <a:p>
            <a:pPr algn="ctr"/>
            <a:r>
              <a:rPr sz="2400" b="1">
                <a:solidFill>
                  <a:srgbClr val="123456"/>
                </a:solidFill>
                <a:latin typeface="Garamond"/>
              </a:rPr>
              <a:t>TITLE PAGE
CAREER READINESS OS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>
                <a:solidFill>
                  <a:srgbClr val="FFFFFF"/>
                </a:solidFill>
              </a:defRPr>
            </a:pPr>
            <a:r>
              <a:t>Problem Statement ID: 26044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Title: Portal for Academia–Industry Collaboration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Theme: Education &amp; Skill Development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PS Category: Software</a:t>
            </a:r>
          </a:p>
          <a:p>
            <a:pPr>
              <a:defRPr sz="2200">
                <a:solidFill>
                  <a:srgbClr val="FFFFFF"/>
                </a:solidFill>
              </a:defRPr>
            </a:pP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Team ID: YOUR TEAM ID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Team Name: YOUR REGISTERED TEAM 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9144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FFFF"/>
                </a:solidFill>
              </a:defRPr>
            </a:pPr>
            <a:r>
              <a:t>PROPOSED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• A unified platform connecting Students, Institutions, and Industry.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Converts learner evidence into verifiable skill profiles.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Provides AI-generated learning paths and dynamic skill gap analysis.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Industry directly matches with candidates based on verified skills.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Institutions get macro-level curriculum alignment analytics.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9144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FFFF"/>
                </a:solidFill>
              </a:defRPr>
            </a:pPr>
            <a:r>
              <a:t>TECHNICAL APPROACH &amp; DATA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TECHNOLOGY STACK: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Frontend: React 19, Vite (Role-based dashboards)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Backend: Django 6.1 REST API, JWT Authentication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Database: PostgreSQL (14 Normalized Apps)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AI Services: Google Gemini 1.5 Flash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END-TO-END DATA FLOW: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Student Evidence → Skill Gap Analysis → Personalized Learning → Job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9144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FFFF"/>
                </a:solidFill>
              </a:defRPr>
            </a:pPr>
            <a:r>
              <a:t>FEASIBILITY AND VIABILITY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FEASIBILITY: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Technical: Modular Django Apps ensure smooth, independent development.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Operational: Single intelligence layer shared by 3 distinct user roles.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USE CASES &amp; VIABILITY: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Student: Find gap → Learn → Prove skill → Apply for Jobs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Institution: See cohort gaps → Align curriculum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RISK MITIGATION: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Privacy is managed via strict Role-Based Access Control (RBAC).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9144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FFFF"/>
                </a:solidFill>
              </a:defRPr>
            </a:pPr>
            <a:r>
              <a:t>IMPACT AND 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• Transforms fragmented assessments into a continuous career readiness loop.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Provides students with actionable, daily AI-driven learning timetables.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Educational: Empowers colleges to align curriculum with industry demand.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Economic: Reduces skill mismatches and hiring times for companies.</a:t>
            </a:r>
          </a:p>
          <a:p>
            <a:pPr>
              <a:defRPr sz="2000">
                <a:solidFill>
                  <a:srgbClr val="FFFFFF"/>
                </a:solidFill>
              </a:defRPr>
            </a:pP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• Social: Fosters digital mentorship and equal opportunity for talent discovery.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9144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FFFF"/>
                </a:solidFill>
              </a:defRPr>
            </a:pPr>
            <a:r>
              <a:t>RESEARCH &amp; COMPETITOR COMPARISON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1645920"/>
          <a:ext cx="1127455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828800"/>
                <a:gridCol w="1828800"/>
              </a:tblGrid>
              <a:tr h="653142"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Core 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OUR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iKlavya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Superset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LinkedIn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AI Mock Interviews &amp; 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Skill Gap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 (Evidence-Based)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Limited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Evidence-Based Skill 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 (Verified Tests)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Gamified Learning (XP/Streak)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AI Daily Planner / Roadmap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Institution / Industry 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64FF64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6464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20040"/>
            <a:ext cx="11338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123456"/>
                </a:solidFill>
                <a:latin typeface="Arial"/>
              </a:rPr>
              <a:t>COMPETITOR COMPARISON — WHY OUR PLATFORM IS THE BEST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713232"/>
            <a:ext cx="1106424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2365A9"/>
                </a:solidFill>
                <a:latin typeface="Arial"/>
              </a:rPr>
              <a:t>The differentiator is a continuous, evidence-driven skill intelligence loop — not just a collection of career features.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1024128"/>
            <a:ext cx="2907792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Feature / Capability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432" y="1024128"/>
            <a:ext cx="1481328" cy="365760"/>
          </a:xfrm>
          <a:prstGeom prst="roundRect">
            <a:avLst/>
          </a:prstGeom>
          <a:solidFill>
            <a:srgbClr val="43945C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✓ OUR PLATFORM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iKlavya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Superset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0375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Unstop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1024128"/>
            <a:ext cx="178308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10" b="1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143560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AI Career Guidance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143560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Advanced &amp; Personalized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Basic Guidance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27648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Career Resources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0375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33104" y="143560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Limited Insights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166878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AI Resume Builder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166878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AI Optimized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7648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80375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3104" y="166878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190195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AI Mock Interview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56432" y="190195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Adaptive &amp; AI Driven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4920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27648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80375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33104" y="190195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13512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Jobs &amp; Internships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56432" y="213512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Curated + AI Matched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74920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27648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80375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33104" y="213512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Yes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236829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Skill Assessment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56432" y="236829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20–30 Q AI Diagnostic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74920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27648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80375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33104" y="236829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260146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Skill Gap Detection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56432" y="260146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Evidence Based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74920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Basic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27648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0375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33104" y="260146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283464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Personalized Learning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56432" y="283464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AI Driven &amp; Adaptive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74920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27648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80375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Available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33104" y="283464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Limited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306781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Continuous Skill Updating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456432" y="306781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Auto Update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74920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Manual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27648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580375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833104" y="306781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330098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Evidence-Based Skill Profile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56432" y="330098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Projects, Tests, GitHub, Courses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74920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327648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75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833104" y="330098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11480" y="353415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Resource → Test → Skill Update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56432" y="353415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Closed Loop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074920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327648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580375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833104" y="353415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376732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80% Skill Verification Rule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456432" y="376732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Quality Assurance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74920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327648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580375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833104" y="376732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1480" y="400050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0">
                <a:solidFill>
                  <a:srgbClr val="272F38"/>
                </a:solidFill>
                <a:latin typeface="Arial"/>
              </a:rPr>
              <a:t>Easy → Medium → Hard Adaptive Tests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56432" y="400050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Adaptive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74920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27648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80375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Adaptive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833104" y="400050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11480" y="423367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AI Daily Timetable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456432" y="423367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Personalized Planner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074920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327648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580375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833104" y="423367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11480" y="446684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Streak System for Learning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56432" y="446684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Gamified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074920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27648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580375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833104" y="446684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11480" y="470001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XP / Gamified Skill Progression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456432" y="470001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XP + Levels + Rewards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74920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Available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327648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580375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Gamified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833104" y="470001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Limited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11480" y="493318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Dynamic Career Readiness Score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456432" y="493318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Real-time Score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074920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Partial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27648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580375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EBB82A"/>
                </a:solidFill>
                <a:latin typeface="Arial"/>
              </a:rPr>
              <a:t>● Partial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833104" y="493318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Not Available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11480" y="516636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5" b="1">
                <a:solidFill>
                  <a:srgbClr val="272F38"/>
                </a:solidFill>
                <a:latin typeface="Arial"/>
              </a:rPr>
              <a:t>Skill Evidence Graph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56432" y="516636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43945C"/>
                </a:solidFill>
                <a:latin typeface="Arial"/>
              </a:rPr>
              <a:t>✓ Visual Skill Map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74920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27648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580375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833104" y="516636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5" b="1">
                <a:solidFill>
                  <a:srgbClr val="C24343"/>
                </a:solidFill>
                <a:latin typeface="Arial"/>
              </a:rPr>
              <a:t>× Limited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57200" y="5596128"/>
            <a:ext cx="10972800" cy="2103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123456"/>
                </a:solidFill>
                <a:latin typeface="Arial"/>
              </a:rPr>
              <a:t>WHY OUR PLATFORM STANDS OUT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0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1. End-to-end: Assess → Learn → Grow → Get Hired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2. Closed loop: Resource → Test → Update → Verify → Improve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47304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3. Evidence-based profile + Skill Evidence Graph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02920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4. Adaptive learning + Daily Planner + Streaks + XP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25112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10" b="1">
                <a:solidFill>
                  <a:srgbClr val="272F38"/>
                </a:solidFill>
                <a:latin typeface="Arial"/>
              </a:rPr>
              <a:t>5. Academia + Industry + Students in one intelligence layer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8640" y="6629400"/>
            <a:ext cx="1078992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80" b="0">
                <a:solidFill>
                  <a:srgbClr val="606972"/>
                </a:solidFill>
                <a:latin typeface="Arial"/>
              </a:rPr>
              <a:t>✓ Core/strong   ● Partial/basic/limited   × Not a primary offering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