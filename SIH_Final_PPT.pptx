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14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 anchor="ctr"/>
          <a:lstStyle/>
          <a:p>
            <a:pPr algn="ctr"/>
            <a:r>
              <a:rPr sz="2400" b="1">
                <a:solidFill>
                  <a:srgbClr val="000000"/>
                </a:solidFill>
                <a:latin typeface="Garamond"/>
              </a:rPr>
              <a:t>TITLE PAGE
CAREER READINESS OS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rgbClr val="000000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rgbClr val="000000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Problem Statement ID – </a:t>
            </a:r>
            <a:r>
              <a:rPr sz="1250" b="1">
                <a:solidFill>
                  <a:srgbClr val="000000"/>
                </a:solidFill>
                <a:latin typeface="Arial"/>
              </a:rPr>
              <a:t>26044</a:t>
            </a:r>
            <a:endParaRPr lang="en-US" dirty="0"/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Problem Statement Title – </a:t>
            </a:r>
            <a:r>
              <a:rPr sz="1250" b="1">
                <a:solidFill>
                  <a:srgbClr val="000000"/>
                </a:solidFill>
                <a:latin typeface="Arial"/>
              </a:rPr>
              <a:t>Portal for Academia–Industry Collaboration for Skill Mapping, Internships and Placement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Theme – </a:t>
            </a:r>
            <a:r>
              <a:rPr sz="1250" b="1">
                <a:solidFill>
                  <a:srgbClr val="000000"/>
                </a:solidFill>
                <a:latin typeface="Arial"/>
              </a:rPr>
              <a:t>Education &amp; Skill Development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PS Category – </a:t>
            </a:r>
            <a:r>
              <a:rPr sz="125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Team ID – </a:t>
            </a:r>
            <a:r>
              <a:rPr sz="1250" b="1">
                <a:solidFill>
                  <a:srgbClr val="000000"/>
                </a:solidFill>
                <a:latin typeface="Arial"/>
              </a:rPr>
              <a:t>YOUR TEAM ID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Arial"/>
              </a:rPr>
              <a:t>Team Name – </a:t>
            </a:r>
            <a:r>
              <a:rPr sz="1250" b="1">
                <a:solidFill>
                  <a:srgbClr val="000000"/>
                </a:solidFill>
                <a:latin typeface="Arial"/>
              </a:rPr>
              <a:t>YOUR REGISTERED TEAM NAME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446520" y="5349240"/>
            <a:ext cx="3840480" cy="566928"/>
          </a:xfrm>
          <a:prstGeom prst="roundRect">
            <a:avLst/>
          </a:prstGeom>
          <a:solidFill>
            <a:srgbClr val="1F66AA"/>
          </a:solidFill>
          <a:ln w="13970">
            <a:solidFill>
              <a:srgbClr val="1F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STUDENT ↔ INSTITUTION ↔ INDUSTRY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5285232"/>
            <a:ext cx="3977639" cy="594360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STUDENT  ↔  INSTITUTION  ↔  INDUSTRY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5943600"/>
            <a:ext cx="3931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50" b="1">
                <a:solidFill>
                  <a:srgbClr val="000000"/>
                </a:solidFill>
                <a:latin typeface="Arial"/>
              </a:rPr>
              <a:t>AI-powered Skill Intelligence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b="1">
                <a:solidFill>
                  <a:srgbClr val="000000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000000"/>
                </a:solidFill>
                <a:latin typeface="Arial"/>
              </a:rPr>
              <a:t>CAREER READINESS 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987552"/>
            <a:ext cx="44805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◆ Proposed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353312"/>
            <a:ext cx="4297680" cy="10972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A unified intelligence platform that converts learner evidence into skill profiles, identifies gaps, drives personalized action, and connects verified readiness with institutions and industry.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57400" y="251460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ASSESSMENT +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57400" y="333756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69" b="1">
                <a:solidFill>
                  <a:srgbClr val="000000"/>
                </a:solidFill>
                <a:latin typeface="Arial"/>
              </a:rPr>
              <a:t>SKILL PROFILE + SKILL GRAPH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57400" y="416052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69" b="1">
                <a:solidFill>
                  <a:srgbClr val="000000"/>
                </a:solidFill>
                <a:latin typeface="Arial"/>
              </a:rPr>
              <a:t>SKILL GAP + READINESS SCORE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7400" y="4983480"/>
            <a:ext cx="283464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69" b="1">
                <a:solidFill>
                  <a:srgbClr val="000000"/>
                </a:solidFill>
                <a:latin typeface="Arial"/>
              </a:rPr>
              <a:t>ACTION + FEEDBACK LOOP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474720" y="3108960"/>
            <a:ext cx="0" cy="201168"/>
          </a:xfrm>
          <a:prstGeom prst="line">
            <a:avLst/>
          </a:prstGeom>
          <a:ln w="1905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474720" y="3931920"/>
            <a:ext cx="0" cy="201167"/>
          </a:xfrm>
          <a:prstGeom prst="line">
            <a:avLst/>
          </a:prstGeom>
          <a:ln w="1905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474720" y="4754880"/>
            <a:ext cx="0" cy="201168"/>
          </a:xfrm>
          <a:prstGeom prst="line">
            <a:avLst/>
          </a:prstGeom>
          <a:ln w="1905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5349240" y="422452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Arial"/>
              </a:rPr>
              <a:t>EVIDENCE → GAP → ACTION → OPPORTUNITY → INDUSTRY FEEDBACK → PROFILE UPDATE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49240" y="5138928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◆ Intelligence Outputs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94960" y="5486400"/>
            <a:ext cx="10515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Student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92240" y="5486400"/>
            <a:ext cx="42062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Readiness + roadmap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94960" y="5760720"/>
            <a:ext cx="10515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Institution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0" y="5760720"/>
            <a:ext cx="42062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Skill heatmap + curriculum alignment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6035040"/>
            <a:ext cx="10515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Industry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6035040"/>
            <a:ext cx="42062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Demand + candidate matching</a:t>
            </a:r>
          </a:p>
        </p:txBody>
      </p:sp>
      <p:sp>
        <p:nvSpPr>
          <p:cNvPr id="66" name="Oval 65"/>
          <p:cNvSpPr/>
          <p:nvPr/>
        </p:nvSpPr>
        <p:spPr>
          <a:xfrm>
            <a:off x="594360" y="2743200"/>
            <a:ext cx="1207008" cy="1207008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STUDENT</a:t>
            </a:r>
          </a:p>
        </p:txBody>
      </p:sp>
      <p:sp>
        <p:nvSpPr>
          <p:cNvPr id="67" name="Oval 66"/>
          <p:cNvSpPr/>
          <p:nvPr/>
        </p:nvSpPr>
        <p:spPr>
          <a:xfrm>
            <a:off x="594360" y="4160520"/>
            <a:ext cx="1207008" cy="1207008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INSTITUTION</a:t>
            </a:r>
          </a:p>
        </p:txBody>
      </p:sp>
      <p:sp>
        <p:nvSpPr>
          <p:cNvPr id="68" name="Oval 67"/>
          <p:cNvSpPr/>
          <p:nvPr/>
        </p:nvSpPr>
        <p:spPr>
          <a:xfrm>
            <a:off x="594360" y="5486400"/>
            <a:ext cx="1207008" cy="1207008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INDUSTRY</a:t>
            </a:r>
          </a:p>
        </p:txBody>
      </p:sp>
      <p:cxnSp>
        <p:nvCxnSpPr>
          <p:cNvPr id="69" name="Connector 68"/>
          <p:cNvCxnSpPr/>
          <p:nvPr/>
        </p:nvCxnSpPr>
        <p:spPr>
          <a:xfrm flipV="1">
            <a:off x="1801368" y="3108960"/>
            <a:ext cx="256032" cy="237744"/>
          </a:xfrm>
          <a:prstGeom prst="line">
            <a:avLst/>
          </a:prstGeom>
          <a:ln w="1524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801368" y="4160520"/>
            <a:ext cx="256032" cy="603504"/>
          </a:xfrm>
          <a:prstGeom prst="line">
            <a:avLst/>
          </a:prstGeom>
          <a:ln w="1524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801368" y="5166360"/>
            <a:ext cx="256032" cy="923544"/>
          </a:xfrm>
          <a:prstGeom prst="line">
            <a:avLst/>
          </a:prstGeom>
          <a:ln w="1524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5349240" y="1188720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◆ End-to-End Student Journey</a:t>
            </a:r>
          </a:p>
        </p:txBody>
      </p:sp>
      <p:sp>
        <p:nvSpPr>
          <p:cNvPr id="73" name="Oval 72"/>
          <p:cNvSpPr/>
          <p:nvPr/>
        </p:nvSpPr>
        <p:spPr>
          <a:xfrm>
            <a:off x="5349240" y="1627632"/>
            <a:ext cx="347472" cy="347472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742431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Onboard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696712" y="1801368"/>
            <a:ext cx="749808" cy="0"/>
          </a:xfrm>
          <a:prstGeom prst="line">
            <a:avLst/>
          </a:prstGeom>
          <a:ln w="127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6519672" y="1627632"/>
            <a:ext cx="347472" cy="347472"/>
          </a:xfrm>
          <a:prstGeom prst="ellipse">
            <a:avLst/>
          </a:prstGeom>
          <a:solidFill>
            <a:srgbClr val="2C9CB6"/>
          </a:solidFill>
          <a:ln>
            <a:solidFill>
              <a:srgbClr val="2C9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12864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AI Assessment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867144" y="1801368"/>
            <a:ext cx="749808" cy="0"/>
          </a:xfrm>
          <a:prstGeom prst="line">
            <a:avLst/>
          </a:prstGeom>
          <a:ln w="12700">
            <a:solidFill>
              <a:srgbClr val="2C9C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7690104" y="1627632"/>
            <a:ext cx="347472" cy="347472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83296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Skill Profile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8037576" y="1801368"/>
            <a:ext cx="749808" cy="0"/>
          </a:xfrm>
          <a:prstGeom prst="line">
            <a:avLst/>
          </a:prstGeom>
          <a:ln w="1270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8860536" y="1627632"/>
            <a:ext cx="347472" cy="347472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53728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Skill Gap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9208008" y="1801368"/>
            <a:ext cx="749807" cy="0"/>
          </a:xfrm>
          <a:prstGeom prst="line">
            <a:avLst/>
          </a:prstGeom>
          <a:ln w="1270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10030967" y="1627632"/>
            <a:ext cx="347472" cy="347472"/>
          </a:xfrm>
          <a:prstGeom prst="ellipse">
            <a:avLst/>
          </a:prstGeom>
          <a:solidFill>
            <a:srgbClr val="43945C"/>
          </a:solidFill>
          <a:ln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424159" y="1618488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Learn + Test</a:t>
            </a:r>
          </a:p>
        </p:txBody>
      </p:sp>
      <p:sp>
        <p:nvSpPr>
          <p:cNvPr id="87" name="Oval 86"/>
          <p:cNvSpPr/>
          <p:nvPr/>
        </p:nvSpPr>
        <p:spPr>
          <a:xfrm>
            <a:off x="5349240" y="2743200"/>
            <a:ext cx="347472" cy="347472"/>
          </a:xfrm>
          <a:prstGeom prst="ellipse">
            <a:avLst/>
          </a:prstGeom>
          <a:solidFill>
            <a:srgbClr val="6F529B"/>
          </a:solidFill>
          <a:ln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742431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Daily Planner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696712" y="2916936"/>
            <a:ext cx="749808" cy="0"/>
          </a:xfrm>
          <a:prstGeom prst="line">
            <a:avLst/>
          </a:prstGeom>
          <a:ln w="12700">
            <a:solidFill>
              <a:srgbClr val="6F52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519672" y="2743200"/>
            <a:ext cx="347472" cy="347472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12864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Roadmap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867144" y="2916936"/>
            <a:ext cx="749808" cy="0"/>
          </a:xfrm>
          <a:prstGeom prst="line">
            <a:avLst/>
          </a:prstGeom>
          <a:ln w="127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7690104" y="2743200"/>
            <a:ext cx="347472" cy="347472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83296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Jobs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8037576" y="2916936"/>
            <a:ext cx="749808" cy="0"/>
          </a:xfrm>
          <a:prstGeom prst="line">
            <a:avLst/>
          </a:prstGeom>
          <a:ln w="1270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8860536" y="2743200"/>
            <a:ext cx="347472" cy="347472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3728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Resume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9208008" y="2916936"/>
            <a:ext cx="749807" cy="0"/>
          </a:xfrm>
          <a:prstGeom prst="line">
            <a:avLst/>
          </a:prstGeom>
          <a:ln w="1270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10424159" y="2734056"/>
            <a:ext cx="713232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Mock Interview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0204703" y="1993392"/>
            <a:ext cx="0" cy="585216"/>
          </a:xfrm>
          <a:prstGeom prst="line">
            <a:avLst/>
          </a:prstGeom>
          <a:ln w="127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10012679" y="2715768"/>
            <a:ext cx="420624" cy="420624"/>
          </a:xfrm>
          <a:prstGeom prst="ellipse">
            <a:avLst/>
          </a:prstGeom>
          <a:solidFill>
            <a:srgbClr val="C24343"/>
          </a:solidFill>
          <a:ln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b="1">
                <a:solidFill>
                  <a:srgbClr val="000000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000000"/>
                </a:solidFill>
                <a:latin typeface="Arial"/>
              </a:rPr>
              <a:t>TECHNICAL APPROACH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987552"/>
            <a:ext cx="47548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◆ Technology / Architecture Stack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1417320"/>
            <a:ext cx="1508760" cy="457200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FRONTEND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1417320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Existing frontend • role-based dashboards • responsive 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075688"/>
            <a:ext cx="1508760" cy="457200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BACKEND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075688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Existing backend • REST API • authentication • RBAC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734056"/>
            <a:ext cx="1508760" cy="457200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AI SERVICES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31720" y="2734056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Assessment scoring • skill-gap engine • recommendations • matching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392424"/>
            <a:ext cx="1508760" cy="457200"/>
          </a:xfrm>
          <a:prstGeom prst="roundRect">
            <a:avLst/>
          </a:prstGeom>
          <a:solidFill>
            <a:srgbClr val="43945C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DATABASE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31720" y="3392424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Existing database architecture • indexed entities • transactional integrity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50791"/>
            <a:ext cx="1508760" cy="457200"/>
          </a:xfrm>
          <a:prstGeom prst="roundRect">
            <a:avLst/>
          </a:prstGeom>
          <a:solidFill>
            <a:srgbClr val="2C9CB6"/>
          </a:solidFill>
          <a:ln w="12700">
            <a:solidFill>
              <a:srgbClr val="2C9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INTEGRATIONS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31720" y="4050791"/>
            <a:ext cx="3154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Jobs • internships • learning resources • notifications •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987552"/>
            <a:ext cx="5212080" cy="2926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◆ System Architecture / Data Flow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97880" y="1417320"/>
            <a:ext cx="123444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CLIENTS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79" y="1417320"/>
            <a:ext cx="132588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API GATEWAY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1417320"/>
            <a:ext cx="141732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SERVICES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32320" y="1682496"/>
            <a:ext cx="365759" cy="0"/>
          </a:xfrm>
          <a:prstGeom prst="line">
            <a:avLst/>
          </a:prstGeom>
          <a:ln w="2286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823960" y="1682496"/>
            <a:ext cx="411480" cy="0"/>
          </a:xfrm>
          <a:prstGeom prst="line">
            <a:avLst/>
          </a:prstGeom>
          <a:ln w="2286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903720" y="2331720"/>
            <a:ext cx="18288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Arial"/>
              </a:rPr>
              <a:t>AI INTELLIGENCE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23317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Arial"/>
              </a:rPr>
              <a:t>DATABASE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921240" y="1947672"/>
            <a:ext cx="0" cy="384048"/>
          </a:xfrm>
          <a:prstGeom prst="line">
            <a:avLst/>
          </a:prstGeom>
          <a:ln w="2286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823960" y="2615184"/>
            <a:ext cx="411480" cy="0"/>
          </a:xfrm>
          <a:prstGeom prst="line">
            <a:avLst/>
          </a:prstGeom>
          <a:ln w="22860">
            <a:solidFill>
              <a:srgbClr val="4394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897880" y="3337560"/>
            <a:ext cx="201168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AUTH + RBAC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3337560"/>
            <a:ext cx="2423160" cy="530352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AUDIT + ANALYTICS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6903720" y="1947672"/>
            <a:ext cx="274320" cy="384048"/>
          </a:xfrm>
          <a:prstGeom prst="line">
            <a:avLst/>
          </a:prstGeom>
          <a:ln w="2286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903720" y="2898648"/>
            <a:ext cx="914400" cy="438912"/>
          </a:xfrm>
          <a:prstGeom prst="line">
            <a:avLst/>
          </a:prstGeom>
          <a:ln w="2286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732520" y="2898648"/>
            <a:ext cx="594360" cy="438912"/>
          </a:xfrm>
          <a:prstGeom prst="line">
            <a:avLst/>
          </a:prstGeom>
          <a:ln w="22860">
            <a:solidFill>
              <a:srgbClr val="6F52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40080" y="4892040"/>
            <a:ext cx="10698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◆ Implementation Flow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Capture
Evidence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57400" y="5586984"/>
            <a:ext cx="365760" cy="0"/>
          </a:xfrm>
          <a:prstGeom prst="line">
            <a:avLst/>
          </a:prstGeom>
          <a:ln w="1651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24688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Normalize
Skills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886200" y="5586984"/>
            <a:ext cx="365760" cy="0"/>
          </a:xfrm>
          <a:prstGeom prst="line">
            <a:avLst/>
          </a:prstGeom>
          <a:ln w="1651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2976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Analyze
Gaps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715000" y="5586984"/>
            <a:ext cx="365760" cy="0"/>
          </a:xfrm>
          <a:prstGeom prst="line">
            <a:avLst/>
          </a:prstGeom>
          <a:ln w="1651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1264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Recommend
Actions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543800" y="5586984"/>
            <a:ext cx="365760" cy="0"/>
          </a:xfrm>
          <a:prstGeom prst="line">
            <a:avLst/>
          </a:prstGeom>
          <a:ln w="16510">
            <a:solidFill>
              <a:srgbClr val="4394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7955279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9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Match
Opportunities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372600" y="5586984"/>
            <a:ext cx="365759" cy="0"/>
          </a:xfrm>
          <a:prstGeom prst="line">
            <a:avLst/>
          </a:prstGeom>
          <a:ln w="16510">
            <a:solidFill>
              <a:srgbClr val="2C9C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784080" y="5303520"/>
            <a:ext cx="14173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Learn from
Feedback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989320"/>
            <a:ext cx="106984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69" b="1">
                <a:solidFill>
                  <a:srgbClr val="000000"/>
                </a:solidFill>
                <a:latin typeface="Arial"/>
              </a:rPr>
              <a:t>Security-by-design: authentication • role isolation • least privilege • validation • rate limiting • auditability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000000"/>
                </a:solidFill>
                <a:latin typeface="Arial"/>
              </a:rPr>
              <a:t>FEASIBILITY AND VIABILITY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502920" y="1005840"/>
            <a:ext cx="52120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◆ Feasibility</a:t>
            </a:r>
          </a:p>
        </p:txBody>
      </p:sp>
      <p:sp>
        <p:nvSpPr>
          <p:cNvPr id="17433" name="Oval 17432"/>
          <p:cNvSpPr/>
          <p:nvPr/>
        </p:nvSpPr>
        <p:spPr>
          <a:xfrm>
            <a:off x="594360" y="1417320"/>
            <a:ext cx="347472" cy="347472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1024128" y="1399032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Arial"/>
              </a:rPr>
              <a:t>Technical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1920240" y="1371600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Uses existing DB/backend foundation; modular APIs and AI services.</a:t>
            </a:r>
          </a:p>
        </p:txBody>
      </p:sp>
      <p:sp>
        <p:nvSpPr>
          <p:cNvPr id="17436" name="Oval 17435"/>
          <p:cNvSpPr/>
          <p:nvPr/>
        </p:nvSpPr>
        <p:spPr>
          <a:xfrm>
            <a:off x="594360" y="2167128"/>
            <a:ext cx="347472" cy="347472"/>
          </a:xfrm>
          <a:prstGeom prst="ellipse">
            <a:avLst/>
          </a:prstGeom>
          <a:solidFill>
            <a:srgbClr val="26847C"/>
          </a:solidFill>
          <a:ln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1024128" y="2148840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Arial"/>
              </a:rPr>
              <a:t>Operational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1920240" y="2121408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Three role-based workflows share one skill intelligence layer.</a:t>
            </a:r>
          </a:p>
        </p:txBody>
      </p:sp>
      <p:sp>
        <p:nvSpPr>
          <p:cNvPr id="17439" name="Oval 17438"/>
          <p:cNvSpPr/>
          <p:nvPr/>
        </p:nvSpPr>
        <p:spPr>
          <a:xfrm>
            <a:off x="594360" y="2916936"/>
            <a:ext cx="347472" cy="347472"/>
          </a:xfrm>
          <a:prstGeom prst="ellipse">
            <a:avLst/>
          </a:prstGeom>
          <a:solidFill>
            <a:srgbClr val="43945C"/>
          </a:solidFill>
          <a:ln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24128" y="2898648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Arial"/>
              </a:rPr>
              <a:t>Scalable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1920240" y="2871216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Modules can be added independently as adoption grows.</a:t>
            </a:r>
          </a:p>
        </p:txBody>
      </p:sp>
      <p:sp>
        <p:nvSpPr>
          <p:cNvPr id="17442" name="Oval 17441"/>
          <p:cNvSpPr/>
          <p:nvPr/>
        </p:nvSpPr>
        <p:spPr>
          <a:xfrm>
            <a:off x="594360" y="3666744"/>
            <a:ext cx="347472" cy="347472"/>
          </a:xfrm>
          <a:prstGeom prst="ellipse">
            <a:avLst/>
          </a:prstGeom>
          <a:solidFill>
            <a:srgbClr val="E77E22"/>
          </a:solidFill>
          <a:ln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1024128" y="3648456"/>
            <a:ext cx="9601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Arial"/>
              </a:rPr>
              <a:t>Economic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1920240" y="3621024"/>
            <a:ext cx="347472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Cloud-ready architecture supports incremental deployment.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5486400" y="1005840"/>
            <a:ext cx="25603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◆ Use Cases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5486400" y="1417320"/>
            <a:ext cx="1143000" cy="475488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Student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720840" y="1399032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Find gap → learn → prove skill → apply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5486400" y="2167128"/>
            <a:ext cx="1143000" cy="475488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Institution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720840" y="2148840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See cohort gaps → align curriculum → track readiness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5486400" y="2916936"/>
            <a:ext cx="1143000" cy="475488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Industry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720840" y="2898648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Publish skill needs → discover talent → give feedback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5486400" y="3666744"/>
            <a:ext cx="1143000" cy="475488"/>
          </a:xfrm>
          <a:prstGeom prst="roundRect">
            <a:avLst/>
          </a:prstGeom>
          <a:solidFill>
            <a:srgbClr val="6F529B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Admin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6720840" y="3648456"/>
            <a:ext cx="1874519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Monitor adoption → quality → ecosystem health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8915400" y="1005840"/>
            <a:ext cx="237744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◆ Viability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8915400" y="1417320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Institution SaaS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9052560" y="1929384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analytics + curriculum intelligence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8915400" y="2167128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Industry access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9052560" y="2679192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talent / projects / mentorship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8915400" y="2916936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Premium career tools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9052560" y="3429000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advanced readiness + mock interview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8915400" y="3666744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Ecosystem value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9052560" y="4178808"/>
            <a:ext cx="2057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shared skill language + feedback loop</a:t>
            </a:r>
          </a:p>
        </p:txBody>
      </p:sp>
      <p:sp>
        <p:nvSpPr>
          <p:cNvPr id="17463" name="TextBox 17462"/>
          <p:cNvSpPr txBox="1"/>
          <p:nvPr/>
        </p:nvSpPr>
        <p:spPr>
          <a:xfrm>
            <a:off x="548640" y="4572000"/>
            <a:ext cx="10698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◆ Key Challenges → Mitigation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594360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Privacy</a:t>
            </a:r>
          </a:p>
        </p:txBody>
      </p:sp>
      <p:cxnSp>
        <p:nvCxnSpPr>
          <p:cNvPr id="17465" name="Connector 17464"/>
          <p:cNvCxnSpPr/>
          <p:nvPr/>
        </p:nvCxnSpPr>
        <p:spPr>
          <a:xfrm>
            <a:off x="1645919" y="5193792"/>
            <a:ext cx="274321" cy="0"/>
          </a:xfrm>
          <a:prstGeom prst="line">
            <a:avLst/>
          </a:prstGeom>
          <a:ln w="15240">
            <a:solidFill>
              <a:srgbClr val="C243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6" name="Rounded Rectangle 17465"/>
          <p:cNvSpPr/>
          <p:nvPr/>
        </p:nvSpPr>
        <p:spPr>
          <a:xfrm>
            <a:off x="194767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RBAC + least privilege + audit trail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3383279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AI quality</a:t>
            </a:r>
          </a:p>
        </p:txBody>
      </p:sp>
      <p:cxnSp>
        <p:nvCxnSpPr>
          <p:cNvPr id="17468" name="Connector 17467"/>
          <p:cNvCxnSpPr/>
          <p:nvPr/>
        </p:nvCxnSpPr>
        <p:spPr>
          <a:xfrm>
            <a:off x="4434840" y="5193792"/>
            <a:ext cx="274319" cy="0"/>
          </a:xfrm>
          <a:prstGeom prst="line">
            <a:avLst/>
          </a:prstGeom>
          <a:ln w="15240">
            <a:solidFill>
              <a:srgbClr val="E7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9" name="Rounded Rectangle 17468"/>
          <p:cNvSpPr/>
          <p:nvPr/>
        </p:nvSpPr>
        <p:spPr>
          <a:xfrm>
            <a:off x="473659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Evidence-based scoring + human review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6172200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Skill drift</a:t>
            </a:r>
          </a:p>
        </p:txBody>
      </p:sp>
      <p:cxnSp>
        <p:nvCxnSpPr>
          <p:cNvPr id="17471" name="Connector 17470"/>
          <p:cNvCxnSpPr/>
          <p:nvPr/>
        </p:nvCxnSpPr>
        <p:spPr>
          <a:xfrm>
            <a:off x="7223760" y="5193792"/>
            <a:ext cx="274319" cy="0"/>
          </a:xfrm>
          <a:prstGeom prst="line">
            <a:avLst/>
          </a:prstGeom>
          <a:ln w="15240">
            <a:solidFill>
              <a:srgbClr val="268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2" name="Rounded Rectangle 17471"/>
          <p:cNvSpPr/>
          <p:nvPr/>
        </p:nvSpPr>
        <p:spPr>
          <a:xfrm>
            <a:off x="752551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Versioned skill taxonomy + industry feedback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8961119" y="4956048"/>
            <a:ext cx="10515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Stale opportunities</a:t>
            </a:r>
          </a:p>
        </p:txBody>
      </p:sp>
      <p:cxnSp>
        <p:nvCxnSpPr>
          <p:cNvPr id="17474" name="Connector 17473"/>
          <p:cNvCxnSpPr/>
          <p:nvPr/>
        </p:nvCxnSpPr>
        <p:spPr>
          <a:xfrm>
            <a:off x="10012680" y="5193792"/>
            <a:ext cx="274319" cy="0"/>
          </a:xfrm>
          <a:prstGeom prst="line">
            <a:avLst/>
          </a:prstGeom>
          <a:ln w="15240">
            <a:solidFill>
              <a:srgbClr val="4394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5" name="Rounded Rectangle 17474"/>
          <p:cNvSpPr/>
          <p:nvPr/>
        </p:nvSpPr>
        <p:spPr>
          <a:xfrm>
            <a:off x="10314432" y="4956048"/>
            <a:ext cx="1325880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Expiry + timestamps + source tracking</a:t>
            </a:r>
          </a:p>
        </p:txBody>
      </p:sp>
      <p:sp>
        <p:nvSpPr>
          <p:cNvPr id="17476" name="TextBox 17475"/>
          <p:cNvSpPr txBox="1"/>
          <p:nvPr/>
        </p:nvSpPr>
        <p:spPr>
          <a:xfrm>
            <a:off x="640080" y="5715000"/>
            <a:ext cx="1060704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Feasibility conclusion: build incrementally around the existing database and backend, then expand AI and integrations without replacing the core architecture.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000000"/>
                </a:solidFill>
                <a:latin typeface="Arial"/>
              </a:rPr>
              <a:t>IMPACT AND BENEFITS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502920" y="1005840"/>
            <a:ext cx="50292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◆ Proposed Module Coverage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94360" y="139903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Student OS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1828800" y="144475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ectangle 17426"/>
          <p:cNvSpPr/>
          <p:nvPr/>
        </p:nvSpPr>
        <p:spPr>
          <a:xfrm>
            <a:off x="1828800" y="1444752"/>
            <a:ext cx="2468880" cy="201168"/>
          </a:xfrm>
          <a:prstGeom prst="rect">
            <a:avLst/>
          </a:prstGeom>
          <a:solidFill>
            <a:srgbClr val="236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594360" y="199339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Institution</a:t>
            </a:r>
          </a:p>
        </p:txBody>
      </p:sp>
      <p:sp>
        <p:nvSpPr>
          <p:cNvPr id="17430" name="Rectangle 17429"/>
          <p:cNvSpPr/>
          <p:nvPr/>
        </p:nvSpPr>
        <p:spPr>
          <a:xfrm>
            <a:off x="1828800" y="203911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ectangle 17430"/>
          <p:cNvSpPr/>
          <p:nvPr/>
        </p:nvSpPr>
        <p:spPr>
          <a:xfrm>
            <a:off x="1828800" y="2039112"/>
            <a:ext cx="987552" cy="201168"/>
          </a:xfrm>
          <a:prstGeom prst="rect">
            <a:avLst/>
          </a:prstGeom>
          <a:solidFill>
            <a:srgbClr val="268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594360" y="258775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Industry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1828800" y="263347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ectangle 17434"/>
          <p:cNvSpPr/>
          <p:nvPr/>
        </p:nvSpPr>
        <p:spPr>
          <a:xfrm>
            <a:off x="1828800" y="2633472"/>
            <a:ext cx="1481328" cy="201168"/>
          </a:xfrm>
          <a:prstGeom prst="rect">
            <a:avLst/>
          </a:prstGeom>
          <a:solidFill>
            <a:srgbClr val="E7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594360" y="3182112"/>
            <a:ext cx="12344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Cross-platform</a:t>
            </a:r>
          </a:p>
        </p:txBody>
      </p:sp>
      <p:sp>
        <p:nvSpPr>
          <p:cNvPr id="17438" name="Rectangle 17437"/>
          <p:cNvSpPr/>
          <p:nvPr/>
        </p:nvSpPr>
        <p:spPr>
          <a:xfrm>
            <a:off x="1828800" y="3227832"/>
            <a:ext cx="2468880" cy="201168"/>
          </a:xfrm>
          <a:prstGeom prst="rect">
            <a:avLst/>
          </a:prstGeom>
          <a:solidFill>
            <a:srgbClr val="D5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Rectangle 17438"/>
          <p:cNvSpPr/>
          <p:nvPr/>
        </p:nvSpPr>
        <p:spPr>
          <a:xfrm>
            <a:off x="1828800" y="3227832"/>
            <a:ext cx="1234440" cy="201168"/>
          </a:xfrm>
          <a:prstGeom prst="rect">
            <a:avLst/>
          </a:prstGeom>
          <a:solidFill>
            <a:srgbClr val="6F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502920" y="3886200"/>
            <a:ext cx="50292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◆ Career Readiness Funnel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640079" y="4297680"/>
            <a:ext cx="4572000" cy="256032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Evidence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960119" y="4599432"/>
            <a:ext cx="3931920" cy="256032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Profile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1280160" y="4901184"/>
            <a:ext cx="3291840" cy="256032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Gap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1600200" y="5202936"/>
            <a:ext cx="2651760" cy="256032"/>
          </a:xfrm>
          <a:prstGeom prst="roundRect">
            <a:avLst/>
          </a:prstGeom>
          <a:solidFill>
            <a:srgbClr val="43945C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Action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1920239" y="5504688"/>
            <a:ext cx="2011680" cy="256032"/>
          </a:xfrm>
          <a:prstGeom prst="roundRect">
            <a:avLst/>
          </a:prstGeom>
          <a:solidFill>
            <a:srgbClr val="6F529B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Opportunity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5532120" y="1005840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◆ Benefits of the Solution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5532120" y="1444752"/>
            <a:ext cx="1234440" cy="475488"/>
          </a:xfrm>
          <a:prstGeom prst="roundRect">
            <a:avLst/>
          </a:prstGeom>
          <a:solidFill>
            <a:srgbClr val="2365A9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SOCIAL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903720" y="142646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Mentorship, guidance and stronger student–industry connections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5532120" y="2221992"/>
            <a:ext cx="1234440" cy="475488"/>
          </a:xfrm>
          <a:prstGeom prst="roundRect">
            <a:avLst/>
          </a:prstGeom>
          <a:solidFill>
            <a:srgbClr val="26847C"/>
          </a:solidFill>
          <a:ln w="12700">
            <a:solidFill>
              <a:srgbClr val="2684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EDUCATIONAL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903720" y="220370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Skill-gap visibility and curriculum alignment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5532120" y="2999232"/>
            <a:ext cx="1234440" cy="475488"/>
          </a:xfrm>
          <a:prstGeom prst="roundRect">
            <a:avLst/>
          </a:prstGeom>
          <a:solidFill>
            <a:srgbClr val="E77E22"/>
          </a:solidFill>
          <a:ln w="12700">
            <a:solidFill>
              <a:srgbClr val="E7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ECONOMIC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6903720" y="298094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Better opportunity matching and reduced skill mismatch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5532120" y="3776472"/>
            <a:ext cx="1234440" cy="475488"/>
          </a:xfrm>
          <a:prstGeom prst="roundRect">
            <a:avLst/>
          </a:prstGeom>
          <a:solidFill>
            <a:srgbClr val="6F529B"/>
          </a:solidFill>
          <a:ln w="12700">
            <a:solidFill>
              <a:srgbClr val="6F52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TECHNOLOGICAL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6903720" y="375818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r>
              <a:rPr b="1">
                <a:solidFill>
                  <a:srgbClr val="000000"/>
                </a:solidFill>
              </a:rPr>
              <a:t>AI-assisted personalization (Gemini) and continuous feedback (SkillEngine)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5532120" y="4553712"/>
            <a:ext cx="1234440" cy="475488"/>
          </a:xfrm>
          <a:prstGeom prst="roundRect">
            <a:avLst/>
          </a:prstGeom>
          <a:solidFill>
            <a:srgbClr val="43945C"/>
          </a:solidFill>
          <a:ln w="12700">
            <a:solidFill>
              <a:srgbClr val="439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ENVIRONMENTAL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6903720" y="4535424"/>
            <a:ext cx="3840480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More digital mentorship and remote engagement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5532120" y="5349240"/>
            <a:ext cx="54864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◆ From Fragmented → Intelligent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5532120" y="5669280"/>
            <a:ext cx="1874519" cy="475488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C2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Assessments
in isolation</a:t>
            </a:r>
          </a:p>
        </p:txBody>
      </p:sp>
      <p:cxnSp>
        <p:nvCxnSpPr>
          <p:cNvPr id="17460" name="Connector 17459"/>
          <p:cNvCxnSpPr/>
          <p:nvPr/>
        </p:nvCxnSpPr>
        <p:spPr>
          <a:xfrm>
            <a:off x="7498079" y="5907024"/>
            <a:ext cx="502921" cy="0"/>
          </a:xfrm>
          <a:prstGeom prst="line">
            <a:avLst/>
          </a:prstGeom>
          <a:ln w="25400">
            <a:solidFill>
              <a:srgbClr val="2365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1" name="Rounded Rectangle 17460"/>
          <p:cNvSpPr/>
          <p:nvPr/>
        </p:nvSpPr>
        <p:spPr>
          <a:xfrm>
            <a:off x="8046720" y="5669280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Continuous career
readiness loop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502920"/>
            <a:ext cx="112471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300" b="1">
                <a:solidFill>
                  <a:srgbClr val="000000"/>
                </a:solidFill>
                <a:latin typeface="Arial"/>
              </a:rPr>
              <a:t>RESEARCH AND REFERENCES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005840"/>
            <a:ext cx="38404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◆ Research / Design References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1417320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389888"/>
            <a:ext cx="15087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SIH PS 26044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1664208"/>
            <a:ext cx="324612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Portal for Academia–Industry Collaboration for Skill Mapping, Internships and Placement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2258568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231136"/>
            <a:ext cx="15087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Provided SIH template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505456"/>
            <a:ext cx="324612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Six-slide structure; concise points; diagrams / infographics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3099816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072384"/>
            <a:ext cx="15087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Product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346704"/>
            <a:ext cx="324612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Career readiness • assessment • learning • talent matching patterns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" y="3941064"/>
            <a:ext cx="320040" cy="320040"/>
          </a:xfrm>
          <a:prstGeom prst="ellipse">
            <a:avLst/>
          </a:prstGeom>
          <a:solidFill>
            <a:srgbClr val="2365A9"/>
          </a:solidFill>
          <a:ln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913632"/>
            <a:ext cx="150876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Architecture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187952"/>
            <a:ext cx="324612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REST APIs • RBAC • relational data • analytics • AI recommendation pipelines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1005840"/>
            <a:ext cx="64008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◆ Conceptual Comparison with Single-Purpose Systems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00600" y="1417320"/>
            <a:ext cx="164592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Capability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37960" y="1417320"/>
            <a:ext cx="155448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Career Readiness 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79" y="1417320"/>
            <a:ext cx="105156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Assessment
Portal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1417320"/>
            <a:ext cx="105156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LMS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69880" y="1417320"/>
            <a:ext cx="822960" cy="594360"/>
          </a:xfrm>
          <a:prstGeom prst="roundRect">
            <a:avLst/>
          </a:prstGeom>
          <a:solidFill>
            <a:srgbClr val="F3F7FA"/>
          </a:solidFill>
          <a:ln w="12700">
            <a:solidFill>
              <a:srgbClr val="23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Job Portal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00600" y="20574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Skill profile + gap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37960" y="20574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20574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26880" y="20574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469880" y="20574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00600" y="25146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Personalized roadmap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7960" y="25146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83879" y="25146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25146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69880" y="25146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00600" y="29718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Daily planner + streak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37960" y="29718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83879" y="29718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26880" y="29718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69880" y="29718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00600" y="34290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Institution skill analytics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37960" y="34290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83879" y="34290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26880" y="34290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69880" y="34290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00600" y="38862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Industry skill requirements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537960" y="38862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183879" y="38862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38862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69880" y="38862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00600" y="43434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Jobs + internships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37960" y="43434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83879" y="43434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326880" y="43434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69880" y="43434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800600" y="48006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Mock interview + resume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37960" y="48006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83879" y="48006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326880" y="48006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469880" y="48006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800600" y="5257800"/>
            <a:ext cx="16459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Feedback loop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537960" y="5257800"/>
            <a:ext cx="15544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83879" y="52578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326880" y="5257800"/>
            <a:ext cx="10515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469880" y="5257800"/>
            <a:ext cx="82296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0600" y="5806440"/>
            <a:ext cx="62179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✓ Core focus   △ Partial / indirect   × Not the primary purpose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" y="5989320"/>
            <a:ext cx="1078992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Comparison is conceptual and based on the functional scope defined for this proposed platform; it is not a benchmark of named commercial products.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