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14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anchor="ctr"/>
          <a:lstStyle/>
          <a:p>
            <a:pPr algn="ctr"/>
            <a:r>
              <a:rPr sz="2400" b="1">
                <a:solidFill>
                  <a:srgbClr val="123456"/>
                </a:solidFill>
                <a:latin typeface="Garamond"/>
              </a:rPr>
              <a:t>TITLE PAGE
CAREER READINESS OS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123456"/>
                </a:solidFill>
                <a:latin typeface="Arial"/>
              </a:rPr>
              <a:t>Problem Statement ID – </a:t>
            </a:r>
            <a:r>
              <a:rPr sz="1100">
                <a:solidFill>
                  <a:srgbClr val="272F38"/>
                </a:solidFill>
                <a:latin typeface="Arial"/>
              </a:rPr>
              <a:t>26044</a:t>
            </a:r>
            <a:endParaRPr lang="en-US" dirty="0"/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23456"/>
                </a:solidFill>
                <a:latin typeface="Arial"/>
              </a:rPr>
              <a:t>Problem Statement Title – </a:t>
            </a:r>
            <a:r>
              <a:rPr sz="1100">
                <a:solidFill>
                  <a:srgbClr val="272F38"/>
                </a:solidFill>
                <a:latin typeface="Arial"/>
              </a:rPr>
              <a:t>Portal for Academia–Industry Collaboration for Skill Mapping, Internships and Placement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23456"/>
                </a:solidFill>
                <a:latin typeface="Arial"/>
              </a:rPr>
              <a:t>Theme – </a:t>
            </a:r>
            <a:r>
              <a:rPr sz="1100">
                <a:solidFill>
                  <a:srgbClr val="272F38"/>
                </a:solidFill>
                <a:latin typeface="Arial"/>
              </a:rPr>
              <a:t>Education &amp; Skill Development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23456"/>
                </a:solidFill>
                <a:latin typeface="Arial"/>
              </a:rPr>
              <a:t>PS Category – </a:t>
            </a:r>
            <a:r>
              <a:rPr sz="1100">
                <a:solidFill>
                  <a:srgbClr val="272F38"/>
                </a:solidFill>
                <a:latin typeface="Arial"/>
              </a:rPr>
              <a:t>Software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23456"/>
                </a:solidFill>
                <a:latin typeface="Arial"/>
              </a:rPr>
              <a:t>Team ID – </a:t>
            </a:r>
            <a:r>
              <a:rPr sz="1100">
                <a:solidFill>
                  <a:srgbClr val="272F38"/>
                </a:solidFill>
                <a:latin typeface="Arial"/>
              </a:rPr>
              <a:t>YOUR TEAM ID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23456"/>
                </a:solidFill>
                <a:latin typeface="Arial"/>
              </a:rPr>
              <a:t>Team Name – </a:t>
            </a:r>
            <a:r>
              <a:rPr sz="1100">
                <a:solidFill>
                  <a:srgbClr val="272F38"/>
                </a:solidFill>
                <a:latin typeface="Arial"/>
              </a:rPr>
              <a:t>YOUR REGISTERED TEAM NAME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446520" y="5349240"/>
            <a:ext cx="3840480" cy="566928"/>
          </a:xfrm>
          <a:prstGeom prst="roundRect">
            <a:avLst/>
          </a:prstGeom>
          <a:solidFill>
            <a:srgbClr val="1F66AA"/>
          </a:solidFill>
          <a:ln w="13970">
            <a:solidFill>
              <a:srgbClr val="1F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STUDENT ↔ INSTITUTION ↔ INDUSTRY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5285232"/>
            <a:ext cx="3977639" cy="594360"/>
          </a:xfrm>
          <a:prstGeom prst="roundRect">
            <a:avLst/>
          </a:prstGeom>
          <a:solidFill>
            <a:srgbClr val="2365A9"/>
          </a:solidFill>
          <a:ln w="12700"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STUDENT  ↔  INSTITUTION  ↔  INDUSTRY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943600"/>
            <a:ext cx="3931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123456"/>
                </a:solidFill>
                <a:latin typeface="Arial"/>
              </a:rPr>
              <a:t>AI-powered Skill Intelligence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300" b="1">
                <a:solidFill>
                  <a:srgbClr val="123456"/>
                </a:solidFill>
                <a:latin typeface="Arial"/>
              </a:rPr>
              <a:t>CAREER READINESS 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987552"/>
            <a:ext cx="44805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2365A9"/>
                </a:solidFill>
                <a:latin typeface="Arial"/>
              </a:rPr>
              <a:t>◆ Proposed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353312"/>
            <a:ext cx="429768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272F38"/>
                </a:solidFill>
                <a:latin typeface="Arial"/>
              </a:rPr>
              <a:t>A unified intelligence platform that converts learner evidence into skill profiles, identifies gaps, drives personalized action, and connects verified readiness with institutions and industry.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57400" y="2514600"/>
            <a:ext cx="2834640" cy="59436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23456"/>
                </a:solidFill>
                <a:latin typeface="Arial"/>
              </a:rPr>
              <a:t>ASSESSMENT +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57400" y="3337560"/>
            <a:ext cx="2834640" cy="59436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268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19" b="1">
                <a:solidFill>
                  <a:srgbClr val="123456"/>
                </a:solidFill>
                <a:latin typeface="Arial"/>
              </a:rPr>
              <a:t>SKILL PROFILE + SKILL GRAPH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57400" y="4160520"/>
            <a:ext cx="2834640" cy="59436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E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19" b="1">
                <a:solidFill>
                  <a:srgbClr val="123456"/>
                </a:solidFill>
                <a:latin typeface="Arial"/>
              </a:rPr>
              <a:t>SKILL GAP + READINESS SCORE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57400" y="4983480"/>
            <a:ext cx="2834640" cy="59436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439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19" b="1">
                <a:solidFill>
                  <a:srgbClr val="123456"/>
                </a:solidFill>
                <a:latin typeface="Arial"/>
              </a:rPr>
              <a:t>ACTION + FEEDBACK LOOP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474720" y="3108960"/>
            <a:ext cx="0" cy="201168"/>
          </a:xfrm>
          <a:prstGeom prst="line">
            <a:avLst/>
          </a:prstGeom>
          <a:ln w="19050">
            <a:solidFill>
              <a:srgbClr val="2365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474720" y="3931920"/>
            <a:ext cx="0" cy="201167"/>
          </a:xfrm>
          <a:prstGeom prst="line">
            <a:avLst/>
          </a:prstGeom>
          <a:ln w="19050">
            <a:solidFill>
              <a:srgbClr val="2365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74720" y="4754880"/>
            <a:ext cx="0" cy="201168"/>
          </a:xfrm>
          <a:prstGeom prst="line">
            <a:avLst/>
          </a:prstGeom>
          <a:ln w="19050">
            <a:solidFill>
              <a:srgbClr val="2365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5349240" y="4224528"/>
            <a:ext cx="5486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3456"/>
                </a:solidFill>
                <a:latin typeface="Arial"/>
              </a:rPr>
              <a:t>EVIDENCE → GAP → ACTION → OPPORTUNITY → INDUSTRY FEEDBACK → PROFILE UPDATE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49240" y="5138928"/>
            <a:ext cx="5486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2365A9"/>
                </a:solidFill>
                <a:latin typeface="Arial"/>
              </a:rPr>
              <a:t>◆ Intelligence Outputs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94960" y="5486400"/>
            <a:ext cx="105156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1">
                <a:solidFill>
                  <a:srgbClr val="2365A9"/>
                </a:solidFill>
                <a:latin typeface="Arial"/>
              </a:rPr>
              <a:t>Student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92240" y="5486400"/>
            <a:ext cx="420624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272F38"/>
                </a:solidFill>
                <a:latin typeface="Arial"/>
              </a:rPr>
              <a:t>Readiness + roadmap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94960" y="5760720"/>
            <a:ext cx="105156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1">
                <a:solidFill>
                  <a:srgbClr val="26847C"/>
                </a:solidFill>
                <a:latin typeface="Arial"/>
              </a:rPr>
              <a:t>Institution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5760720"/>
            <a:ext cx="420624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272F38"/>
                </a:solidFill>
                <a:latin typeface="Arial"/>
              </a:rPr>
              <a:t>Skill heatmap + curriculum alignment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94960" y="6035040"/>
            <a:ext cx="105156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1">
                <a:solidFill>
                  <a:srgbClr val="E77E22"/>
                </a:solidFill>
                <a:latin typeface="Arial"/>
              </a:rPr>
              <a:t>Industry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92240" y="6035040"/>
            <a:ext cx="420624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272F38"/>
                </a:solidFill>
                <a:latin typeface="Arial"/>
              </a:rPr>
              <a:t>Demand + candidate matching</a:t>
            </a:r>
          </a:p>
        </p:txBody>
      </p:sp>
      <p:sp>
        <p:nvSpPr>
          <p:cNvPr id="66" name="Oval 65"/>
          <p:cNvSpPr/>
          <p:nvPr/>
        </p:nvSpPr>
        <p:spPr>
          <a:xfrm>
            <a:off x="594360" y="2743200"/>
            <a:ext cx="1207008" cy="1207008"/>
          </a:xfrm>
          <a:prstGeom prst="ellipse">
            <a:avLst/>
          </a:prstGeom>
          <a:solidFill>
            <a:srgbClr val="2365A9"/>
          </a:solidFill>
          <a:ln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STUDENT</a:t>
            </a:r>
          </a:p>
        </p:txBody>
      </p:sp>
      <p:sp>
        <p:nvSpPr>
          <p:cNvPr id="67" name="Oval 66"/>
          <p:cNvSpPr/>
          <p:nvPr/>
        </p:nvSpPr>
        <p:spPr>
          <a:xfrm>
            <a:off x="594360" y="4160520"/>
            <a:ext cx="1207008" cy="1207008"/>
          </a:xfrm>
          <a:prstGeom prst="ellipse">
            <a:avLst/>
          </a:prstGeom>
          <a:solidFill>
            <a:srgbClr val="26847C"/>
          </a:solidFill>
          <a:ln>
            <a:solidFill>
              <a:srgbClr val="268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INSTITUTION</a:t>
            </a:r>
          </a:p>
        </p:txBody>
      </p:sp>
      <p:sp>
        <p:nvSpPr>
          <p:cNvPr id="68" name="Oval 67"/>
          <p:cNvSpPr/>
          <p:nvPr/>
        </p:nvSpPr>
        <p:spPr>
          <a:xfrm>
            <a:off x="594360" y="5486400"/>
            <a:ext cx="1207008" cy="1207008"/>
          </a:xfrm>
          <a:prstGeom prst="ellipse">
            <a:avLst/>
          </a:prstGeom>
          <a:solidFill>
            <a:srgbClr val="E77E22"/>
          </a:solidFill>
          <a:ln>
            <a:solidFill>
              <a:srgbClr val="E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INDUSTRY</a:t>
            </a:r>
          </a:p>
        </p:txBody>
      </p:sp>
      <p:cxnSp>
        <p:nvCxnSpPr>
          <p:cNvPr id="69" name="Connector 68"/>
          <p:cNvCxnSpPr/>
          <p:nvPr/>
        </p:nvCxnSpPr>
        <p:spPr>
          <a:xfrm flipV="1">
            <a:off x="1801368" y="3108960"/>
            <a:ext cx="256032" cy="237744"/>
          </a:xfrm>
          <a:prstGeom prst="line">
            <a:avLst/>
          </a:prstGeom>
          <a:ln w="15240">
            <a:solidFill>
              <a:srgbClr val="2365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801368" y="4160520"/>
            <a:ext cx="256032" cy="603504"/>
          </a:xfrm>
          <a:prstGeom prst="line">
            <a:avLst/>
          </a:prstGeom>
          <a:ln w="15240">
            <a:solidFill>
              <a:srgbClr val="2684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801368" y="5166360"/>
            <a:ext cx="256032" cy="923544"/>
          </a:xfrm>
          <a:prstGeom prst="line">
            <a:avLst/>
          </a:prstGeom>
          <a:ln w="15240">
            <a:solidFill>
              <a:srgbClr val="E7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349240" y="1188720"/>
            <a:ext cx="5486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2365A9"/>
                </a:solidFill>
                <a:latin typeface="Arial"/>
              </a:rPr>
              <a:t>◆ End-to-End Student Journey</a:t>
            </a:r>
          </a:p>
        </p:txBody>
      </p:sp>
      <p:sp>
        <p:nvSpPr>
          <p:cNvPr id="73" name="Oval 72"/>
          <p:cNvSpPr/>
          <p:nvPr/>
        </p:nvSpPr>
        <p:spPr>
          <a:xfrm>
            <a:off x="5349240" y="1627632"/>
            <a:ext cx="347472" cy="347472"/>
          </a:xfrm>
          <a:prstGeom prst="ellipse">
            <a:avLst/>
          </a:prstGeom>
          <a:solidFill>
            <a:srgbClr val="2365A9"/>
          </a:solidFill>
          <a:ln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742431" y="1618488"/>
            <a:ext cx="713232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1">
                <a:solidFill>
                  <a:srgbClr val="272F38"/>
                </a:solidFill>
                <a:latin typeface="Arial"/>
              </a:rPr>
              <a:t>Onboard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5696712" y="1801368"/>
            <a:ext cx="749808" cy="0"/>
          </a:xfrm>
          <a:prstGeom prst="line">
            <a:avLst/>
          </a:prstGeom>
          <a:ln w="12700">
            <a:solidFill>
              <a:srgbClr val="2365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6519672" y="1627632"/>
            <a:ext cx="347472" cy="347472"/>
          </a:xfrm>
          <a:prstGeom prst="ellipse">
            <a:avLst/>
          </a:prstGeom>
          <a:solidFill>
            <a:srgbClr val="2C9CB6"/>
          </a:solidFill>
          <a:ln>
            <a:solidFill>
              <a:srgbClr val="2C9C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12864" y="1618488"/>
            <a:ext cx="713232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1">
                <a:solidFill>
                  <a:srgbClr val="272F38"/>
                </a:solidFill>
                <a:latin typeface="Arial"/>
              </a:rPr>
              <a:t>AI Assessment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6867144" y="1801368"/>
            <a:ext cx="749808" cy="0"/>
          </a:xfrm>
          <a:prstGeom prst="line">
            <a:avLst/>
          </a:prstGeom>
          <a:ln w="12700">
            <a:solidFill>
              <a:srgbClr val="2C9C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7690104" y="1627632"/>
            <a:ext cx="347472" cy="347472"/>
          </a:xfrm>
          <a:prstGeom prst="ellipse">
            <a:avLst/>
          </a:prstGeom>
          <a:solidFill>
            <a:srgbClr val="26847C"/>
          </a:solidFill>
          <a:ln>
            <a:solidFill>
              <a:srgbClr val="268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083296" y="1618488"/>
            <a:ext cx="713232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1">
                <a:solidFill>
                  <a:srgbClr val="272F38"/>
                </a:solidFill>
                <a:latin typeface="Arial"/>
              </a:rPr>
              <a:t>Skill Profile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8037576" y="1801368"/>
            <a:ext cx="749808" cy="0"/>
          </a:xfrm>
          <a:prstGeom prst="line">
            <a:avLst/>
          </a:prstGeom>
          <a:ln w="12700">
            <a:solidFill>
              <a:srgbClr val="2684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8860536" y="1627632"/>
            <a:ext cx="347472" cy="347472"/>
          </a:xfrm>
          <a:prstGeom prst="ellipse">
            <a:avLst/>
          </a:prstGeom>
          <a:solidFill>
            <a:srgbClr val="E77E22"/>
          </a:solidFill>
          <a:ln>
            <a:solidFill>
              <a:srgbClr val="E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253728" y="1618488"/>
            <a:ext cx="713232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1">
                <a:solidFill>
                  <a:srgbClr val="272F38"/>
                </a:solidFill>
                <a:latin typeface="Arial"/>
              </a:rPr>
              <a:t>Skill Gap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9208008" y="1801368"/>
            <a:ext cx="749807" cy="0"/>
          </a:xfrm>
          <a:prstGeom prst="line">
            <a:avLst/>
          </a:prstGeom>
          <a:ln w="12700">
            <a:solidFill>
              <a:srgbClr val="E7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10030967" y="1627632"/>
            <a:ext cx="347472" cy="347472"/>
          </a:xfrm>
          <a:prstGeom prst="ellipse">
            <a:avLst/>
          </a:prstGeom>
          <a:solidFill>
            <a:srgbClr val="43945C"/>
          </a:solidFill>
          <a:ln>
            <a:solidFill>
              <a:srgbClr val="439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424159" y="1618488"/>
            <a:ext cx="713232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1">
                <a:solidFill>
                  <a:srgbClr val="272F38"/>
                </a:solidFill>
                <a:latin typeface="Arial"/>
              </a:rPr>
              <a:t>Learn + Test</a:t>
            </a:r>
          </a:p>
        </p:txBody>
      </p:sp>
      <p:sp>
        <p:nvSpPr>
          <p:cNvPr id="87" name="Oval 86"/>
          <p:cNvSpPr/>
          <p:nvPr/>
        </p:nvSpPr>
        <p:spPr>
          <a:xfrm>
            <a:off x="5349240" y="2743200"/>
            <a:ext cx="347472" cy="347472"/>
          </a:xfrm>
          <a:prstGeom prst="ellipse">
            <a:avLst/>
          </a:prstGeom>
          <a:solidFill>
            <a:srgbClr val="6F529B"/>
          </a:solidFill>
          <a:ln>
            <a:solidFill>
              <a:srgbClr val="6F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42431" y="2734056"/>
            <a:ext cx="713232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1">
                <a:solidFill>
                  <a:srgbClr val="272F38"/>
                </a:solidFill>
                <a:latin typeface="Arial"/>
              </a:rPr>
              <a:t>Daily Planner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5696712" y="2916936"/>
            <a:ext cx="749808" cy="0"/>
          </a:xfrm>
          <a:prstGeom prst="line">
            <a:avLst/>
          </a:prstGeom>
          <a:ln w="12700">
            <a:solidFill>
              <a:srgbClr val="6F5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6519672" y="2743200"/>
            <a:ext cx="347472" cy="347472"/>
          </a:xfrm>
          <a:prstGeom prst="ellipse">
            <a:avLst/>
          </a:prstGeom>
          <a:solidFill>
            <a:srgbClr val="2365A9"/>
          </a:solidFill>
          <a:ln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912864" y="2734056"/>
            <a:ext cx="713232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1">
                <a:solidFill>
                  <a:srgbClr val="272F38"/>
                </a:solidFill>
                <a:latin typeface="Arial"/>
              </a:rPr>
              <a:t>Roadmap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867144" y="2916936"/>
            <a:ext cx="749808" cy="0"/>
          </a:xfrm>
          <a:prstGeom prst="line">
            <a:avLst/>
          </a:prstGeom>
          <a:ln w="12700">
            <a:solidFill>
              <a:srgbClr val="2365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7690104" y="2743200"/>
            <a:ext cx="347472" cy="347472"/>
          </a:xfrm>
          <a:prstGeom prst="ellipse">
            <a:avLst/>
          </a:prstGeom>
          <a:solidFill>
            <a:srgbClr val="E77E22"/>
          </a:solidFill>
          <a:ln>
            <a:solidFill>
              <a:srgbClr val="E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083296" y="2734056"/>
            <a:ext cx="713232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1">
                <a:solidFill>
                  <a:srgbClr val="272F38"/>
                </a:solidFill>
                <a:latin typeface="Arial"/>
              </a:rPr>
              <a:t>Jobs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8037576" y="2916936"/>
            <a:ext cx="749808" cy="0"/>
          </a:xfrm>
          <a:prstGeom prst="line">
            <a:avLst/>
          </a:prstGeom>
          <a:ln w="12700">
            <a:solidFill>
              <a:srgbClr val="E7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Oval 95"/>
          <p:cNvSpPr/>
          <p:nvPr/>
        </p:nvSpPr>
        <p:spPr>
          <a:xfrm>
            <a:off x="8860536" y="2743200"/>
            <a:ext cx="347472" cy="347472"/>
          </a:xfrm>
          <a:prstGeom prst="ellipse">
            <a:avLst/>
          </a:prstGeom>
          <a:solidFill>
            <a:srgbClr val="26847C"/>
          </a:solidFill>
          <a:ln>
            <a:solidFill>
              <a:srgbClr val="268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253728" y="2734056"/>
            <a:ext cx="713232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1">
                <a:solidFill>
                  <a:srgbClr val="272F38"/>
                </a:solidFill>
                <a:latin typeface="Arial"/>
              </a:rPr>
              <a:t>Resume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9208008" y="2916936"/>
            <a:ext cx="749807" cy="0"/>
          </a:xfrm>
          <a:prstGeom prst="line">
            <a:avLst/>
          </a:prstGeom>
          <a:ln w="12700">
            <a:solidFill>
              <a:srgbClr val="2684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10424159" y="2734056"/>
            <a:ext cx="713232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00" b="1">
                <a:solidFill>
                  <a:srgbClr val="272F38"/>
                </a:solidFill>
                <a:latin typeface="Arial"/>
              </a:rPr>
              <a:t>Mock Interview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10204703" y="1993392"/>
            <a:ext cx="0" cy="585216"/>
          </a:xfrm>
          <a:prstGeom prst="line">
            <a:avLst/>
          </a:prstGeom>
          <a:ln w="12700">
            <a:solidFill>
              <a:srgbClr val="2365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Oval 101"/>
          <p:cNvSpPr/>
          <p:nvPr/>
        </p:nvSpPr>
        <p:spPr>
          <a:xfrm>
            <a:off x="10012679" y="2715768"/>
            <a:ext cx="420624" cy="420624"/>
          </a:xfrm>
          <a:prstGeom prst="ellipse">
            <a:avLst/>
          </a:prstGeom>
          <a:solidFill>
            <a:srgbClr val="C24343"/>
          </a:solidFill>
          <a:ln>
            <a:solidFill>
              <a:srgbClr val="C2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300" b="1">
                <a:solidFill>
                  <a:srgbClr val="123456"/>
                </a:solidFill>
                <a:latin typeface="Arial"/>
              </a:rPr>
              <a:t>TECHNICAL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987552"/>
            <a:ext cx="47548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2365A9"/>
                </a:solidFill>
                <a:latin typeface="Arial"/>
              </a:rPr>
              <a:t>◆ Technology / Architecture Stack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417320"/>
            <a:ext cx="1508760" cy="457200"/>
          </a:xfrm>
          <a:prstGeom prst="roundRect">
            <a:avLst/>
          </a:prstGeom>
          <a:solidFill>
            <a:srgbClr val="2365A9"/>
          </a:solidFill>
          <a:ln w="12700"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FRONTEND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31720" y="1417320"/>
            <a:ext cx="31546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850" b="0">
                <a:solidFill>
                  <a:srgbClr val="272F38"/>
                </a:solidFill>
                <a:latin typeface="Arial"/>
              </a:rPr>
              <a:t>Existing frontend • role-based dashboards • responsive 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075688"/>
            <a:ext cx="1508760" cy="457200"/>
          </a:xfrm>
          <a:prstGeom prst="roundRect">
            <a:avLst/>
          </a:prstGeom>
          <a:solidFill>
            <a:srgbClr val="26847C"/>
          </a:solidFill>
          <a:ln w="12700">
            <a:solidFill>
              <a:srgbClr val="268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BACKEND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1720" y="2075688"/>
            <a:ext cx="31546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850" b="0">
                <a:solidFill>
                  <a:srgbClr val="272F38"/>
                </a:solidFill>
                <a:latin typeface="Arial"/>
              </a:rPr>
              <a:t>Existing backend • REST API • authentication • RBAC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734056"/>
            <a:ext cx="1508760" cy="457200"/>
          </a:xfrm>
          <a:prstGeom prst="roundRect">
            <a:avLst/>
          </a:prstGeom>
          <a:solidFill>
            <a:srgbClr val="E77E22"/>
          </a:solidFill>
          <a:ln w="12700">
            <a:solidFill>
              <a:srgbClr val="E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AI SERVICES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31720" y="2734056"/>
            <a:ext cx="31546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850" b="0">
                <a:solidFill>
                  <a:srgbClr val="272F38"/>
                </a:solidFill>
                <a:latin typeface="Arial"/>
              </a:rPr>
              <a:t>Assessment scoring • skill-gap engine • recommendations • matching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392424"/>
            <a:ext cx="1508760" cy="457200"/>
          </a:xfrm>
          <a:prstGeom prst="roundRect">
            <a:avLst/>
          </a:prstGeom>
          <a:solidFill>
            <a:srgbClr val="43945C"/>
          </a:solidFill>
          <a:ln w="12700">
            <a:solidFill>
              <a:srgbClr val="439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DATABASE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31720" y="3392424"/>
            <a:ext cx="31546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850" b="0">
                <a:solidFill>
                  <a:srgbClr val="272F38"/>
                </a:solidFill>
                <a:latin typeface="Arial"/>
              </a:rPr>
              <a:t>Existing database architecture • indexed entities • transactional integrity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050791"/>
            <a:ext cx="1508760" cy="457200"/>
          </a:xfrm>
          <a:prstGeom prst="roundRect">
            <a:avLst/>
          </a:prstGeom>
          <a:solidFill>
            <a:srgbClr val="2C9CB6"/>
          </a:solidFill>
          <a:ln w="12700">
            <a:solidFill>
              <a:srgbClr val="2C9C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INTEGRATIONS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31720" y="4050791"/>
            <a:ext cx="31546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850" b="0">
                <a:solidFill>
                  <a:srgbClr val="272F38"/>
                </a:solidFill>
                <a:latin typeface="Arial"/>
              </a:rPr>
              <a:t>Jobs • internships • learning resources • notifications •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987552"/>
            <a:ext cx="52120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2365A9"/>
                </a:solidFill>
                <a:latin typeface="Arial"/>
              </a:rPr>
              <a:t>◆ System Architecture / Data 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97880" y="1417320"/>
            <a:ext cx="1234440" cy="530352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23456"/>
                </a:solidFill>
                <a:latin typeface="Arial"/>
              </a:rPr>
              <a:t>CLIENTS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79" y="1417320"/>
            <a:ext cx="1325880" cy="530352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268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23456"/>
                </a:solidFill>
                <a:latin typeface="Arial"/>
              </a:rPr>
              <a:t>API GATEWAY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35440" y="1417320"/>
            <a:ext cx="1417320" cy="530352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E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23456"/>
                </a:solidFill>
                <a:latin typeface="Arial"/>
              </a:rPr>
              <a:t>SERVICES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32320" y="1682496"/>
            <a:ext cx="365759" cy="0"/>
          </a:xfrm>
          <a:prstGeom prst="line">
            <a:avLst/>
          </a:prstGeom>
          <a:ln w="22860">
            <a:solidFill>
              <a:srgbClr val="2365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823960" y="1682496"/>
            <a:ext cx="411480" cy="0"/>
          </a:xfrm>
          <a:prstGeom prst="line">
            <a:avLst/>
          </a:prstGeom>
          <a:ln w="22860">
            <a:solidFill>
              <a:srgbClr val="2684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903720" y="2331720"/>
            <a:ext cx="1828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3456"/>
                </a:solidFill>
                <a:latin typeface="Arial"/>
              </a:rPr>
              <a:t>AI INTELLIGENCE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2331720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9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3456"/>
                </a:solidFill>
                <a:latin typeface="Arial"/>
              </a:rPr>
              <a:t>DATABASE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921240" y="1947672"/>
            <a:ext cx="0" cy="384048"/>
          </a:xfrm>
          <a:prstGeom prst="line">
            <a:avLst/>
          </a:prstGeom>
          <a:ln w="22860">
            <a:solidFill>
              <a:srgbClr val="E7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823960" y="2615184"/>
            <a:ext cx="411480" cy="0"/>
          </a:xfrm>
          <a:prstGeom prst="line">
            <a:avLst/>
          </a:prstGeom>
          <a:ln w="22860">
            <a:solidFill>
              <a:srgbClr val="439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897880" y="3337560"/>
            <a:ext cx="2011680" cy="530352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C2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23456"/>
                </a:solidFill>
                <a:latin typeface="Arial"/>
              </a:rPr>
              <a:t>AUTH + RBAC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3337560"/>
            <a:ext cx="2423160" cy="530352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6F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23456"/>
                </a:solidFill>
                <a:latin typeface="Arial"/>
              </a:rPr>
              <a:t>AUDIT + ANALYTICS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6903720" y="1947672"/>
            <a:ext cx="274320" cy="384048"/>
          </a:xfrm>
          <a:prstGeom prst="line">
            <a:avLst/>
          </a:prstGeom>
          <a:ln w="22860">
            <a:solidFill>
              <a:srgbClr val="2365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6903720" y="2898648"/>
            <a:ext cx="914400" cy="438912"/>
          </a:xfrm>
          <a:prstGeom prst="line">
            <a:avLst/>
          </a:prstGeom>
          <a:ln w="22860">
            <a:solidFill>
              <a:srgbClr val="2684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732520" y="2898648"/>
            <a:ext cx="594360" cy="438912"/>
          </a:xfrm>
          <a:prstGeom prst="line">
            <a:avLst/>
          </a:prstGeom>
          <a:ln w="22860">
            <a:solidFill>
              <a:srgbClr val="6F5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40080" y="4892040"/>
            <a:ext cx="10698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2365A9"/>
                </a:solidFill>
                <a:latin typeface="Arial"/>
              </a:rPr>
              <a:t>◆ Implementation Flow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303520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72F38"/>
                </a:solidFill>
                <a:latin typeface="Arial"/>
              </a:rPr>
              <a:t>Capture
Evidence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57400" y="5586984"/>
            <a:ext cx="365760" cy="0"/>
          </a:xfrm>
          <a:prstGeom prst="line">
            <a:avLst/>
          </a:prstGeom>
          <a:ln w="16510">
            <a:solidFill>
              <a:srgbClr val="2365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2468880" y="5303520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8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72F38"/>
                </a:solidFill>
                <a:latin typeface="Arial"/>
              </a:rPr>
              <a:t>Normalize
Skills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886200" y="5586984"/>
            <a:ext cx="365760" cy="0"/>
          </a:xfrm>
          <a:prstGeom prst="line">
            <a:avLst/>
          </a:prstGeom>
          <a:ln w="16510">
            <a:solidFill>
              <a:srgbClr val="2684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4297680" y="5303520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72F38"/>
                </a:solidFill>
                <a:latin typeface="Arial"/>
              </a:rPr>
              <a:t>Analyze
Gaps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715000" y="5586984"/>
            <a:ext cx="365760" cy="0"/>
          </a:xfrm>
          <a:prstGeom prst="line">
            <a:avLst/>
          </a:prstGeom>
          <a:ln w="16510">
            <a:solidFill>
              <a:srgbClr val="E7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126480" y="5303520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9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72F38"/>
                </a:solidFill>
                <a:latin typeface="Arial"/>
              </a:rPr>
              <a:t>Recommend
Actions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543800" y="5586984"/>
            <a:ext cx="365760" cy="0"/>
          </a:xfrm>
          <a:prstGeom prst="line">
            <a:avLst/>
          </a:prstGeom>
          <a:ln w="16510">
            <a:solidFill>
              <a:srgbClr val="439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7955279" y="5303520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9C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72F38"/>
                </a:solidFill>
                <a:latin typeface="Arial"/>
              </a:rPr>
              <a:t>Match
Opportunities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372600" y="5586984"/>
            <a:ext cx="365759" cy="0"/>
          </a:xfrm>
          <a:prstGeom prst="line">
            <a:avLst/>
          </a:prstGeom>
          <a:ln w="16510">
            <a:solidFill>
              <a:srgbClr val="2C9C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9784080" y="5303520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72F38"/>
                </a:solidFill>
                <a:latin typeface="Arial"/>
              </a:rPr>
              <a:t>Learn from
Feedback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5989320"/>
            <a:ext cx="106984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19" b="1">
                <a:solidFill>
                  <a:srgbClr val="C24343"/>
                </a:solidFill>
                <a:latin typeface="Arial"/>
              </a:rPr>
              <a:t>Security-by-design: authentication • role isolation • least privilege • validation • rate limiting • auditability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300" b="1">
                <a:solidFill>
                  <a:srgbClr val="123456"/>
                </a:solidFill>
                <a:latin typeface="Arial"/>
              </a:rPr>
              <a:t>FEASIBILITY AND VIABILITY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502920" y="1005840"/>
            <a:ext cx="5212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2365A9"/>
                </a:solidFill>
                <a:latin typeface="Arial"/>
              </a:rPr>
              <a:t>◆ Feasibility</a:t>
            </a:r>
          </a:p>
        </p:txBody>
      </p:sp>
      <p:sp>
        <p:nvSpPr>
          <p:cNvPr id="17433" name="Oval 17432"/>
          <p:cNvSpPr/>
          <p:nvPr/>
        </p:nvSpPr>
        <p:spPr>
          <a:xfrm>
            <a:off x="594360" y="1417320"/>
            <a:ext cx="347472" cy="347472"/>
          </a:xfrm>
          <a:prstGeom prst="ellipse">
            <a:avLst/>
          </a:prstGeom>
          <a:solidFill>
            <a:srgbClr val="2365A9"/>
          </a:solidFill>
          <a:ln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1024128" y="1399032"/>
            <a:ext cx="9601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1">
                <a:solidFill>
                  <a:srgbClr val="2365A9"/>
                </a:solidFill>
                <a:latin typeface="Arial"/>
              </a:rPr>
              <a:t>Technical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1920240" y="1371600"/>
            <a:ext cx="347472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69" b="0">
                <a:solidFill>
                  <a:srgbClr val="272F38"/>
                </a:solidFill>
                <a:latin typeface="Arial"/>
              </a:rPr>
              <a:t>Uses existing DB/backend foundation; modular APIs and AI services.</a:t>
            </a:r>
          </a:p>
        </p:txBody>
      </p:sp>
      <p:sp>
        <p:nvSpPr>
          <p:cNvPr id="17436" name="Oval 17435"/>
          <p:cNvSpPr/>
          <p:nvPr/>
        </p:nvSpPr>
        <p:spPr>
          <a:xfrm>
            <a:off x="594360" y="2167128"/>
            <a:ext cx="347472" cy="347472"/>
          </a:xfrm>
          <a:prstGeom prst="ellipse">
            <a:avLst/>
          </a:prstGeom>
          <a:solidFill>
            <a:srgbClr val="26847C"/>
          </a:solidFill>
          <a:ln>
            <a:solidFill>
              <a:srgbClr val="268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1024128" y="2148840"/>
            <a:ext cx="9601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1">
                <a:solidFill>
                  <a:srgbClr val="26847C"/>
                </a:solidFill>
                <a:latin typeface="Arial"/>
              </a:rPr>
              <a:t>Operational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1920240" y="2121408"/>
            <a:ext cx="347472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69" b="0">
                <a:solidFill>
                  <a:srgbClr val="272F38"/>
                </a:solidFill>
                <a:latin typeface="Arial"/>
              </a:rPr>
              <a:t>Three role-based workflows share one skill intelligence layer.</a:t>
            </a:r>
          </a:p>
        </p:txBody>
      </p:sp>
      <p:sp>
        <p:nvSpPr>
          <p:cNvPr id="17439" name="Oval 17438"/>
          <p:cNvSpPr/>
          <p:nvPr/>
        </p:nvSpPr>
        <p:spPr>
          <a:xfrm>
            <a:off x="594360" y="2916936"/>
            <a:ext cx="347472" cy="347472"/>
          </a:xfrm>
          <a:prstGeom prst="ellipse">
            <a:avLst/>
          </a:prstGeom>
          <a:solidFill>
            <a:srgbClr val="43945C"/>
          </a:solidFill>
          <a:ln>
            <a:solidFill>
              <a:srgbClr val="439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1024128" y="2898648"/>
            <a:ext cx="9601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1">
                <a:solidFill>
                  <a:srgbClr val="43945C"/>
                </a:solidFill>
                <a:latin typeface="Arial"/>
              </a:rPr>
              <a:t>Scalable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1920240" y="2871216"/>
            <a:ext cx="347472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69" b="0">
                <a:solidFill>
                  <a:srgbClr val="272F38"/>
                </a:solidFill>
                <a:latin typeface="Arial"/>
              </a:rPr>
              <a:t>Modules can be added independently as adoption grows.</a:t>
            </a:r>
          </a:p>
        </p:txBody>
      </p:sp>
      <p:sp>
        <p:nvSpPr>
          <p:cNvPr id="17442" name="Oval 17441"/>
          <p:cNvSpPr/>
          <p:nvPr/>
        </p:nvSpPr>
        <p:spPr>
          <a:xfrm>
            <a:off x="594360" y="3666744"/>
            <a:ext cx="347472" cy="347472"/>
          </a:xfrm>
          <a:prstGeom prst="ellipse">
            <a:avLst/>
          </a:prstGeom>
          <a:solidFill>
            <a:srgbClr val="E77E22"/>
          </a:solidFill>
          <a:ln>
            <a:solidFill>
              <a:srgbClr val="E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1024128" y="3648456"/>
            <a:ext cx="9601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1">
                <a:solidFill>
                  <a:srgbClr val="E77E22"/>
                </a:solidFill>
                <a:latin typeface="Arial"/>
              </a:rPr>
              <a:t>Economic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1920240" y="3621024"/>
            <a:ext cx="347472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69" b="0">
                <a:solidFill>
                  <a:srgbClr val="272F38"/>
                </a:solidFill>
                <a:latin typeface="Arial"/>
              </a:rPr>
              <a:t>Cloud-ready architecture supports incremental deployment.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5486400" y="1005840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2365A9"/>
                </a:solidFill>
                <a:latin typeface="Arial"/>
              </a:rPr>
              <a:t>◆ Use Cases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5486400" y="1417320"/>
            <a:ext cx="1143000" cy="475488"/>
          </a:xfrm>
          <a:prstGeom prst="roundRect">
            <a:avLst/>
          </a:prstGeom>
          <a:solidFill>
            <a:srgbClr val="2365A9"/>
          </a:solidFill>
          <a:ln w="12700"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Student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6720840" y="1399032"/>
            <a:ext cx="1874519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20" b="0">
                <a:solidFill>
                  <a:srgbClr val="272F38"/>
                </a:solidFill>
                <a:latin typeface="Arial"/>
              </a:rPr>
              <a:t>Find gap → learn → prove skill → apply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5486400" y="2167128"/>
            <a:ext cx="1143000" cy="475488"/>
          </a:xfrm>
          <a:prstGeom prst="roundRect">
            <a:avLst/>
          </a:prstGeom>
          <a:solidFill>
            <a:srgbClr val="26847C"/>
          </a:solidFill>
          <a:ln w="12700">
            <a:solidFill>
              <a:srgbClr val="268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Institution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6720840" y="2148840"/>
            <a:ext cx="1874519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20" b="0">
                <a:solidFill>
                  <a:srgbClr val="272F38"/>
                </a:solidFill>
                <a:latin typeface="Arial"/>
              </a:rPr>
              <a:t>See cohort gaps → align curriculum → track readiness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5486400" y="2916936"/>
            <a:ext cx="1143000" cy="475488"/>
          </a:xfrm>
          <a:prstGeom prst="roundRect">
            <a:avLst/>
          </a:prstGeom>
          <a:solidFill>
            <a:srgbClr val="E77E22"/>
          </a:solidFill>
          <a:ln w="12700">
            <a:solidFill>
              <a:srgbClr val="E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Industry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6720840" y="2898648"/>
            <a:ext cx="1874519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20" b="0">
                <a:solidFill>
                  <a:srgbClr val="272F38"/>
                </a:solidFill>
                <a:latin typeface="Arial"/>
              </a:rPr>
              <a:t>Publish skill needs → discover talent → give feedback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5486400" y="3666744"/>
            <a:ext cx="1143000" cy="475488"/>
          </a:xfrm>
          <a:prstGeom prst="roundRect">
            <a:avLst/>
          </a:prstGeom>
          <a:solidFill>
            <a:srgbClr val="6F529B"/>
          </a:solidFill>
          <a:ln w="12700">
            <a:solidFill>
              <a:srgbClr val="6F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6720840" y="3648456"/>
            <a:ext cx="1874519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20" b="0">
                <a:solidFill>
                  <a:srgbClr val="272F38"/>
                </a:solidFill>
                <a:latin typeface="Arial"/>
              </a:rPr>
              <a:t>Monitor adoption → quality → ecosystem health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8915400" y="1005840"/>
            <a:ext cx="23774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2365A9"/>
                </a:solidFill>
                <a:latin typeface="Arial"/>
              </a:rPr>
              <a:t>◆ Viability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8915400" y="1417320"/>
            <a:ext cx="23317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9" b="1">
                <a:solidFill>
                  <a:srgbClr val="272F38"/>
                </a:solidFill>
                <a:latin typeface="Arial"/>
              </a:rPr>
              <a:t>Institution SaaS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9052560" y="1929384"/>
            <a:ext cx="20574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780" b="0">
                <a:solidFill>
                  <a:srgbClr val="606972"/>
                </a:solidFill>
                <a:latin typeface="Arial"/>
              </a:rPr>
              <a:t>analytics + curriculum intelligence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8915400" y="2167128"/>
            <a:ext cx="23317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8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9" b="1">
                <a:solidFill>
                  <a:srgbClr val="272F38"/>
                </a:solidFill>
                <a:latin typeface="Arial"/>
              </a:rPr>
              <a:t>Industry access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9052560" y="2679192"/>
            <a:ext cx="20574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780" b="0">
                <a:solidFill>
                  <a:srgbClr val="606972"/>
                </a:solidFill>
                <a:latin typeface="Arial"/>
              </a:rPr>
              <a:t>talent / projects / mentorship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8915400" y="2916936"/>
            <a:ext cx="23317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9" b="1">
                <a:solidFill>
                  <a:srgbClr val="272F38"/>
                </a:solidFill>
                <a:latin typeface="Arial"/>
              </a:rPr>
              <a:t>Premium career tools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9052560" y="3429000"/>
            <a:ext cx="20574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780" b="0">
                <a:solidFill>
                  <a:srgbClr val="606972"/>
                </a:solidFill>
                <a:latin typeface="Arial"/>
              </a:rPr>
              <a:t>advanced readiness + mock interview</a:t>
            </a:r>
          </a:p>
        </p:txBody>
      </p:sp>
      <p:sp>
        <p:nvSpPr>
          <p:cNvPr id="17461" name="Rounded Rectangle 17460"/>
          <p:cNvSpPr/>
          <p:nvPr/>
        </p:nvSpPr>
        <p:spPr>
          <a:xfrm>
            <a:off x="8915400" y="3666744"/>
            <a:ext cx="23317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9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9" b="1">
                <a:solidFill>
                  <a:srgbClr val="272F38"/>
                </a:solidFill>
                <a:latin typeface="Arial"/>
              </a:rPr>
              <a:t>Ecosystem value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9052560" y="4178808"/>
            <a:ext cx="20574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780" b="0">
                <a:solidFill>
                  <a:srgbClr val="606972"/>
                </a:solidFill>
                <a:latin typeface="Arial"/>
              </a:rPr>
              <a:t>shared skill language + feedback loop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548640" y="4572000"/>
            <a:ext cx="10698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2365A9"/>
                </a:solidFill>
                <a:latin typeface="Arial"/>
              </a:rPr>
              <a:t>◆ Key Challenges → Mitigation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594360" y="4956048"/>
            <a:ext cx="10515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9" b="1">
                <a:solidFill>
                  <a:srgbClr val="272F38"/>
                </a:solidFill>
                <a:latin typeface="Arial"/>
              </a:rPr>
              <a:t>Privacy</a:t>
            </a:r>
          </a:p>
        </p:txBody>
      </p:sp>
      <p:cxnSp>
        <p:nvCxnSpPr>
          <p:cNvPr id="17465" name="Connector 17464"/>
          <p:cNvCxnSpPr/>
          <p:nvPr/>
        </p:nvCxnSpPr>
        <p:spPr>
          <a:xfrm>
            <a:off x="1645919" y="5193792"/>
            <a:ext cx="274321" cy="0"/>
          </a:xfrm>
          <a:prstGeom prst="line">
            <a:avLst/>
          </a:prstGeom>
          <a:ln w="15240">
            <a:solidFill>
              <a:srgbClr val="C2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6" name="Rounded Rectangle 17465"/>
          <p:cNvSpPr/>
          <p:nvPr/>
        </p:nvSpPr>
        <p:spPr>
          <a:xfrm>
            <a:off x="1947672" y="4956048"/>
            <a:ext cx="1325880" cy="475488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750" b="0">
                <a:solidFill>
                  <a:srgbClr val="272F38"/>
                </a:solidFill>
                <a:latin typeface="Arial"/>
              </a:rPr>
              <a:t>RBAC + least privilege + audit trail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3383279" y="4956048"/>
            <a:ext cx="10515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9" b="1">
                <a:solidFill>
                  <a:srgbClr val="272F38"/>
                </a:solidFill>
                <a:latin typeface="Arial"/>
              </a:rPr>
              <a:t>AI quality</a:t>
            </a:r>
          </a:p>
        </p:txBody>
      </p:sp>
      <p:cxnSp>
        <p:nvCxnSpPr>
          <p:cNvPr id="17468" name="Connector 17467"/>
          <p:cNvCxnSpPr/>
          <p:nvPr/>
        </p:nvCxnSpPr>
        <p:spPr>
          <a:xfrm>
            <a:off x="4434840" y="5193792"/>
            <a:ext cx="274319" cy="0"/>
          </a:xfrm>
          <a:prstGeom prst="line">
            <a:avLst/>
          </a:prstGeom>
          <a:ln w="15240">
            <a:solidFill>
              <a:srgbClr val="E7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9" name="Rounded Rectangle 17468"/>
          <p:cNvSpPr/>
          <p:nvPr/>
        </p:nvSpPr>
        <p:spPr>
          <a:xfrm>
            <a:off x="4736592" y="4956048"/>
            <a:ext cx="1325880" cy="475488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750" b="0">
                <a:solidFill>
                  <a:srgbClr val="272F38"/>
                </a:solidFill>
                <a:latin typeface="Arial"/>
              </a:rPr>
              <a:t>Evidence-based scoring + human review</a:t>
            </a:r>
          </a:p>
        </p:txBody>
      </p:sp>
      <p:sp>
        <p:nvSpPr>
          <p:cNvPr id="17470" name="Rounded Rectangle 17469"/>
          <p:cNvSpPr/>
          <p:nvPr/>
        </p:nvSpPr>
        <p:spPr>
          <a:xfrm>
            <a:off x="6172200" y="4956048"/>
            <a:ext cx="10515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8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9" b="1">
                <a:solidFill>
                  <a:srgbClr val="272F38"/>
                </a:solidFill>
                <a:latin typeface="Arial"/>
              </a:rPr>
              <a:t>Skill drift</a:t>
            </a:r>
          </a:p>
        </p:txBody>
      </p:sp>
      <p:cxnSp>
        <p:nvCxnSpPr>
          <p:cNvPr id="17471" name="Connector 17470"/>
          <p:cNvCxnSpPr/>
          <p:nvPr/>
        </p:nvCxnSpPr>
        <p:spPr>
          <a:xfrm>
            <a:off x="7223760" y="5193792"/>
            <a:ext cx="274319" cy="0"/>
          </a:xfrm>
          <a:prstGeom prst="line">
            <a:avLst/>
          </a:prstGeom>
          <a:ln w="15240">
            <a:solidFill>
              <a:srgbClr val="2684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2" name="Rounded Rectangle 17471"/>
          <p:cNvSpPr/>
          <p:nvPr/>
        </p:nvSpPr>
        <p:spPr>
          <a:xfrm>
            <a:off x="7525512" y="4956048"/>
            <a:ext cx="1325880" cy="475488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750" b="0">
                <a:solidFill>
                  <a:srgbClr val="272F38"/>
                </a:solidFill>
                <a:latin typeface="Arial"/>
              </a:rPr>
              <a:t>Versioned skill taxonomy + industry feedback</a:t>
            </a:r>
          </a:p>
        </p:txBody>
      </p:sp>
      <p:sp>
        <p:nvSpPr>
          <p:cNvPr id="17473" name="Rounded Rectangle 17472"/>
          <p:cNvSpPr/>
          <p:nvPr/>
        </p:nvSpPr>
        <p:spPr>
          <a:xfrm>
            <a:off x="8961119" y="4956048"/>
            <a:ext cx="10515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9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9" b="1">
                <a:solidFill>
                  <a:srgbClr val="272F38"/>
                </a:solidFill>
                <a:latin typeface="Arial"/>
              </a:rPr>
              <a:t>Stale opportunities</a:t>
            </a:r>
          </a:p>
        </p:txBody>
      </p:sp>
      <p:cxnSp>
        <p:nvCxnSpPr>
          <p:cNvPr id="17474" name="Connector 17473"/>
          <p:cNvCxnSpPr/>
          <p:nvPr/>
        </p:nvCxnSpPr>
        <p:spPr>
          <a:xfrm>
            <a:off x="10012680" y="5193792"/>
            <a:ext cx="274319" cy="0"/>
          </a:xfrm>
          <a:prstGeom prst="line">
            <a:avLst/>
          </a:prstGeom>
          <a:ln w="15240">
            <a:solidFill>
              <a:srgbClr val="439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5" name="Rounded Rectangle 17474"/>
          <p:cNvSpPr/>
          <p:nvPr/>
        </p:nvSpPr>
        <p:spPr>
          <a:xfrm>
            <a:off x="10314432" y="4956048"/>
            <a:ext cx="1325880" cy="475488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750" b="0">
                <a:solidFill>
                  <a:srgbClr val="272F38"/>
                </a:solidFill>
                <a:latin typeface="Arial"/>
              </a:rPr>
              <a:t>Expiry + timestamps + source tracking</a:t>
            </a:r>
          </a:p>
        </p:txBody>
      </p:sp>
      <p:sp>
        <p:nvSpPr>
          <p:cNvPr id="17476" name="TextBox 17475"/>
          <p:cNvSpPr txBox="1"/>
          <p:nvPr/>
        </p:nvSpPr>
        <p:spPr>
          <a:xfrm>
            <a:off x="640080" y="5715000"/>
            <a:ext cx="10607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1">
                <a:solidFill>
                  <a:srgbClr val="123456"/>
                </a:solidFill>
                <a:latin typeface="Arial"/>
              </a:rPr>
              <a:t>Feasibility conclusion: build incrementally around the existing database and backend, then expand AI and integrations without replacing the core architecture.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23" name="TextBox 17422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300" b="1">
                <a:solidFill>
                  <a:srgbClr val="123456"/>
                </a:solidFill>
                <a:latin typeface="Arial"/>
              </a:rPr>
              <a:t>IMPACT AND BENEFITS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502920" y="1005840"/>
            <a:ext cx="5029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2365A9"/>
                </a:solidFill>
                <a:latin typeface="Arial"/>
              </a:rPr>
              <a:t>◆ Proposed Module Coverage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594360" y="1399032"/>
            <a:ext cx="123444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1">
                <a:solidFill>
                  <a:srgbClr val="272F38"/>
                </a:solidFill>
                <a:latin typeface="Arial"/>
              </a:rPr>
              <a:t>Student OS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1828800" y="1444752"/>
            <a:ext cx="2468880" cy="201168"/>
          </a:xfrm>
          <a:prstGeom prst="rect">
            <a:avLst/>
          </a:prstGeom>
          <a:solidFill>
            <a:srgbClr val="D5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ectangle 17426"/>
          <p:cNvSpPr/>
          <p:nvPr/>
        </p:nvSpPr>
        <p:spPr>
          <a:xfrm>
            <a:off x="1828800" y="1444752"/>
            <a:ext cx="2468880" cy="201168"/>
          </a:xfrm>
          <a:prstGeom prst="rect">
            <a:avLst/>
          </a:prstGeom>
          <a:solidFill>
            <a:srgbClr val="236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594360" y="1993392"/>
            <a:ext cx="123444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1">
                <a:solidFill>
                  <a:srgbClr val="272F38"/>
                </a:solidFill>
                <a:latin typeface="Arial"/>
              </a:rPr>
              <a:t>Institution</a:t>
            </a:r>
          </a:p>
        </p:txBody>
      </p:sp>
      <p:sp>
        <p:nvSpPr>
          <p:cNvPr id="17430" name="Rectangle 17429"/>
          <p:cNvSpPr/>
          <p:nvPr/>
        </p:nvSpPr>
        <p:spPr>
          <a:xfrm>
            <a:off x="1828800" y="2039112"/>
            <a:ext cx="2468880" cy="201168"/>
          </a:xfrm>
          <a:prstGeom prst="rect">
            <a:avLst/>
          </a:prstGeom>
          <a:solidFill>
            <a:srgbClr val="D5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Rectangle 17430"/>
          <p:cNvSpPr/>
          <p:nvPr/>
        </p:nvSpPr>
        <p:spPr>
          <a:xfrm>
            <a:off x="1828800" y="2039112"/>
            <a:ext cx="987552" cy="201168"/>
          </a:xfrm>
          <a:prstGeom prst="rect">
            <a:avLst/>
          </a:prstGeom>
          <a:solidFill>
            <a:srgbClr val="268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594360" y="2587752"/>
            <a:ext cx="123444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1">
                <a:solidFill>
                  <a:srgbClr val="272F38"/>
                </a:solidFill>
                <a:latin typeface="Arial"/>
              </a:rPr>
              <a:t>Industry</a:t>
            </a:r>
          </a:p>
        </p:txBody>
      </p:sp>
      <p:sp>
        <p:nvSpPr>
          <p:cNvPr id="17434" name="Rectangle 17433"/>
          <p:cNvSpPr/>
          <p:nvPr/>
        </p:nvSpPr>
        <p:spPr>
          <a:xfrm>
            <a:off x="1828800" y="2633472"/>
            <a:ext cx="2468880" cy="201168"/>
          </a:xfrm>
          <a:prstGeom prst="rect">
            <a:avLst/>
          </a:prstGeom>
          <a:solidFill>
            <a:srgbClr val="D5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Rectangle 17434"/>
          <p:cNvSpPr/>
          <p:nvPr/>
        </p:nvSpPr>
        <p:spPr>
          <a:xfrm>
            <a:off x="1828800" y="2633472"/>
            <a:ext cx="1481328" cy="201168"/>
          </a:xfrm>
          <a:prstGeom prst="rect">
            <a:avLst/>
          </a:prstGeom>
          <a:solidFill>
            <a:srgbClr val="E7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594360" y="3182112"/>
            <a:ext cx="123444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1">
                <a:solidFill>
                  <a:srgbClr val="272F38"/>
                </a:solidFill>
                <a:latin typeface="Arial"/>
              </a:rPr>
              <a:t>Cross-platform</a:t>
            </a:r>
          </a:p>
        </p:txBody>
      </p:sp>
      <p:sp>
        <p:nvSpPr>
          <p:cNvPr id="17438" name="Rectangle 17437"/>
          <p:cNvSpPr/>
          <p:nvPr/>
        </p:nvSpPr>
        <p:spPr>
          <a:xfrm>
            <a:off x="1828800" y="3227832"/>
            <a:ext cx="2468880" cy="201168"/>
          </a:xfrm>
          <a:prstGeom prst="rect">
            <a:avLst/>
          </a:prstGeom>
          <a:solidFill>
            <a:srgbClr val="D5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Rectangle 17438"/>
          <p:cNvSpPr/>
          <p:nvPr/>
        </p:nvSpPr>
        <p:spPr>
          <a:xfrm>
            <a:off x="1828800" y="3227832"/>
            <a:ext cx="1234440" cy="201168"/>
          </a:xfrm>
          <a:prstGeom prst="rect">
            <a:avLst/>
          </a:prstGeom>
          <a:solidFill>
            <a:srgbClr val="6F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502920" y="3886200"/>
            <a:ext cx="5029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2365A9"/>
                </a:solidFill>
                <a:latin typeface="Arial"/>
              </a:rPr>
              <a:t>◆ Career Readiness Funnel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640079" y="4297680"/>
            <a:ext cx="4572000" cy="256032"/>
          </a:xfrm>
          <a:prstGeom prst="roundRect">
            <a:avLst/>
          </a:prstGeom>
          <a:solidFill>
            <a:srgbClr val="2365A9"/>
          </a:solidFill>
          <a:ln w="12700"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960119" y="4599432"/>
            <a:ext cx="3931920" cy="256032"/>
          </a:xfrm>
          <a:prstGeom prst="roundRect">
            <a:avLst/>
          </a:prstGeom>
          <a:solidFill>
            <a:srgbClr val="26847C"/>
          </a:solidFill>
          <a:ln w="12700">
            <a:solidFill>
              <a:srgbClr val="268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Profile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1280160" y="4901184"/>
            <a:ext cx="3291840" cy="256032"/>
          </a:xfrm>
          <a:prstGeom prst="roundRect">
            <a:avLst/>
          </a:prstGeom>
          <a:solidFill>
            <a:srgbClr val="E77E22"/>
          </a:solidFill>
          <a:ln w="12700">
            <a:solidFill>
              <a:srgbClr val="E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Gap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1600200" y="5202936"/>
            <a:ext cx="2651760" cy="256032"/>
          </a:xfrm>
          <a:prstGeom prst="roundRect">
            <a:avLst/>
          </a:prstGeom>
          <a:solidFill>
            <a:srgbClr val="43945C"/>
          </a:solidFill>
          <a:ln w="12700">
            <a:solidFill>
              <a:srgbClr val="439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Action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1920239" y="5504688"/>
            <a:ext cx="2011680" cy="256032"/>
          </a:xfrm>
          <a:prstGeom prst="roundRect">
            <a:avLst/>
          </a:prstGeom>
          <a:solidFill>
            <a:srgbClr val="6F529B"/>
          </a:solidFill>
          <a:ln w="12700">
            <a:solidFill>
              <a:srgbClr val="6F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Opportunity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5532120" y="1005840"/>
            <a:ext cx="5486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2365A9"/>
                </a:solidFill>
                <a:latin typeface="Arial"/>
              </a:rPr>
              <a:t>◆ Benefits of the Solution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5532120" y="1444752"/>
            <a:ext cx="1234440" cy="475488"/>
          </a:xfrm>
          <a:prstGeom prst="roundRect">
            <a:avLst/>
          </a:prstGeom>
          <a:solidFill>
            <a:srgbClr val="2365A9"/>
          </a:solidFill>
          <a:ln w="12700"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Arial"/>
              </a:rPr>
              <a:t>SOCIAL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6903720" y="1426464"/>
            <a:ext cx="384048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69" b="0">
                <a:solidFill>
                  <a:srgbClr val="272F38"/>
                </a:solidFill>
                <a:latin typeface="Arial"/>
              </a:rPr>
              <a:t>Mentorship, guidance and stronger student–industry connections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5532120" y="2221992"/>
            <a:ext cx="1234440" cy="475488"/>
          </a:xfrm>
          <a:prstGeom prst="roundRect">
            <a:avLst/>
          </a:prstGeom>
          <a:solidFill>
            <a:srgbClr val="26847C"/>
          </a:solidFill>
          <a:ln w="12700">
            <a:solidFill>
              <a:srgbClr val="268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Arial"/>
              </a:rPr>
              <a:t>EDUCATIONAL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6903720" y="2203704"/>
            <a:ext cx="384048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69" b="0">
                <a:solidFill>
                  <a:srgbClr val="272F38"/>
                </a:solidFill>
                <a:latin typeface="Arial"/>
              </a:rPr>
              <a:t>Skill-gap visibility and curriculum alignment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5532120" y="2999232"/>
            <a:ext cx="1234440" cy="475488"/>
          </a:xfrm>
          <a:prstGeom prst="roundRect">
            <a:avLst/>
          </a:prstGeom>
          <a:solidFill>
            <a:srgbClr val="E77E22"/>
          </a:solidFill>
          <a:ln w="12700">
            <a:solidFill>
              <a:srgbClr val="E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Arial"/>
              </a:rPr>
              <a:t>ECONOMIC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6903720" y="2980944"/>
            <a:ext cx="384048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69" b="0">
                <a:solidFill>
                  <a:srgbClr val="272F38"/>
                </a:solidFill>
                <a:latin typeface="Arial"/>
              </a:rPr>
              <a:t>Better opportunity matching and reduced skill mismatch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5532120" y="3776472"/>
            <a:ext cx="1234440" cy="475488"/>
          </a:xfrm>
          <a:prstGeom prst="roundRect">
            <a:avLst/>
          </a:prstGeom>
          <a:solidFill>
            <a:srgbClr val="6F529B"/>
          </a:solidFill>
          <a:ln w="12700">
            <a:solidFill>
              <a:srgbClr val="6F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Arial"/>
              </a:rPr>
              <a:t>TECHNOLOGICAL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6903720" y="3758184"/>
            <a:ext cx="384048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69" b="0">
                <a:solidFill>
                  <a:srgbClr val="272F38"/>
                </a:solidFill>
                <a:latin typeface="Arial"/>
              </a:rPr>
              <a:t>AI-assisted personalization and continuous feedback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5532120" y="4553712"/>
            <a:ext cx="1234440" cy="475488"/>
          </a:xfrm>
          <a:prstGeom prst="roundRect">
            <a:avLst/>
          </a:prstGeom>
          <a:solidFill>
            <a:srgbClr val="43945C"/>
          </a:solidFill>
          <a:ln w="12700">
            <a:solidFill>
              <a:srgbClr val="439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Arial"/>
              </a:rPr>
              <a:t>ENVIRONMENTAL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6903720" y="4535424"/>
            <a:ext cx="384048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69" b="0">
                <a:solidFill>
                  <a:srgbClr val="272F38"/>
                </a:solidFill>
                <a:latin typeface="Arial"/>
              </a:rPr>
              <a:t>More digital mentorship and remote engagement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5532120" y="5349240"/>
            <a:ext cx="5486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1">
                <a:solidFill>
                  <a:srgbClr val="2365A9"/>
                </a:solidFill>
                <a:latin typeface="Arial"/>
              </a:rPr>
              <a:t>◆ From Fragmented → Intelligent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5532120" y="5669280"/>
            <a:ext cx="1874519" cy="475488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C2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72F38"/>
                </a:solidFill>
                <a:latin typeface="Arial"/>
              </a:rPr>
              <a:t>Assessments
in isolation</a:t>
            </a:r>
          </a:p>
        </p:txBody>
      </p:sp>
      <p:cxnSp>
        <p:nvCxnSpPr>
          <p:cNvPr id="17460" name="Connector 17459"/>
          <p:cNvCxnSpPr/>
          <p:nvPr/>
        </p:nvCxnSpPr>
        <p:spPr>
          <a:xfrm>
            <a:off x="7498079" y="5907024"/>
            <a:ext cx="502921" cy="0"/>
          </a:xfrm>
          <a:prstGeom prst="line">
            <a:avLst/>
          </a:prstGeom>
          <a:ln w="25400">
            <a:solidFill>
              <a:srgbClr val="2365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1" name="Rounded Rectangle 17460"/>
          <p:cNvSpPr/>
          <p:nvPr/>
        </p:nvSpPr>
        <p:spPr>
          <a:xfrm>
            <a:off x="8046720" y="5669280"/>
            <a:ext cx="23317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123456"/>
                </a:solidFill>
                <a:latin typeface="Arial"/>
              </a:rPr>
              <a:t>Continuous career
readiness loop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300" b="1">
                <a:solidFill>
                  <a:srgbClr val="123456"/>
                </a:solidFill>
                <a:latin typeface="Arial"/>
              </a:rPr>
              <a:t>RESEARCH AND 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005840"/>
            <a:ext cx="3840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2365A9"/>
                </a:solidFill>
                <a:latin typeface="Arial"/>
              </a:rPr>
              <a:t>◆ Research / Design References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1417320"/>
            <a:ext cx="320040" cy="320040"/>
          </a:xfrm>
          <a:prstGeom prst="ellipse">
            <a:avLst/>
          </a:prstGeom>
          <a:solidFill>
            <a:srgbClr val="2365A9"/>
          </a:solidFill>
          <a:ln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389888"/>
            <a:ext cx="150876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69" b="1">
                <a:solidFill>
                  <a:srgbClr val="123456"/>
                </a:solidFill>
                <a:latin typeface="Arial"/>
              </a:rPr>
              <a:t>SIH PS 26044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1664208"/>
            <a:ext cx="32461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70" b="0">
                <a:solidFill>
                  <a:srgbClr val="272F38"/>
                </a:solidFill>
                <a:latin typeface="Arial"/>
              </a:rPr>
              <a:t>Portal for Academia–Industry Collaboration for Skill Mapping, Internships and Placement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2258568"/>
            <a:ext cx="320040" cy="320040"/>
          </a:xfrm>
          <a:prstGeom prst="ellipse">
            <a:avLst/>
          </a:prstGeom>
          <a:solidFill>
            <a:srgbClr val="2365A9"/>
          </a:solidFill>
          <a:ln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231136"/>
            <a:ext cx="150876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69" b="1">
                <a:solidFill>
                  <a:srgbClr val="123456"/>
                </a:solidFill>
                <a:latin typeface="Arial"/>
              </a:rPr>
              <a:t>Provided SIH template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505456"/>
            <a:ext cx="32461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70" b="0">
                <a:solidFill>
                  <a:srgbClr val="272F38"/>
                </a:solidFill>
                <a:latin typeface="Arial"/>
              </a:rPr>
              <a:t>Six-slide structure; concise points; diagrams / infographics</a:t>
            </a:r>
          </a:p>
        </p:txBody>
      </p:sp>
      <p:sp>
        <p:nvSpPr>
          <p:cNvPr id="21" name="Oval 20"/>
          <p:cNvSpPr/>
          <p:nvPr/>
        </p:nvSpPr>
        <p:spPr>
          <a:xfrm>
            <a:off x="594360" y="3099816"/>
            <a:ext cx="320040" cy="320040"/>
          </a:xfrm>
          <a:prstGeom prst="ellipse">
            <a:avLst/>
          </a:prstGeom>
          <a:solidFill>
            <a:srgbClr val="2365A9"/>
          </a:solidFill>
          <a:ln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072384"/>
            <a:ext cx="150876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69" b="1">
                <a:solidFill>
                  <a:srgbClr val="123456"/>
                </a:solidFill>
                <a:latin typeface="Arial"/>
              </a:rPr>
              <a:t>Product research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346704"/>
            <a:ext cx="32461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70" b="0">
                <a:solidFill>
                  <a:srgbClr val="272F38"/>
                </a:solidFill>
                <a:latin typeface="Arial"/>
              </a:rPr>
              <a:t>Career readiness • assessment • learning • talent matching patterns</a:t>
            </a:r>
          </a:p>
        </p:txBody>
      </p:sp>
      <p:sp>
        <p:nvSpPr>
          <p:cNvPr id="24" name="Oval 23"/>
          <p:cNvSpPr/>
          <p:nvPr/>
        </p:nvSpPr>
        <p:spPr>
          <a:xfrm>
            <a:off x="594360" y="3941064"/>
            <a:ext cx="320040" cy="320040"/>
          </a:xfrm>
          <a:prstGeom prst="ellipse">
            <a:avLst/>
          </a:prstGeom>
          <a:solidFill>
            <a:srgbClr val="2365A9"/>
          </a:solidFill>
          <a:ln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913632"/>
            <a:ext cx="150876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69" b="1">
                <a:solidFill>
                  <a:srgbClr val="123456"/>
                </a:solidFill>
                <a:latin typeface="Arial"/>
              </a:rPr>
              <a:t>Architecture research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187952"/>
            <a:ext cx="32461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70" b="0">
                <a:solidFill>
                  <a:srgbClr val="272F38"/>
                </a:solidFill>
                <a:latin typeface="Arial"/>
              </a:rPr>
              <a:t>REST APIs • RBAC • relational data • analytics • AI recommendation pipelines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1005840"/>
            <a:ext cx="6400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2365A9"/>
                </a:solidFill>
                <a:latin typeface="Arial"/>
              </a:rPr>
              <a:t>◆ Conceptual Comparison with Single-Purpose Systems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00600" y="1417320"/>
            <a:ext cx="1645920" cy="59436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23456"/>
                </a:solidFill>
                <a:latin typeface="Arial"/>
              </a:rPr>
              <a:t>Capability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60" y="1417320"/>
            <a:ext cx="1554480" cy="59436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23456"/>
                </a:solidFill>
                <a:latin typeface="Arial"/>
              </a:rPr>
              <a:t>Career Readiness 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1417320"/>
            <a:ext cx="1051560" cy="59436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23456"/>
                </a:solidFill>
                <a:latin typeface="Arial"/>
              </a:rPr>
              <a:t>Assessment
Portal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26880" y="1417320"/>
            <a:ext cx="1051560" cy="59436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23456"/>
                </a:solidFill>
                <a:latin typeface="Arial"/>
              </a:rPr>
              <a:t>LMS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69880" y="1417320"/>
            <a:ext cx="822960" cy="59436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23456"/>
                </a:solidFill>
                <a:latin typeface="Arial"/>
              </a:rPr>
              <a:t>Job Portal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00600" y="2057400"/>
            <a:ext cx="16459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272F38"/>
                </a:solidFill>
                <a:latin typeface="Arial"/>
              </a:rPr>
              <a:t>Skill profile + gap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37960" y="2057400"/>
            <a:ext cx="15544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43945C"/>
                </a:solidFill>
                <a:latin typeface="Arial"/>
              </a:rPr>
              <a:t>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3879" y="2057400"/>
            <a:ext cx="10515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E77E22"/>
                </a:solidFill>
                <a:latin typeface="Arial"/>
              </a:rPr>
              <a:t>△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26880" y="2057400"/>
            <a:ext cx="10515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E77E22"/>
                </a:solidFill>
                <a:latin typeface="Arial"/>
              </a:rPr>
              <a:t>△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469880" y="2057400"/>
            <a:ext cx="8229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C24343"/>
                </a:solidFill>
                <a:latin typeface="Arial"/>
              </a:rPr>
              <a:t>×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00600" y="2514600"/>
            <a:ext cx="16459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272F38"/>
                </a:solidFill>
                <a:latin typeface="Arial"/>
              </a:rPr>
              <a:t>Personalized roadmap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37960" y="2514600"/>
            <a:ext cx="15544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43945C"/>
                </a:solidFill>
                <a:latin typeface="Arial"/>
              </a:rPr>
              <a:t>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83879" y="2514600"/>
            <a:ext cx="10515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E77E22"/>
                </a:solidFill>
                <a:latin typeface="Arial"/>
              </a:rPr>
              <a:t>△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26880" y="2514600"/>
            <a:ext cx="10515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43945C"/>
                </a:solidFill>
                <a:latin typeface="Arial"/>
              </a:rPr>
              <a:t>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69880" y="2514600"/>
            <a:ext cx="8229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C24343"/>
                </a:solidFill>
                <a:latin typeface="Arial"/>
              </a:rPr>
              <a:t>×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00600" y="2971800"/>
            <a:ext cx="16459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272F38"/>
                </a:solidFill>
                <a:latin typeface="Arial"/>
              </a:rPr>
              <a:t>Daily planner + streak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37960" y="2971800"/>
            <a:ext cx="15544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43945C"/>
                </a:solidFill>
                <a:latin typeface="Arial"/>
              </a:rPr>
              <a:t>✓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83879" y="2971800"/>
            <a:ext cx="10515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C24343"/>
                </a:solidFill>
                <a:latin typeface="Arial"/>
              </a:rPr>
              <a:t>×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326880" y="2971800"/>
            <a:ext cx="10515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E77E22"/>
                </a:solidFill>
                <a:latin typeface="Arial"/>
              </a:rPr>
              <a:t>△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469880" y="2971800"/>
            <a:ext cx="8229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C24343"/>
                </a:solidFill>
                <a:latin typeface="Arial"/>
              </a:rPr>
              <a:t>×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00600" y="3429000"/>
            <a:ext cx="16459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272F38"/>
                </a:solidFill>
                <a:latin typeface="Arial"/>
              </a:rPr>
              <a:t>Institution skill analytics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37960" y="3429000"/>
            <a:ext cx="15544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43945C"/>
                </a:solidFill>
                <a:latin typeface="Arial"/>
              </a:rPr>
              <a:t>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83879" y="3429000"/>
            <a:ext cx="10515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E77E22"/>
                </a:solidFill>
                <a:latin typeface="Arial"/>
              </a:rPr>
              <a:t>△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26880" y="3429000"/>
            <a:ext cx="10515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43945C"/>
                </a:solidFill>
                <a:latin typeface="Arial"/>
              </a:rPr>
              <a:t>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469880" y="3429000"/>
            <a:ext cx="8229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C24343"/>
                </a:solidFill>
                <a:latin typeface="Arial"/>
              </a:rPr>
              <a:t>×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800600" y="3886200"/>
            <a:ext cx="16459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272F38"/>
                </a:solidFill>
                <a:latin typeface="Arial"/>
              </a:rPr>
              <a:t>Industry skill requirements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37960" y="3886200"/>
            <a:ext cx="15544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43945C"/>
                </a:solidFill>
                <a:latin typeface="Arial"/>
              </a:rPr>
              <a:t>✓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83879" y="3886200"/>
            <a:ext cx="10515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C24343"/>
                </a:solidFill>
                <a:latin typeface="Arial"/>
              </a:rPr>
              <a:t>×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326880" y="3886200"/>
            <a:ext cx="10515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C24343"/>
                </a:solidFill>
                <a:latin typeface="Arial"/>
              </a:rPr>
              <a:t>×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469880" y="3886200"/>
            <a:ext cx="8229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43945C"/>
                </a:solidFill>
                <a:latin typeface="Arial"/>
              </a:rPr>
              <a:t>✓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800600" y="4343400"/>
            <a:ext cx="16459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272F38"/>
                </a:solidFill>
                <a:latin typeface="Arial"/>
              </a:rPr>
              <a:t>Jobs + internships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37960" y="4343400"/>
            <a:ext cx="15544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43945C"/>
                </a:solidFill>
                <a:latin typeface="Arial"/>
              </a:rPr>
              <a:t>✓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83879" y="4343400"/>
            <a:ext cx="10515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C24343"/>
                </a:solidFill>
                <a:latin typeface="Arial"/>
              </a:rPr>
              <a:t>×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326880" y="4343400"/>
            <a:ext cx="10515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C24343"/>
                </a:solidFill>
                <a:latin typeface="Arial"/>
              </a:rPr>
              <a:t>×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469880" y="4343400"/>
            <a:ext cx="8229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43945C"/>
                </a:solidFill>
                <a:latin typeface="Arial"/>
              </a:rPr>
              <a:t>✓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00600" y="4800600"/>
            <a:ext cx="16459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272F38"/>
                </a:solidFill>
                <a:latin typeface="Arial"/>
              </a:rPr>
              <a:t>Mock interview + resume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37960" y="4800600"/>
            <a:ext cx="15544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43945C"/>
                </a:solidFill>
                <a:latin typeface="Arial"/>
              </a:rPr>
              <a:t>✓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83879" y="4800600"/>
            <a:ext cx="10515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E77E22"/>
                </a:solidFill>
                <a:latin typeface="Arial"/>
              </a:rPr>
              <a:t>△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326880" y="4800600"/>
            <a:ext cx="10515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C24343"/>
                </a:solidFill>
                <a:latin typeface="Arial"/>
              </a:rPr>
              <a:t>×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469880" y="4800600"/>
            <a:ext cx="8229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E77E22"/>
                </a:solidFill>
                <a:latin typeface="Arial"/>
              </a:rPr>
              <a:t>△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800600" y="5257800"/>
            <a:ext cx="16459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272F38"/>
                </a:solidFill>
                <a:latin typeface="Arial"/>
              </a:rPr>
              <a:t>Feedback loop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537960" y="5257800"/>
            <a:ext cx="15544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43945C"/>
                </a:solidFill>
                <a:latin typeface="Arial"/>
              </a:rPr>
              <a:t>✓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183879" y="5257800"/>
            <a:ext cx="10515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E77E22"/>
                </a:solidFill>
                <a:latin typeface="Arial"/>
              </a:rPr>
              <a:t>△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326880" y="5257800"/>
            <a:ext cx="10515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43945C"/>
                </a:solidFill>
                <a:latin typeface="Arial"/>
              </a:rPr>
              <a:t>✓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469880" y="5257800"/>
            <a:ext cx="8229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E77E22"/>
                </a:solidFill>
                <a:latin typeface="Arial"/>
              </a:rPr>
              <a:t>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00600" y="5806440"/>
            <a:ext cx="6217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606972"/>
                </a:solidFill>
                <a:latin typeface="Arial"/>
              </a:rPr>
              <a:t>✓ Core focus   △ Partial / indirect   × Not the primary purpose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5989320"/>
            <a:ext cx="10789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780" b="0">
                <a:solidFill>
                  <a:srgbClr val="606972"/>
                </a:solidFill>
                <a:latin typeface="Arial"/>
              </a:rPr>
              <a:t>Comparison is conceptual and based on the functional scope defined for this proposed platform; it is not a benchmark of named commercial products.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94360" y="1417320"/>
            <a:ext cx="320040" cy="320040"/>
          </a:xfrm>
          <a:prstGeom prst="ellipse">
            <a:avLst/>
          </a:prstGeom>
          <a:solidFill>
            <a:srgbClr val="2365A9"/>
          </a:solidFill>
          <a:ln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2258568"/>
            <a:ext cx="320040" cy="320040"/>
          </a:xfrm>
          <a:prstGeom prst="ellipse">
            <a:avLst/>
          </a:prstGeom>
          <a:solidFill>
            <a:srgbClr val="2365A9"/>
          </a:solidFill>
          <a:ln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1" name="Oval 20"/>
          <p:cNvSpPr/>
          <p:nvPr/>
        </p:nvSpPr>
        <p:spPr>
          <a:xfrm>
            <a:off x="594360" y="3099816"/>
            <a:ext cx="320040" cy="320040"/>
          </a:xfrm>
          <a:prstGeom prst="ellipse">
            <a:avLst/>
          </a:prstGeom>
          <a:solidFill>
            <a:srgbClr val="2365A9"/>
          </a:solidFill>
          <a:ln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4" name="Oval 23"/>
          <p:cNvSpPr/>
          <p:nvPr/>
        </p:nvSpPr>
        <p:spPr>
          <a:xfrm>
            <a:off x="594360" y="3941064"/>
            <a:ext cx="320040" cy="320040"/>
          </a:xfrm>
          <a:prstGeom prst="ellipse">
            <a:avLst/>
          </a:prstGeom>
          <a:solidFill>
            <a:srgbClr val="2365A9"/>
          </a:solidFill>
          <a:ln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320040"/>
            <a:ext cx="11338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123456"/>
                </a:solidFill>
                <a:latin typeface="Arial"/>
              </a:rPr>
              <a:t>COMPETITOR COMPARISON — WHY OUR PLATFORM IS THE BEST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713232"/>
            <a:ext cx="110642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2365A9"/>
                </a:solidFill>
                <a:latin typeface="Arial"/>
              </a:rPr>
              <a:t>The differentiator is a continuous, evidence-driven skill intelligence loop — not just a collection of career features.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1024128"/>
            <a:ext cx="2907792" cy="365760"/>
          </a:xfrm>
          <a:prstGeom prst="roundRect">
            <a:avLst/>
          </a:prstGeom>
          <a:solidFill>
            <a:srgbClr val="2365A9"/>
          </a:solidFill>
          <a:ln w="7620"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0" b="1">
                <a:solidFill>
                  <a:srgbClr val="FFFFFF"/>
                </a:solidFill>
                <a:latin typeface="Arial"/>
              </a:rPr>
              <a:t>Feature / Capability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56432" y="1024128"/>
            <a:ext cx="1481328" cy="365760"/>
          </a:xfrm>
          <a:prstGeom prst="roundRect">
            <a:avLst/>
          </a:prstGeom>
          <a:solidFill>
            <a:srgbClr val="43945C"/>
          </a:solidFill>
          <a:ln w="7620">
            <a:solidFill>
              <a:srgbClr val="439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0" b="1">
                <a:solidFill>
                  <a:srgbClr val="FFFFFF"/>
                </a:solidFill>
                <a:latin typeface="Arial"/>
              </a:rPr>
              <a:t>✓ OUR PLATFORM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74920" y="1024128"/>
            <a:ext cx="1143000" cy="365760"/>
          </a:xfrm>
          <a:prstGeom prst="roundRect">
            <a:avLst/>
          </a:prstGeom>
          <a:solidFill>
            <a:srgbClr val="2365A9"/>
          </a:solidFill>
          <a:ln w="7620"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0" b="1">
                <a:solidFill>
                  <a:srgbClr val="FFFFFF"/>
                </a:solidFill>
                <a:latin typeface="Arial"/>
              </a:rPr>
              <a:t>iKlavya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27648" y="1024128"/>
            <a:ext cx="1143000" cy="365760"/>
          </a:xfrm>
          <a:prstGeom prst="roundRect">
            <a:avLst/>
          </a:prstGeom>
          <a:solidFill>
            <a:srgbClr val="2365A9"/>
          </a:solidFill>
          <a:ln w="7620"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0" b="1">
                <a:solidFill>
                  <a:srgbClr val="FFFFFF"/>
                </a:solidFill>
                <a:latin typeface="Arial"/>
              </a:rPr>
              <a:t>Superset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0375" y="1024128"/>
            <a:ext cx="1143000" cy="365760"/>
          </a:xfrm>
          <a:prstGeom prst="roundRect">
            <a:avLst/>
          </a:prstGeom>
          <a:solidFill>
            <a:srgbClr val="2365A9"/>
          </a:solidFill>
          <a:ln w="7620"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0" b="1">
                <a:solidFill>
                  <a:srgbClr val="FFFFFF"/>
                </a:solidFill>
                <a:latin typeface="Arial"/>
              </a:rPr>
              <a:t>Unstop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33104" y="1024128"/>
            <a:ext cx="1783080" cy="365760"/>
          </a:xfrm>
          <a:prstGeom prst="roundRect">
            <a:avLst/>
          </a:prstGeom>
          <a:solidFill>
            <a:srgbClr val="2365A9"/>
          </a:solidFill>
          <a:ln w="7620"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0" b="1">
                <a:solidFill>
                  <a:srgbClr val="FFFFFF"/>
                </a:solidFill>
                <a:latin typeface="Arial"/>
              </a:rPr>
              <a:t>LinkedIn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1435608"/>
            <a:ext cx="2907792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615" b="0">
                <a:solidFill>
                  <a:srgbClr val="272F38"/>
                </a:solidFill>
                <a:latin typeface="Arial"/>
              </a:rPr>
              <a:t>AI Career Guidance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56432" y="1435608"/>
            <a:ext cx="1481328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Advanced &amp; Personalized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74920" y="1435608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Basic Guidance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27648" y="1435608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Career Resources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80375" y="1435608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C24343"/>
                </a:solidFill>
                <a:latin typeface="Arial"/>
              </a:rPr>
              <a:t>× Not Available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33104" y="1435608"/>
            <a:ext cx="178308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Limited Insights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1668780"/>
            <a:ext cx="2907792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615" b="0">
                <a:solidFill>
                  <a:srgbClr val="272F38"/>
                </a:solidFill>
                <a:latin typeface="Arial"/>
              </a:rPr>
              <a:t>AI Resume Builder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56432" y="1668780"/>
            <a:ext cx="1481328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AI Optimized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74920" y="1668780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Available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27648" y="1668780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Available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80375" y="1668780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C24343"/>
                </a:solidFill>
                <a:latin typeface="Arial"/>
              </a:rPr>
              <a:t>× Not Available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33104" y="1668780"/>
            <a:ext cx="178308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C24343"/>
                </a:solidFill>
                <a:latin typeface="Arial"/>
              </a:rPr>
              <a:t>× Not Available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1901952"/>
            <a:ext cx="2907792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615" b="0">
                <a:solidFill>
                  <a:srgbClr val="272F38"/>
                </a:solidFill>
                <a:latin typeface="Arial"/>
              </a:rPr>
              <a:t>AI Mock Interview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56432" y="1901952"/>
            <a:ext cx="1481328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Adaptive &amp; AI Driven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74920" y="1901952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Available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27648" y="1901952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Available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80375" y="1901952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Available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33104" y="1901952"/>
            <a:ext cx="178308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C24343"/>
                </a:solidFill>
                <a:latin typeface="Arial"/>
              </a:rPr>
              <a:t>× Not Available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11480" y="2135124"/>
            <a:ext cx="2907792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615" b="0">
                <a:solidFill>
                  <a:srgbClr val="272F38"/>
                </a:solidFill>
                <a:latin typeface="Arial"/>
              </a:rPr>
              <a:t>Jobs &amp; Internships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56432" y="2135124"/>
            <a:ext cx="1481328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Curated + AI Matched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74920" y="2135124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Available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27648" y="2135124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Available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580375" y="2135124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Available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833104" y="2135124"/>
            <a:ext cx="178308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Yes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11480" y="2368296"/>
            <a:ext cx="2907792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615" b="0">
                <a:solidFill>
                  <a:srgbClr val="272F38"/>
                </a:solidFill>
                <a:latin typeface="Arial"/>
              </a:rPr>
              <a:t>Skill Assessment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456432" y="2368296"/>
            <a:ext cx="1481328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20–30 Q AI Diagnostic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074920" y="2368296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Available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27648" y="2368296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Available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580375" y="2368296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Available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833104" y="2368296"/>
            <a:ext cx="178308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C24343"/>
                </a:solidFill>
                <a:latin typeface="Arial"/>
              </a:rPr>
              <a:t>× Not Available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1480" y="2601468"/>
            <a:ext cx="2907792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615" b="0">
                <a:solidFill>
                  <a:srgbClr val="272F38"/>
                </a:solidFill>
                <a:latin typeface="Arial"/>
              </a:rPr>
              <a:t>Skill Gap Detection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456432" y="2601468"/>
            <a:ext cx="1481328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Evidence Based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74920" y="2601468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EBB82A"/>
                </a:solidFill>
                <a:latin typeface="Arial"/>
              </a:rPr>
              <a:t>● Basic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327648" y="2601468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EBB82A"/>
                </a:solidFill>
                <a:latin typeface="Arial"/>
              </a:rPr>
              <a:t>● Limited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580375" y="2601468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EBB82A"/>
                </a:solidFill>
                <a:latin typeface="Arial"/>
              </a:rPr>
              <a:t>● Limited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833104" y="2601468"/>
            <a:ext cx="178308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EBB82A"/>
                </a:solidFill>
                <a:latin typeface="Arial"/>
              </a:rPr>
              <a:t>● Limited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11480" y="2834640"/>
            <a:ext cx="2907792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615" b="0">
                <a:solidFill>
                  <a:srgbClr val="272F38"/>
                </a:solidFill>
                <a:latin typeface="Arial"/>
              </a:rPr>
              <a:t>Personalized Learning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456432" y="2834640"/>
            <a:ext cx="1481328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AI Driven &amp; Adaptive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74920" y="2834640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Available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327648" y="2834640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EBB82A"/>
                </a:solidFill>
                <a:latin typeface="Arial"/>
              </a:rPr>
              <a:t>● Available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580375" y="2834640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Available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833104" y="2834640"/>
            <a:ext cx="178308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Limited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11480" y="3067812"/>
            <a:ext cx="2907792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615" b="1">
                <a:solidFill>
                  <a:srgbClr val="272F38"/>
                </a:solidFill>
                <a:latin typeface="Arial"/>
              </a:rPr>
              <a:t>Continuous Skill Updating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456432" y="3067812"/>
            <a:ext cx="1481328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Auto Update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074920" y="3067812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EBB82A"/>
                </a:solidFill>
                <a:latin typeface="Arial"/>
              </a:rPr>
              <a:t>● Manual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327648" y="3067812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C24343"/>
                </a:solidFill>
                <a:latin typeface="Arial"/>
              </a:rPr>
              <a:t>× Not Available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580375" y="3067812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C24343"/>
                </a:solidFill>
                <a:latin typeface="Arial"/>
              </a:rPr>
              <a:t>× Not Available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833104" y="3067812"/>
            <a:ext cx="178308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C24343"/>
                </a:solidFill>
                <a:latin typeface="Arial"/>
              </a:rPr>
              <a:t>× Not Available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11480" y="3300984"/>
            <a:ext cx="2907792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615" b="1">
                <a:solidFill>
                  <a:srgbClr val="272F38"/>
                </a:solidFill>
                <a:latin typeface="Arial"/>
              </a:rPr>
              <a:t>Evidence-Based Skill Profile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456432" y="3300984"/>
            <a:ext cx="1481328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Projects, Tests, GitHub, Courses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074920" y="3300984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EBB82A"/>
                </a:solidFill>
                <a:latin typeface="Arial"/>
              </a:rPr>
              <a:t>● Partial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327648" y="3300984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EBB82A"/>
                </a:solidFill>
                <a:latin typeface="Arial"/>
              </a:rPr>
              <a:t>● Partial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580375" y="3300984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EBB82A"/>
                </a:solidFill>
                <a:latin typeface="Arial"/>
              </a:rPr>
              <a:t>● Partial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833104" y="3300984"/>
            <a:ext cx="178308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C24343"/>
                </a:solidFill>
                <a:latin typeface="Arial"/>
              </a:rPr>
              <a:t>× Not Available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11480" y="3534156"/>
            <a:ext cx="2907792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615" b="1">
                <a:solidFill>
                  <a:srgbClr val="272F38"/>
                </a:solidFill>
                <a:latin typeface="Arial"/>
              </a:rPr>
              <a:t>Resource → Test → Skill Update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456432" y="3534156"/>
            <a:ext cx="1481328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Closed Loop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074920" y="3534156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EBB82A"/>
                </a:solidFill>
                <a:latin typeface="Arial"/>
              </a:rPr>
              <a:t>● Partial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327648" y="3534156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C24343"/>
                </a:solidFill>
                <a:latin typeface="Arial"/>
              </a:rPr>
              <a:t>× Not Available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580375" y="3534156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EBB82A"/>
                </a:solidFill>
                <a:latin typeface="Arial"/>
              </a:rPr>
              <a:t>● Partial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833104" y="3534156"/>
            <a:ext cx="178308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C24343"/>
                </a:solidFill>
                <a:latin typeface="Arial"/>
              </a:rPr>
              <a:t>× Not Available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11480" y="3767328"/>
            <a:ext cx="2907792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615" b="1">
                <a:solidFill>
                  <a:srgbClr val="272F38"/>
                </a:solidFill>
                <a:latin typeface="Arial"/>
              </a:rPr>
              <a:t>80% Skill Verification Rule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456432" y="3767328"/>
            <a:ext cx="1481328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Quality Assurance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074920" y="3767328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C24343"/>
                </a:solidFill>
                <a:latin typeface="Arial"/>
              </a:rPr>
              <a:t>×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327648" y="3767328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C24343"/>
                </a:solidFill>
                <a:latin typeface="Arial"/>
              </a:rPr>
              <a:t>×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580375" y="3767328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C24343"/>
                </a:solidFill>
                <a:latin typeface="Arial"/>
              </a:rPr>
              <a:t>×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833104" y="3767328"/>
            <a:ext cx="178308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C24343"/>
                </a:solidFill>
                <a:latin typeface="Arial"/>
              </a:rPr>
              <a:t>×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11480" y="4000500"/>
            <a:ext cx="2907792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615" b="0">
                <a:solidFill>
                  <a:srgbClr val="272F38"/>
                </a:solidFill>
                <a:latin typeface="Arial"/>
              </a:rPr>
              <a:t>Easy → Medium → Hard Adaptive Tests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456432" y="4000500"/>
            <a:ext cx="1481328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Adaptive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074920" y="4000500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EBB82A"/>
                </a:solidFill>
                <a:latin typeface="Arial"/>
              </a:rPr>
              <a:t>● Limited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327648" y="4000500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EBB82A"/>
                </a:solidFill>
                <a:latin typeface="Arial"/>
              </a:rPr>
              <a:t>● Limited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580375" y="4000500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Adaptive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833104" y="4000500"/>
            <a:ext cx="178308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C24343"/>
                </a:solidFill>
                <a:latin typeface="Arial"/>
              </a:rPr>
              <a:t>× Not Available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11480" y="4233672"/>
            <a:ext cx="2907792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615" b="1">
                <a:solidFill>
                  <a:srgbClr val="272F38"/>
                </a:solidFill>
                <a:latin typeface="Arial"/>
              </a:rPr>
              <a:t>AI Daily Timetable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456432" y="4233672"/>
            <a:ext cx="1481328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Personalized Planner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5074920" y="4233672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C24343"/>
                </a:solidFill>
                <a:latin typeface="Arial"/>
              </a:rPr>
              <a:t>×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327648" y="4233672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C24343"/>
                </a:solidFill>
                <a:latin typeface="Arial"/>
              </a:rPr>
              <a:t>×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580375" y="4233672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EBB82A"/>
                </a:solidFill>
                <a:latin typeface="Arial"/>
              </a:rPr>
              <a:t>● Partial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833104" y="4233672"/>
            <a:ext cx="178308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C24343"/>
                </a:solidFill>
                <a:latin typeface="Arial"/>
              </a:rPr>
              <a:t>×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411480" y="4466844"/>
            <a:ext cx="2907792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615" b="1">
                <a:solidFill>
                  <a:srgbClr val="272F38"/>
                </a:solidFill>
                <a:latin typeface="Arial"/>
              </a:rPr>
              <a:t>Streak System for Learning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3456432" y="4466844"/>
            <a:ext cx="1481328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Gamified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5074920" y="4466844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EBB82A"/>
                </a:solidFill>
                <a:latin typeface="Arial"/>
              </a:rPr>
              <a:t>● Available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327648" y="4466844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C24343"/>
                </a:solidFill>
                <a:latin typeface="Arial"/>
              </a:rPr>
              <a:t>×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7580375" y="4466844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EBB82A"/>
                </a:solidFill>
                <a:latin typeface="Arial"/>
              </a:rPr>
              <a:t>● Available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8833104" y="4466844"/>
            <a:ext cx="178308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EBB82A"/>
                </a:solidFill>
                <a:latin typeface="Arial"/>
              </a:rPr>
              <a:t>● Available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11480" y="4700016"/>
            <a:ext cx="2907792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615" b="1">
                <a:solidFill>
                  <a:srgbClr val="272F38"/>
                </a:solidFill>
                <a:latin typeface="Arial"/>
              </a:rPr>
              <a:t>XP / Gamified Skill Progression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456432" y="4700016"/>
            <a:ext cx="1481328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XP + Levels + Rewards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074920" y="4700016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EBB82A"/>
                </a:solidFill>
                <a:latin typeface="Arial"/>
              </a:rPr>
              <a:t>● Available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327648" y="4700016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C24343"/>
                </a:solidFill>
                <a:latin typeface="Arial"/>
              </a:rPr>
              <a:t>×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7580375" y="4700016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Gamified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8833104" y="4700016"/>
            <a:ext cx="178308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EBB82A"/>
                </a:solidFill>
                <a:latin typeface="Arial"/>
              </a:rPr>
              <a:t>● Limited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411480" y="4933188"/>
            <a:ext cx="2907792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615" b="1">
                <a:solidFill>
                  <a:srgbClr val="272F38"/>
                </a:solidFill>
                <a:latin typeface="Arial"/>
              </a:rPr>
              <a:t>Dynamic Career Readiness Score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456432" y="4933188"/>
            <a:ext cx="1481328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Real-time Score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5074920" y="4933188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Partial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327648" y="4933188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EBB82A"/>
                </a:solidFill>
                <a:latin typeface="Arial"/>
              </a:rPr>
              <a:t>● Partial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7580375" y="4933188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EBB82A"/>
                </a:solidFill>
                <a:latin typeface="Arial"/>
              </a:rPr>
              <a:t>● Partial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8833104" y="4933188"/>
            <a:ext cx="178308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C24343"/>
                </a:solidFill>
                <a:latin typeface="Arial"/>
              </a:rPr>
              <a:t>× Not Available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11480" y="5166360"/>
            <a:ext cx="2907792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615" b="1">
                <a:solidFill>
                  <a:srgbClr val="272F38"/>
                </a:solidFill>
                <a:latin typeface="Arial"/>
              </a:rPr>
              <a:t>Skill Evidence Graph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3456432" y="5166360"/>
            <a:ext cx="1481328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43945C"/>
                </a:solidFill>
                <a:latin typeface="Arial"/>
              </a:rPr>
              <a:t>✓ Visual Skill Map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074920" y="5166360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C24343"/>
                </a:solidFill>
                <a:latin typeface="Arial"/>
              </a:rPr>
              <a:t>×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327648" y="5166360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C24343"/>
                </a:solidFill>
                <a:latin typeface="Arial"/>
              </a:rPr>
              <a:t>×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7580375" y="5166360"/>
            <a:ext cx="114300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C24343"/>
                </a:solidFill>
                <a:latin typeface="Arial"/>
              </a:rPr>
              <a:t>×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8833104" y="5166360"/>
            <a:ext cx="1783080" cy="23317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5" b="1">
                <a:solidFill>
                  <a:srgbClr val="C24343"/>
                </a:solidFill>
                <a:latin typeface="Arial"/>
              </a:rPr>
              <a:t>× Limited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57200" y="5596128"/>
            <a:ext cx="1097280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123456"/>
                </a:solidFill>
                <a:latin typeface="Arial"/>
              </a:rPr>
              <a:t>WHY OUR PLATFORM STANDS OUT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02920" y="5870448"/>
            <a:ext cx="3566160" cy="310896"/>
          </a:xfrm>
          <a:prstGeom prst="roundRect">
            <a:avLst/>
          </a:prstGeom>
          <a:solidFill>
            <a:srgbClr val="F3F7FA"/>
          </a:solidFill>
          <a:ln w="7620">
            <a:solidFill>
              <a:srgbClr val="23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610" b="1">
                <a:solidFill>
                  <a:srgbClr val="272F38"/>
                </a:solidFill>
                <a:latin typeface="Arial"/>
              </a:rPr>
              <a:t>1. End-to-end: Assess → Learn → Grow → Get Hired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4325112" y="5870448"/>
            <a:ext cx="3566160" cy="310896"/>
          </a:xfrm>
          <a:prstGeom prst="roundRect">
            <a:avLst/>
          </a:prstGeom>
          <a:solidFill>
            <a:srgbClr val="F3F7FA"/>
          </a:solidFill>
          <a:ln w="7620">
            <a:solidFill>
              <a:srgbClr val="268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610" b="1">
                <a:solidFill>
                  <a:srgbClr val="272F38"/>
                </a:solidFill>
                <a:latin typeface="Arial"/>
              </a:rPr>
              <a:t>2. Closed loop: Resource → Test → Update → Verify → Improve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8147304" y="5870448"/>
            <a:ext cx="3566160" cy="310896"/>
          </a:xfrm>
          <a:prstGeom prst="roundRect">
            <a:avLst/>
          </a:prstGeom>
          <a:solidFill>
            <a:srgbClr val="F3F7FA"/>
          </a:solidFill>
          <a:ln w="7620">
            <a:solidFill>
              <a:srgbClr val="439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610" b="1">
                <a:solidFill>
                  <a:srgbClr val="272F38"/>
                </a:solidFill>
                <a:latin typeface="Arial"/>
              </a:rPr>
              <a:t>3. Evidence-based profile + Skill Evidence Graph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02920" y="6254496"/>
            <a:ext cx="3566160" cy="310896"/>
          </a:xfrm>
          <a:prstGeom prst="roundRect">
            <a:avLst/>
          </a:prstGeom>
          <a:solidFill>
            <a:srgbClr val="F3F7FA"/>
          </a:solidFill>
          <a:ln w="7620">
            <a:solidFill>
              <a:srgbClr val="E7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610" b="1">
                <a:solidFill>
                  <a:srgbClr val="272F38"/>
                </a:solidFill>
                <a:latin typeface="Arial"/>
              </a:rPr>
              <a:t>4. Adaptive learning + Daily Planner + Streaks + XP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4325112" y="6254496"/>
            <a:ext cx="3566160" cy="310896"/>
          </a:xfrm>
          <a:prstGeom prst="roundRect">
            <a:avLst/>
          </a:prstGeom>
          <a:solidFill>
            <a:srgbClr val="F3F7FA"/>
          </a:solidFill>
          <a:ln w="7620">
            <a:solidFill>
              <a:srgbClr val="C2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610" b="1">
                <a:solidFill>
                  <a:srgbClr val="272F38"/>
                </a:solidFill>
                <a:latin typeface="Arial"/>
              </a:rPr>
              <a:t>5. Academia + Industry + Students in one intelligence layer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48640" y="6629400"/>
            <a:ext cx="1078992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80" b="0">
                <a:solidFill>
                  <a:srgbClr val="606972"/>
                </a:solidFill>
                <a:latin typeface="Arial"/>
              </a:rPr>
              <a:t>✓ Core/strong   ● Partial/basic/limited   × Not a primary offering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