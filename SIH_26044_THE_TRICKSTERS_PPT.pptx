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91" r:id="rId2"/>
    <p:sldId id="256" r:id="rId3"/>
    <p:sldId id="260" r:id="rId4"/>
    <p:sldId id="263" r:id="rId5"/>
    <p:sldId id="265" r:id="rId6"/>
    <p:sldId id="266"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910C"/>
    <a:srgbClr val="FFF7E1"/>
    <a:srgbClr val="00B050"/>
    <a:srgbClr val="558ED5"/>
    <a:srgbClr val="FF5050"/>
    <a:srgbClr val="F4EDFF"/>
    <a:srgbClr val="E8F5FF"/>
    <a:srgbClr val="EBF9EE"/>
    <a:srgbClr val="FFEEEE"/>
    <a:srgbClr val="3366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06" autoAdjust="0"/>
    <p:restoredTop sz="94660"/>
  </p:normalViewPr>
  <p:slideViewPr>
    <p:cSldViewPr snapToGrid="0" snapToObjects="1">
      <p:cViewPr varScale="1">
        <p:scale>
          <a:sx n="90" d="100"/>
          <a:sy n="90" d="100"/>
        </p:scale>
        <p:origin x="60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495DDA-4E73-4845-9629-E08FBE0C6309}" type="datetimeFigureOut">
              <a:rPr lang="en-IN" smtClean="0"/>
              <a:t>18-09-2026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FAB239-46E7-43A8-9654-EE4CD5347AEC}" type="slidenum">
              <a:rPr lang="en-IN" smtClean="0"/>
              <a:t>‹#›</a:t>
            </a:fld>
            <a:endParaRPr lang="en-IN"/>
          </a:p>
        </p:txBody>
      </p:sp>
    </p:spTree>
    <p:extLst>
      <p:ext uri="{BB962C8B-B14F-4D97-AF65-F5344CB8AC3E}">
        <p14:creationId xmlns:p14="http://schemas.microsoft.com/office/powerpoint/2010/main" val="2336977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Editable recreation of the supplied reference slide. All major headings, body text, cards, dividers and metric elements are native PowerPoint objects. Icons are editable text symbols so they can be replaced or recolored.</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559786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svg"/><Relationship Id="rId18" Type="http://schemas.openxmlformats.org/officeDocument/2006/relationships/image" Target="../media/image18.png"/><Relationship Id="rId3" Type="http://schemas.openxmlformats.org/officeDocument/2006/relationships/image" Target="../media/image3.png"/><Relationship Id="rId21"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svg"/><Relationship Id="rId25" Type="http://schemas.openxmlformats.org/officeDocument/2006/relationships/image" Target="../media/image25.sv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image" Target="../media/image24.png"/><Relationship Id="rId5" Type="http://schemas.openxmlformats.org/officeDocument/2006/relationships/image" Target="../media/image5.png"/><Relationship Id="rId15" Type="http://schemas.openxmlformats.org/officeDocument/2006/relationships/image" Target="../media/image15.svg"/><Relationship Id="rId23" Type="http://schemas.openxmlformats.org/officeDocument/2006/relationships/image" Target="../media/image23.jpe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image" Target="../media/image22.png"/></Relationships>
</file>

<file path=ppt/slides/_rels/slide3.xml.rels><?xml version="1.0" encoding="UTF-8" standalone="yes"?>
<Relationships xmlns="http://schemas.openxmlformats.org/package/2006/relationships"><Relationship Id="rId26" Type="http://schemas.openxmlformats.org/officeDocument/2006/relationships/image" Target="../media/image50.png"/><Relationship Id="rId21" Type="http://schemas.openxmlformats.org/officeDocument/2006/relationships/image" Target="../media/image45.svg"/><Relationship Id="rId34" Type="http://schemas.openxmlformats.org/officeDocument/2006/relationships/image" Target="../media/image58.png"/><Relationship Id="rId42" Type="http://schemas.openxmlformats.org/officeDocument/2006/relationships/image" Target="../media/image66.png"/><Relationship Id="rId47" Type="http://schemas.openxmlformats.org/officeDocument/2006/relationships/image" Target="../media/image71.svg"/><Relationship Id="rId50" Type="http://schemas.openxmlformats.org/officeDocument/2006/relationships/image" Target="../media/image74.png"/><Relationship Id="rId55" Type="http://schemas.openxmlformats.org/officeDocument/2006/relationships/image" Target="../media/image79.svg"/><Relationship Id="rId63" Type="http://schemas.openxmlformats.org/officeDocument/2006/relationships/image" Target="../media/image87.svg"/><Relationship Id="rId68" Type="http://schemas.openxmlformats.org/officeDocument/2006/relationships/image" Target="../media/image91.png"/><Relationship Id="rId7" Type="http://schemas.openxmlformats.org/officeDocument/2006/relationships/image" Target="../media/image31.svg"/><Relationship Id="rId2" Type="http://schemas.openxmlformats.org/officeDocument/2006/relationships/image" Target="../media/image26.png"/><Relationship Id="rId16" Type="http://schemas.openxmlformats.org/officeDocument/2006/relationships/image" Target="../media/image40.png"/><Relationship Id="rId29" Type="http://schemas.openxmlformats.org/officeDocument/2006/relationships/image" Target="../media/image53.svg"/><Relationship Id="rId11" Type="http://schemas.openxmlformats.org/officeDocument/2006/relationships/image" Target="../media/image35.svg"/><Relationship Id="rId24" Type="http://schemas.openxmlformats.org/officeDocument/2006/relationships/image" Target="../media/image48.png"/><Relationship Id="rId32" Type="http://schemas.openxmlformats.org/officeDocument/2006/relationships/image" Target="../media/image56.png"/><Relationship Id="rId37" Type="http://schemas.openxmlformats.org/officeDocument/2006/relationships/image" Target="../media/image61.svg"/><Relationship Id="rId40" Type="http://schemas.openxmlformats.org/officeDocument/2006/relationships/image" Target="../media/image64.png"/><Relationship Id="rId45" Type="http://schemas.openxmlformats.org/officeDocument/2006/relationships/image" Target="../media/image69.svg"/><Relationship Id="rId53" Type="http://schemas.openxmlformats.org/officeDocument/2006/relationships/image" Target="../media/image77.svg"/><Relationship Id="rId58" Type="http://schemas.openxmlformats.org/officeDocument/2006/relationships/image" Target="../media/image82.png"/><Relationship Id="rId66" Type="http://schemas.openxmlformats.org/officeDocument/2006/relationships/image" Target="../media/image2.png"/><Relationship Id="rId5" Type="http://schemas.openxmlformats.org/officeDocument/2006/relationships/image" Target="../media/image29.svg"/><Relationship Id="rId61" Type="http://schemas.openxmlformats.org/officeDocument/2006/relationships/image" Target="../media/image85.svg"/><Relationship Id="rId19" Type="http://schemas.openxmlformats.org/officeDocument/2006/relationships/image" Target="../media/image43.svg"/><Relationship Id="rId14" Type="http://schemas.openxmlformats.org/officeDocument/2006/relationships/image" Target="../media/image38.png"/><Relationship Id="rId22" Type="http://schemas.openxmlformats.org/officeDocument/2006/relationships/image" Target="../media/image46.png"/><Relationship Id="rId27" Type="http://schemas.openxmlformats.org/officeDocument/2006/relationships/image" Target="../media/image51.svg"/><Relationship Id="rId30" Type="http://schemas.openxmlformats.org/officeDocument/2006/relationships/image" Target="../media/image54.png"/><Relationship Id="rId35" Type="http://schemas.openxmlformats.org/officeDocument/2006/relationships/image" Target="../media/image59.svg"/><Relationship Id="rId43" Type="http://schemas.openxmlformats.org/officeDocument/2006/relationships/image" Target="../media/image67.svg"/><Relationship Id="rId48" Type="http://schemas.openxmlformats.org/officeDocument/2006/relationships/image" Target="../media/image72.png"/><Relationship Id="rId56" Type="http://schemas.openxmlformats.org/officeDocument/2006/relationships/image" Target="../media/image80.png"/><Relationship Id="rId64" Type="http://schemas.openxmlformats.org/officeDocument/2006/relationships/image" Target="../media/image88.png"/><Relationship Id="rId8" Type="http://schemas.openxmlformats.org/officeDocument/2006/relationships/image" Target="../media/image32.png"/><Relationship Id="rId51" Type="http://schemas.openxmlformats.org/officeDocument/2006/relationships/image" Target="../media/image75.svg"/><Relationship Id="rId3" Type="http://schemas.openxmlformats.org/officeDocument/2006/relationships/image" Target="../media/image27.svg"/><Relationship Id="rId12" Type="http://schemas.openxmlformats.org/officeDocument/2006/relationships/image" Target="../media/image36.png"/><Relationship Id="rId17" Type="http://schemas.openxmlformats.org/officeDocument/2006/relationships/image" Target="../media/image41.svg"/><Relationship Id="rId25" Type="http://schemas.openxmlformats.org/officeDocument/2006/relationships/image" Target="../media/image49.svg"/><Relationship Id="rId33" Type="http://schemas.openxmlformats.org/officeDocument/2006/relationships/image" Target="../media/image57.svg"/><Relationship Id="rId38" Type="http://schemas.openxmlformats.org/officeDocument/2006/relationships/image" Target="../media/image62.png"/><Relationship Id="rId46" Type="http://schemas.openxmlformats.org/officeDocument/2006/relationships/image" Target="../media/image70.png"/><Relationship Id="rId59" Type="http://schemas.openxmlformats.org/officeDocument/2006/relationships/image" Target="../media/image83.svg"/><Relationship Id="rId67" Type="http://schemas.openxmlformats.org/officeDocument/2006/relationships/image" Target="../media/image90.png"/><Relationship Id="rId20" Type="http://schemas.openxmlformats.org/officeDocument/2006/relationships/image" Target="../media/image44.png"/><Relationship Id="rId41" Type="http://schemas.openxmlformats.org/officeDocument/2006/relationships/image" Target="../media/image65.svg"/><Relationship Id="rId54" Type="http://schemas.openxmlformats.org/officeDocument/2006/relationships/image" Target="../media/image78.png"/><Relationship Id="rId62" Type="http://schemas.openxmlformats.org/officeDocument/2006/relationships/image" Target="../media/image86.png"/><Relationship Id="rId1" Type="http://schemas.openxmlformats.org/officeDocument/2006/relationships/slideLayout" Target="../slideLayouts/slideLayout7.xml"/><Relationship Id="rId6" Type="http://schemas.openxmlformats.org/officeDocument/2006/relationships/image" Target="../media/image30.png"/><Relationship Id="rId15" Type="http://schemas.openxmlformats.org/officeDocument/2006/relationships/image" Target="../media/image39.svg"/><Relationship Id="rId23" Type="http://schemas.openxmlformats.org/officeDocument/2006/relationships/image" Target="../media/image47.svg"/><Relationship Id="rId28" Type="http://schemas.openxmlformats.org/officeDocument/2006/relationships/image" Target="../media/image52.png"/><Relationship Id="rId36" Type="http://schemas.openxmlformats.org/officeDocument/2006/relationships/image" Target="../media/image60.png"/><Relationship Id="rId49" Type="http://schemas.openxmlformats.org/officeDocument/2006/relationships/image" Target="../media/image73.svg"/><Relationship Id="rId57" Type="http://schemas.openxmlformats.org/officeDocument/2006/relationships/image" Target="../media/image81.svg"/><Relationship Id="rId10" Type="http://schemas.openxmlformats.org/officeDocument/2006/relationships/image" Target="../media/image34.png"/><Relationship Id="rId31" Type="http://schemas.openxmlformats.org/officeDocument/2006/relationships/image" Target="../media/image55.svg"/><Relationship Id="rId44" Type="http://schemas.openxmlformats.org/officeDocument/2006/relationships/image" Target="../media/image68.png"/><Relationship Id="rId52" Type="http://schemas.openxmlformats.org/officeDocument/2006/relationships/image" Target="../media/image76.png"/><Relationship Id="rId60" Type="http://schemas.openxmlformats.org/officeDocument/2006/relationships/image" Target="../media/image84.png"/><Relationship Id="rId65" Type="http://schemas.openxmlformats.org/officeDocument/2006/relationships/image" Target="../media/image89.svg"/><Relationship Id="rId4" Type="http://schemas.openxmlformats.org/officeDocument/2006/relationships/image" Target="../media/image28.png"/><Relationship Id="rId9" Type="http://schemas.openxmlformats.org/officeDocument/2006/relationships/image" Target="../media/image33.svg"/><Relationship Id="rId13" Type="http://schemas.openxmlformats.org/officeDocument/2006/relationships/image" Target="../media/image37.svg"/><Relationship Id="rId18" Type="http://schemas.openxmlformats.org/officeDocument/2006/relationships/image" Target="../media/image42.png"/><Relationship Id="rId39" Type="http://schemas.openxmlformats.org/officeDocument/2006/relationships/image" Target="../media/image63.svg"/></Relationships>
</file>

<file path=ppt/slides/_rels/slide4.xml.rels><?xml version="1.0" encoding="UTF-8" standalone="yes"?>
<Relationships xmlns="http://schemas.openxmlformats.org/package/2006/relationships"><Relationship Id="rId8" Type="http://schemas.openxmlformats.org/officeDocument/2006/relationships/image" Target="../media/image94.png"/><Relationship Id="rId13" Type="http://schemas.microsoft.com/office/2007/relationships/hdphoto" Target="../media/hdphoto5.wdp"/><Relationship Id="rId18" Type="http://schemas.openxmlformats.org/officeDocument/2006/relationships/image" Target="../media/image99.png"/><Relationship Id="rId3" Type="http://schemas.openxmlformats.org/officeDocument/2006/relationships/image" Target="../media/image2.png"/><Relationship Id="rId21" Type="http://schemas.openxmlformats.org/officeDocument/2006/relationships/image" Target="../media/image101.png"/><Relationship Id="rId7" Type="http://schemas.microsoft.com/office/2007/relationships/hdphoto" Target="../media/hdphoto2.wdp"/><Relationship Id="rId12" Type="http://schemas.openxmlformats.org/officeDocument/2006/relationships/image" Target="../media/image96.png"/><Relationship Id="rId17" Type="http://schemas.microsoft.com/office/2007/relationships/hdphoto" Target="../media/hdphoto7.wdp"/><Relationship Id="rId2" Type="http://schemas.openxmlformats.org/officeDocument/2006/relationships/notesSlide" Target="../notesSlides/notesSlide1.xml"/><Relationship Id="rId16" Type="http://schemas.openxmlformats.org/officeDocument/2006/relationships/image" Target="../media/image98.png"/><Relationship Id="rId20" Type="http://schemas.openxmlformats.org/officeDocument/2006/relationships/image" Target="../media/image100.png"/><Relationship Id="rId1" Type="http://schemas.openxmlformats.org/officeDocument/2006/relationships/slideLayout" Target="../slideLayouts/slideLayout7.xml"/><Relationship Id="rId6" Type="http://schemas.openxmlformats.org/officeDocument/2006/relationships/image" Target="../media/image93.png"/><Relationship Id="rId11" Type="http://schemas.microsoft.com/office/2007/relationships/hdphoto" Target="../media/hdphoto4.wdp"/><Relationship Id="rId5" Type="http://schemas.microsoft.com/office/2007/relationships/hdphoto" Target="../media/hdphoto1.wdp"/><Relationship Id="rId15" Type="http://schemas.microsoft.com/office/2007/relationships/hdphoto" Target="../media/hdphoto6.wdp"/><Relationship Id="rId23" Type="http://schemas.openxmlformats.org/officeDocument/2006/relationships/image" Target="../media/image103.png"/><Relationship Id="rId10" Type="http://schemas.openxmlformats.org/officeDocument/2006/relationships/image" Target="../media/image95.png"/><Relationship Id="rId19" Type="http://schemas.microsoft.com/office/2007/relationships/hdphoto" Target="../media/hdphoto8.wdp"/><Relationship Id="rId4" Type="http://schemas.openxmlformats.org/officeDocument/2006/relationships/image" Target="../media/image92.png"/><Relationship Id="rId9" Type="http://schemas.microsoft.com/office/2007/relationships/hdphoto" Target="../media/hdphoto3.wdp"/><Relationship Id="rId14" Type="http://schemas.openxmlformats.org/officeDocument/2006/relationships/image" Target="../media/image97.png"/><Relationship Id="rId22" Type="http://schemas.openxmlformats.org/officeDocument/2006/relationships/image" Target="../media/image102.png"/></Relationships>
</file>

<file path=ppt/slides/_rels/slide5.xml.rels><?xml version="1.0" encoding="UTF-8" standalone="yes"?>
<Relationships xmlns="http://schemas.openxmlformats.org/package/2006/relationships"><Relationship Id="rId8" Type="http://schemas.openxmlformats.org/officeDocument/2006/relationships/image" Target="../media/image109.svg"/><Relationship Id="rId3" Type="http://schemas.openxmlformats.org/officeDocument/2006/relationships/image" Target="../media/image105.svg"/><Relationship Id="rId7" Type="http://schemas.openxmlformats.org/officeDocument/2006/relationships/image" Target="../media/image108.png"/><Relationship Id="rId12" Type="http://schemas.openxmlformats.org/officeDocument/2006/relationships/image" Target="../media/image90.png"/><Relationship Id="rId2" Type="http://schemas.openxmlformats.org/officeDocument/2006/relationships/image" Target="../media/image104.png"/><Relationship Id="rId1" Type="http://schemas.openxmlformats.org/officeDocument/2006/relationships/slideLayout" Target="../slideLayouts/slideLayout7.xml"/><Relationship Id="rId6" Type="http://schemas.openxmlformats.org/officeDocument/2006/relationships/image" Target="../media/image107.svg"/><Relationship Id="rId11" Type="http://schemas.openxmlformats.org/officeDocument/2006/relationships/image" Target="../media/image91.png"/><Relationship Id="rId5" Type="http://schemas.openxmlformats.org/officeDocument/2006/relationships/image" Target="../media/image106.png"/><Relationship Id="rId10" Type="http://schemas.openxmlformats.org/officeDocument/2006/relationships/image" Target="../media/image111.svg"/><Relationship Id="rId4" Type="http://schemas.openxmlformats.org/officeDocument/2006/relationships/image" Target="../media/image2.png"/><Relationship Id="rId9" Type="http://schemas.openxmlformats.org/officeDocument/2006/relationships/image" Target="../media/image110.png"/></Relationships>
</file>

<file path=ppt/slides/_rels/slide6.xml.rels><?xml version="1.0" encoding="UTF-8" standalone="yes"?>
<Relationships xmlns="http://schemas.openxmlformats.org/package/2006/relationships"><Relationship Id="rId8" Type="http://schemas.openxmlformats.org/officeDocument/2006/relationships/hyperlink" Target="https://futureskills.nasscom.in/research.html?utm_source=chatgpt.com" TargetMode="External"/><Relationship Id="rId3" Type="http://schemas.openxmlformats.org/officeDocument/2006/relationships/hyperlink" Target="https://www.weforum.org/publications/the-future-of-jobs-report-2025/in-full/4-workforce-strategies/?utm_source=chatgpt.com" TargetMode="External"/><Relationship Id="rId7" Type="http://schemas.openxmlformats.org/officeDocument/2006/relationships/hyperlink" Target="https://wheebox.com/assets/pdf/ISR_Report_2025.pdf?utm_source=chatgpt.com" TargetMode="External"/><Relationship Id="rId2" Type="http://schemas.openxmlformats.org/officeDocument/2006/relationships/hyperlink" Target="https://www.weforum.org/publications/the-future-of-jobs-report-2025/?utm_source=chatgpt.com" TargetMode="External"/><Relationship Id="rId1" Type="http://schemas.openxmlformats.org/officeDocument/2006/relationships/slideLayout" Target="../slideLayouts/slideLayout7.xml"/><Relationship Id="rId6" Type="http://schemas.openxmlformats.org/officeDocument/2006/relationships/hyperlink" Target="https://community.nasscom.in/communities/nasscom-insights/technology-sector-india-strategic-review-2025?utm_source=chatgpt.com" TargetMode="External"/><Relationship Id="rId5" Type="http://schemas.openxmlformats.org/officeDocument/2006/relationships/hyperlink" Target="https://www.ilo.org/publications/india-employment-report-2024-youth-employment-education-and-skills?utm_source=chatgpt.com" TargetMode="External"/><Relationship Id="rId4" Type="http://schemas.openxmlformats.org/officeDocument/2006/relationships/hyperlink" Target="https://www.weforum.org/publications/the-future-of-jobs-report-2025/in-full/3-skills-outlook/?utm_source=chatgpt.com" TargetMode="External"/><Relationship Id="rId9"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preferRelativeResize="0">
            <a:picLocks/>
          </p:cNvPicPr>
          <p:nvPr/>
        </p:nvPicPr>
        <p:blipFill rotWithShape="1">
          <a:blip r:embed="rId2"/>
          <a:srcRect r="59916"/>
          <a:stretch/>
        </p:blipFill>
        <p:spPr>
          <a:xfrm>
            <a:off x="6892930" y="1755698"/>
            <a:ext cx="3203509" cy="3426237"/>
          </a:xfrm>
          <a:prstGeom prst="rect">
            <a:avLst/>
          </a:prstGeom>
        </p:spPr>
      </p:pic>
      <p:sp>
        <p:nvSpPr>
          <p:cNvPr id="4" name="Subtitle 3"/>
          <p:cNvSpPr>
            <a:spLocks noGrp="1"/>
          </p:cNvSpPr>
          <p:nvPr>
            <p:ph type="subTitle" idx="1"/>
          </p:nvPr>
        </p:nvSpPr>
        <p:spPr>
          <a:xfrm>
            <a:off x="1363094" y="206005"/>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2025</a:t>
            </a:r>
            <a:endParaRPr lang="en-IN" sz="4000" b="1" dirty="0">
              <a:solidFill>
                <a:schemeClr val="tx2"/>
              </a:solidFill>
              <a:latin typeface="Garamond" panose="02020404030301010803" pitchFamily="18" charset="0"/>
            </a:endParaRPr>
          </a:p>
        </p:txBody>
      </p:sp>
      <p:sp>
        <p:nvSpPr>
          <p:cNvPr id="10" name="TextBox 9"/>
          <p:cNvSpPr txBox="1"/>
          <p:nvPr/>
        </p:nvSpPr>
        <p:spPr>
          <a:xfrm>
            <a:off x="143933" y="851512"/>
            <a:ext cx="6066064" cy="5887859"/>
          </a:xfrm>
          <a:prstGeom prst="rect">
            <a:avLst/>
          </a:prstGeom>
          <a:noFill/>
        </p:spPr>
        <p:txBody>
          <a:bodyPr wrap="square" rtlCol="0">
            <a:spAutoFit/>
          </a:bodyPr>
          <a:lstStyle/>
          <a:p>
            <a:endParaRPr lang="en-US" dirty="0"/>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Problem Statement ID – 26044</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Problem Statement Title-  </a:t>
            </a:r>
            <a:r>
              <a:rPr lang="en-US" sz="2000" b="1" dirty="0">
                <a:latin typeface="Arial" panose="020B0604020202020204" pitchFamily="34" charset="0"/>
                <a:cs typeface="Arial" panose="020B0604020202020204" pitchFamily="34" charset="0"/>
              </a:rPr>
              <a:t>Portal for Academia	Industry collaboration for	Skill Mapping, Internships and Placement</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Theme- </a:t>
            </a:r>
            <a:r>
              <a:rPr lang="en-US" sz="2000" b="1" dirty="0">
                <a:latin typeface="Arial" panose="020B0604020202020204" pitchFamily="34" charset="0"/>
                <a:cs typeface="Arial" panose="020B0604020202020204" pitchFamily="34" charset="0"/>
              </a:rPr>
              <a:t>Smart Automation</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PS Category- </a:t>
            </a:r>
            <a:r>
              <a:rPr lang="en-US" sz="2000" b="1" dirty="0">
                <a:latin typeface="Arial" panose="020B0604020202020204" pitchFamily="34" charset="0"/>
                <a:cs typeface="Arial" panose="020B0604020202020204" pitchFamily="34" charset="0"/>
              </a:rPr>
              <a:t>Software</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Team ID-</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Team Name – </a:t>
            </a:r>
            <a:r>
              <a:rPr lang="en-US" sz="2000" b="1" dirty="0">
                <a:latin typeface="Arial" panose="020B0604020202020204" pitchFamily="34" charset="0"/>
                <a:cs typeface="Arial" panose="020B0604020202020204" pitchFamily="34" charset="0"/>
              </a:rPr>
              <a:t>THE</a:t>
            </a:r>
            <a:r>
              <a:rPr lang="en-US" sz="2400" b="1"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TRICKSTERS</a:t>
            </a:r>
            <a:r>
              <a:rPr lang="en-US" sz="2400" b="1" dirty="0">
                <a:latin typeface="Arial" panose="020B0604020202020204" pitchFamily="34" charset="0"/>
                <a:cs typeface="Arial" panose="020B0604020202020204" pitchFamily="34" charset="0"/>
              </a:rPr>
              <a:t> !</a:t>
            </a:r>
            <a:endParaRPr lang="en-IN" sz="2400" b="1" dirty="0">
              <a:latin typeface="Arial" panose="020B0604020202020204" pitchFamily="34" charset="0"/>
              <a:cs typeface="Arial" panose="020B0604020202020204" pitchFamily="34" charset="0"/>
            </a:endParaRPr>
          </a:p>
        </p:txBody>
      </p:sp>
      <p:pic>
        <p:nvPicPr>
          <p:cNvPr id="2" name="Picture 1" descr="a_clean_vector_logo_graphic_on_a_white_background.png">
            <a:extLst>
              <a:ext uri="{FF2B5EF4-FFF2-40B4-BE49-F238E27FC236}">
                <a16:creationId xmlns:a16="http://schemas.microsoft.com/office/drawing/2014/main" id="{BE10D296-42D4-888F-E7DC-15D82C98426A}"/>
              </a:ext>
            </a:extLst>
          </p:cNvPr>
          <p:cNvPicPr>
            <a:picLocks noChangeAspect="1"/>
          </p:cNvPicPr>
          <p:nvPr/>
        </p:nvPicPr>
        <p:blipFill>
          <a:blip r:embed="rId3"/>
          <a:stretch>
            <a:fillRect/>
          </a:stretch>
        </p:blipFill>
        <p:spPr>
          <a:xfrm>
            <a:off x="10487829" y="13716"/>
            <a:ext cx="1691640" cy="950976"/>
          </a:xfrm>
          <a:prstGeom prst="rect">
            <a:avLst/>
          </a:prstGeom>
        </p:spPr>
      </p:pic>
    </p:spTree>
    <p:extLst>
      <p:ext uri="{BB962C8B-B14F-4D97-AF65-F5344CB8AC3E}">
        <p14:creationId xmlns:p14="http://schemas.microsoft.com/office/powerpoint/2010/main" val="3507270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63">
            <a:extLst>
              <a:ext uri="{FF2B5EF4-FFF2-40B4-BE49-F238E27FC236}">
                <a16:creationId xmlns:a16="http://schemas.microsoft.com/office/drawing/2014/main" id="{875378FD-FB33-C9DA-6412-5BA23DFD736C}"/>
              </a:ext>
            </a:extLst>
          </p:cNvPr>
          <p:cNvSpPr/>
          <p:nvPr/>
        </p:nvSpPr>
        <p:spPr>
          <a:xfrm>
            <a:off x="6254496" y="5677068"/>
            <a:ext cx="2596896" cy="998051"/>
          </a:xfrm>
          <a:prstGeom prst="roundRect">
            <a:avLst/>
          </a:prstGeom>
          <a:solidFill>
            <a:srgbClr val="F6F9FC"/>
          </a:solidFill>
          <a:ln w="1143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29768" y="45719"/>
            <a:ext cx="2331720" cy="228600"/>
          </a:xfrm>
          <a:prstGeom prst="rect">
            <a:avLst/>
          </a:prstGeom>
          <a:noFill/>
        </p:spPr>
        <p:txBody>
          <a:bodyPr wrap="square" lIns="36576" tIns="36576" rIns="36576" bIns="36576" anchor="ctr">
            <a:spAutoFit/>
          </a:bodyPr>
          <a:lstStyle/>
          <a:p>
            <a:pPr algn="l"/>
            <a:r>
              <a:rPr sz="1000" b="1" dirty="0">
                <a:solidFill>
                  <a:srgbClr val="002060"/>
                </a:solidFill>
                <a:latin typeface="Arial"/>
              </a:rPr>
              <a:t>THE </a:t>
            </a:r>
            <a:r>
              <a:rPr lang="en-IN" sz="1000" b="1" dirty="0">
                <a:solidFill>
                  <a:srgbClr val="002060"/>
                </a:solidFill>
                <a:latin typeface="Arial"/>
              </a:rPr>
              <a:t>TRICKSTERS !</a:t>
            </a:r>
            <a:r>
              <a:rPr sz="1000" b="1" dirty="0">
                <a:solidFill>
                  <a:srgbClr val="002060"/>
                </a:solidFill>
                <a:latin typeface="Arial"/>
              </a:rPr>
              <a:t>  |  SIH 26044</a:t>
            </a:r>
          </a:p>
        </p:txBody>
      </p:sp>
      <p:sp>
        <p:nvSpPr>
          <p:cNvPr id="5" name="TextBox 4"/>
          <p:cNvSpPr txBox="1"/>
          <p:nvPr/>
        </p:nvSpPr>
        <p:spPr>
          <a:xfrm>
            <a:off x="1520952" y="658527"/>
            <a:ext cx="8644128" cy="443198"/>
          </a:xfrm>
          <a:prstGeom prst="rect">
            <a:avLst/>
          </a:prstGeom>
          <a:noFill/>
        </p:spPr>
        <p:txBody>
          <a:bodyPr wrap="square" lIns="36576" tIns="36576" rIns="36576" bIns="36576" anchor="ctr">
            <a:spAutoFit/>
          </a:bodyPr>
          <a:lstStyle/>
          <a:p>
            <a:pPr algn="l"/>
            <a:r>
              <a:rPr sz="2400" b="1" dirty="0">
                <a:solidFill>
                  <a:srgbClr val="3380BE"/>
                </a:solidFill>
                <a:latin typeface="Arial"/>
              </a:rPr>
              <a:t>AI-Powered Academia–Industry Skill Intelligence Platform</a:t>
            </a:r>
          </a:p>
        </p:txBody>
      </p:sp>
      <p:sp>
        <p:nvSpPr>
          <p:cNvPr id="6" name="TextBox 5"/>
          <p:cNvSpPr txBox="1"/>
          <p:nvPr/>
        </p:nvSpPr>
        <p:spPr>
          <a:xfrm>
            <a:off x="438912" y="1148926"/>
            <a:ext cx="4480560" cy="192024"/>
          </a:xfrm>
          <a:prstGeom prst="rect">
            <a:avLst/>
          </a:prstGeom>
          <a:noFill/>
        </p:spPr>
        <p:txBody>
          <a:bodyPr wrap="square" lIns="36576" tIns="36576" rIns="36576" bIns="36576" anchor="ctr">
            <a:spAutoFit/>
          </a:bodyPr>
          <a:lstStyle/>
          <a:p>
            <a:pPr algn="l"/>
            <a:r>
              <a:rPr sz="900" b="1" dirty="0">
                <a:solidFill>
                  <a:srgbClr val="1F487B"/>
                </a:solidFill>
                <a:latin typeface="Arial"/>
              </a:rPr>
              <a:t>UNDERSTAND  →  ASSESS  →  BRIDGE  →  GROW</a:t>
            </a:r>
          </a:p>
        </p:txBody>
      </p:sp>
      <p:sp>
        <p:nvSpPr>
          <p:cNvPr id="12" name="Parallelogram 11"/>
          <p:cNvSpPr/>
          <p:nvPr/>
        </p:nvSpPr>
        <p:spPr>
          <a:xfrm>
            <a:off x="182880" y="1399032"/>
            <a:ext cx="3401568" cy="530352"/>
          </a:xfrm>
          <a:prstGeom prst="parallelogram">
            <a:avLst/>
          </a:prstGeom>
          <a:solidFill>
            <a:srgbClr val="1F487B"/>
          </a:solidFill>
          <a:ln>
            <a:solidFill>
              <a:srgbClr val="1F48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Parallelogram 12"/>
          <p:cNvSpPr/>
          <p:nvPr/>
        </p:nvSpPr>
        <p:spPr>
          <a:xfrm>
            <a:off x="73152" y="1499616"/>
            <a:ext cx="292608" cy="301752"/>
          </a:xfrm>
          <a:prstGeom prst="parallelogram">
            <a:avLst/>
          </a:prstGeom>
          <a:solidFill>
            <a:srgbClr val="EB8B23"/>
          </a:solidFill>
          <a:ln>
            <a:solidFill>
              <a:srgbClr val="EB8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83464" y="1463040"/>
            <a:ext cx="411480" cy="320040"/>
          </a:xfrm>
          <a:prstGeom prst="rect">
            <a:avLst/>
          </a:prstGeom>
          <a:noFill/>
        </p:spPr>
        <p:txBody>
          <a:bodyPr wrap="square" lIns="36576" tIns="36576" rIns="36576" bIns="36576" anchor="ctr">
            <a:spAutoFit/>
          </a:bodyPr>
          <a:lstStyle/>
          <a:p>
            <a:pPr algn="ctr"/>
            <a:r>
              <a:rPr sz="2200" b="1">
                <a:solidFill>
                  <a:srgbClr val="FFCA23"/>
                </a:solidFill>
                <a:latin typeface="Arial"/>
              </a:rPr>
              <a:t>⚠</a:t>
            </a:r>
          </a:p>
        </p:txBody>
      </p:sp>
      <p:sp>
        <p:nvSpPr>
          <p:cNvPr id="15" name="TextBox 14"/>
          <p:cNvSpPr txBox="1"/>
          <p:nvPr/>
        </p:nvSpPr>
        <p:spPr>
          <a:xfrm>
            <a:off x="603504" y="1463040"/>
            <a:ext cx="2011680" cy="265176"/>
          </a:xfrm>
          <a:prstGeom prst="rect">
            <a:avLst/>
          </a:prstGeom>
          <a:noFill/>
        </p:spPr>
        <p:txBody>
          <a:bodyPr wrap="square" lIns="36576" tIns="36576" rIns="36576" bIns="36576" anchor="ctr">
            <a:spAutoFit/>
          </a:bodyPr>
          <a:lstStyle/>
          <a:p>
            <a:pPr algn="l"/>
            <a:r>
              <a:rPr sz="2000" b="1">
                <a:solidFill>
                  <a:srgbClr val="FFFFFF"/>
                </a:solidFill>
                <a:latin typeface="Arial"/>
              </a:rPr>
              <a:t>THE PROBLEM</a:t>
            </a:r>
          </a:p>
        </p:txBody>
      </p:sp>
      <p:sp>
        <p:nvSpPr>
          <p:cNvPr id="16" name="TextBox 15"/>
          <p:cNvSpPr txBox="1"/>
          <p:nvPr/>
        </p:nvSpPr>
        <p:spPr>
          <a:xfrm>
            <a:off x="603504" y="1719072"/>
            <a:ext cx="2468880" cy="128016"/>
          </a:xfrm>
          <a:prstGeom prst="rect">
            <a:avLst/>
          </a:prstGeom>
          <a:noFill/>
        </p:spPr>
        <p:txBody>
          <a:bodyPr wrap="square" lIns="36576" tIns="36576" rIns="36576" bIns="36576" anchor="ctr">
            <a:spAutoFit/>
          </a:bodyPr>
          <a:lstStyle/>
          <a:p>
            <a:pPr algn="l"/>
            <a:r>
              <a:rPr sz="900" b="1">
                <a:solidFill>
                  <a:srgbClr val="FFFFFF"/>
                </a:solidFill>
                <a:latin typeface="Arial"/>
              </a:rPr>
              <a:t>REAL CHALLENGES, REAL IMPACT</a:t>
            </a:r>
          </a:p>
        </p:txBody>
      </p:sp>
      <p:sp>
        <p:nvSpPr>
          <p:cNvPr id="17" name="Parallelogram 16"/>
          <p:cNvSpPr/>
          <p:nvPr/>
        </p:nvSpPr>
        <p:spPr>
          <a:xfrm>
            <a:off x="3685032" y="1399032"/>
            <a:ext cx="5138928" cy="530352"/>
          </a:xfrm>
          <a:prstGeom prst="parallelogram">
            <a:avLst/>
          </a:prstGeom>
          <a:solidFill>
            <a:srgbClr val="1F487B"/>
          </a:solidFill>
          <a:ln>
            <a:solidFill>
              <a:srgbClr val="1F48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Parallelogram 17"/>
          <p:cNvSpPr/>
          <p:nvPr/>
        </p:nvSpPr>
        <p:spPr>
          <a:xfrm>
            <a:off x="3584448" y="1499616"/>
            <a:ext cx="292608" cy="301752"/>
          </a:xfrm>
          <a:prstGeom prst="parallelogram">
            <a:avLst/>
          </a:prstGeom>
          <a:solidFill>
            <a:srgbClr val="EB8B23"/>
          </a:solidFill>
          <a:ln>
            <a:solidFill>
              <a:srgbClr val="EB8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858768" y="1453896"/>
            <a:ext cx="393192" cy="338328"/>
          </a:xfrm>
          <a:prstGeom prst="rect">
            <a:avLst/>
          </a:prstGeom>
          <a:noFill/>
        </p:spPr>
        <p:txBody>
          <a:bodyPr wrap="square" lIns="36576" tIns="36576" rIns="36576" bIns="36576" anchor="ctr">
            <a:spAutoFit/>
          </a:bodyPr>
          <a:lstStyle/>
          <a:p>
            <a:pPr algn="ctr"/>
            <a:r>
              <a:rPr sz="2200" b="1">
                <a:solidFill>
                  <a:srgbClr val="FFFFFF"/>
                </a:solidFill>
                <a:latin typeface="Arial"/>
              </a:rPr>
              <a:t>✺</a:t>
            </a:r>
          </a:p>
        </p:txBody>
      </p:sp>
      <p:sp>
        <p:nvSpPr>
          <p:cNvPr id="20" name="TextBox 19"/>
          <p:cNvSpPr txBox="1"/>
          <p:nvPr/>
        </p:nvSpPr>
        <p:spPr>
          <a:xfrm>
            <a:off x="4233672" y="1453896"/>
            <a:ext cx="1920240" cy="274320"/>
          </a:xfrm>
          <a:prstGeom prst="rect">
            <a:avLst/>
          </a:prstGeom>
          <a:noFill/>
        </p:spPr>
        <p:txBody>
          <a:bodyPr wrap="square" lIns="36576" tIns="36576" rIns="36576" bIns="36576" anchor="ctr">
            <a:spAutoFit/>
          </a:bodyPr>
          <a:lstStyle/>
          <a:p>
            <a:pPr algn="l"/>
            <a:r>
              <a:rPr sz="2000" b="1">
                <a:solidFill>
                  <a:srgbClr val="FFFFFF"/>
                </a:solidFill>
                <a:latin typeface="Arial"/>
              </a:rPr>
              <a:t>OUR SOLUTION</a:t>
            </a:r>
          </a:p>
        </p:txBody>
      </p:sp>
      <p:sp>
        <p:nvSpPr>
          <p:cNvPr id="21" name="TextBox 20"/>
          <p:cNvSpPr txBox="1"/>
          <p:nvPr/>
        </p:nvSpPr>
        <p:spPr>
          <a:xfrm>
            <a:off x="4233672" y="1709928"/>
            <a:ext cx="3383280" cy="128016"/>
          </a:xfrm>
          <a:prstGeom prst="rect">
            <a:avLst/>
          </a:prstGeom>
          <a:noFill/>
        </p:spPr>
        <p:txBody>
          <a:bodyPr wrap="square" lIns="36576" tIns="36576" rIns="36576" bIns="36576" anchor="ctr">
            <a:spAutoFit/>
          </a:bodyPr>
          <a:lstStyle/>
          <a:p>
            <a:pPr algn="l"/>
            <a:r>
              <a:rPr sz="900" b="1">
                <a:solidFill>
                  <a:srgbClr val="FFFFFF"/>
                </a:solidFill>
                <a:latin typeface="Arial"/>
              </a:rPr>
              <a:t>AI-POWERED  •  PERSONALIZED  •  END-TO-END</a:t>
            </a:r>
          </a:p>
        </p:txBody>
      </p:sp>
      <p:sp>
        <p:nvSpPr>
          <p:cNvPr id="22" name="Parallelogram 21"/>
          <p:cNvSpPr/>
          <p:nvPr/>
        </p:nvSpPr>
        <p:spPr>
          <a:xfrm>
            <a:off x="8887968" y="1399032"/>
            <a:ext cx="3127248" cy="530352"/>
          </a:xfrm>
          <a:prstGeom prst="parallelogram">
            <a:avLst/>
          </a:prstGeom>
          <a:solidFill>
            <a:srgbClr val="1F487B"/>
          </a:solidFill>
          <a:ln>
            <a:solidFill>
              <a:srgbClr val="1F48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Parallelogram 22"/>
          <p:cNvSpPr/>
          <p:nvPr/>
        </p:nvSpPr>
        <p:spPr>
          <a:xfrm>
            <a:off x="8778240" y="1499616"/>
            <a:ext cx="292608" cy="301752"/>
          </a:xfrm>
          <a:prstGeom prst="parallelogram">
            <a:avLst/>
          </a:prstGeom>
          <a:solidFill>
            <a:srgbClr val="EB8B23"/>
          </a:solidFill>
          <a:ln>
            <a:solidFill>
              <a:srgbClr val="EB8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043416" y="1444752"/>
            <a:ext cx="402336" cy="365760"/>
          </a:xfrm>
          <a:prstGeom prst="rect">
            <a:avLst/>
          </a:prstGeom>
          <a:noFill/>
        </p:spPr>
        <p:txBody>
          <a:bodyPr wrap="square" lIns="36576" tIns="36576" rIns="36576" bIns="36576" anchor="ctr">
            <a:spAutoFit/>
          </a:bodyPr>
          <a:lstStyle/>
          <a:p>
            <a:pPr algn="ctr"/>
            <a:r>
              <a:rPr sz="2400" b="1">
                <a:solidFill>
                  <a:srgbClr val="FFCA23"/>
                </a:solidFill>
                <a:latin typeface="Arial"/>
              </a:rPr>
              <a:t>★</a:t>
            </a:r>
          </a:p>
        </p:txBody>
      </p:sp>
      <p:sp>
        <p:nvSpPr>
          <p:cNvPr id="25" name="TextBox 24"/>
          <p:cNvSpPr txBox="1"/>
          <p:nvPr/>
        </p:nvSpPr>
        <p:spPr>
          <a:xfrm>
            <a:off x="9445752" y="1453896"/>
            <a:ext cx="2240280" cy="256032"/>
          </a:xfrm>
          <a:prstGeom prst="rect">
            <a:avLst/>
          </a:prstGeom>
          <a:noFill/>
        </p:spPr>
        <p:txBody>
          <a:bodyPr wrap="square" lIns="36576" tIns="36576" rIns="36576" bIns="36576" anchor="ctr">
            <a:spAutoFit/>
          </a:bodyPr>
          <a:lstStyle/>
          <a:p>
            <a:pPr algn="l"/>
            <a:r>
              <a:rPr sz="1800" b="1">
                <a:solidFill>
                  <a:srgbClr val="FFFFFF"/>
                </a:solidFill>
                <a:latin typeface="Arial"/>
              </a:rPr>
              <a:t>IMPACT / OUTCOME</a:t>
            </a:r>
          </a:p>
        </p:txBody>
      </p:sp>
      <p:sp>
        <p:nvSpPr>
          <p:cNvPr id="26" name="TextBox 25"/>
          <p:cNvSpPr txBox="1"/>
          <p:nvPr/>
        </p:nvSpPr>
        <p:spPr>
          <a:xfrm>
            <a:off x="9445752" y="1719072"/>
            <a:ext cx="2240280" cy="118872"/>
          </a:xfrm>
          <a:prstGeom prst="rect">
            <a:avLst/>
          </a:prstGeom>
          <a:noFill/>
        </p:spPr>
        <p:txBody>
          <a:bodyPr wrap="square" lIns="36576" tIns="36576" rIns="36576" bIns="36576" anchor="ctr">
            <a:spAutoFit/>
          </a:bodyPr>
          <a:lstStyle/>
          <a:p>
            <a:pPr algn="l"/>
            <a:r>
              <a:rPr sz="800" b="1">
                <a:solidFill>
                  <a:srgbClr val="FFFFFF"/>
                </a:solidFill>
                <a:latin typeface="Arial"/>
              </a:rPr>
              <a:t>A STRONGER, SMARTER CAREER ECOSYSTEM</a:t>
            </a:r>
          </a:p>
        </p:txBody>
      </p:sp>
      <p:cxnSp>
        <p:nvCxnSpPr>
          <p:cNvPr id="27" name="Connector 26"/>
          <p:cNvCxnSpPr/>
          <p:nvPr/>
        </p:nvCxnSpPr>
        <p:spPr>
          <a:xfrm>
            <a:off x="3547872" y="1920240"/>
            <a:ext cx="0" cy="3694176"/>
          </a:xfrm>
          <a:prstGeom prst="line">
            <a:avLst/>
          </a:prstGeom>
          <a:ln w="10160">
            <a:solidFill>
              <a:srgbClr val="1F487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705088" y="1920240"/>
            <a:ext cx="0" cy="3694176"/>
          </a:xfrm>
          <a:prstGeom prst="line">
            <a:avLst/>
          </a:prstGeom>
          <a:ln w="10160">
            <a:solidFill>
              <a:srgbClr val="1F487B"/>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155448" y="1965960"/>
            <a:ext cx="3273552" cy="932688"/>
          </a:xfrm>
          <a:prstGeom prst="roundRect">
            <a:avLst/>
          </a:prstGeom>
          <a:solidFill>
            <a:srgbClr val="E8F2FA"/>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0" name="Oval 29"/>
          <p:cNvSpPr/>
          <p:nvPr/>
        </p:nvSpPr>
        <p:spPr>
          <a:xfrm>
            <a:off x="246888" y="2075688"/>
            <a:ext cx="713232" cy="713232"/>
          </a:xfrm>
          <a:prstGeom prst="ellipse">
            <a:avLst/>
          </a:prstGeom>
          <a:solidFill>
            <a:srgbClr val="1F487B"/>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46888" y="2084831"/>
            <a:ext cx="713232" cy="713232"/>
          </a:xfrm>
          <a:prstGeom prst="rect">
            <a:avLst/>
          </a:prstGeom>
          <a:noFill/>
        </p:spPr>
        <p:txBody>
          <a:bodyPr wrap="square" lIns="36576" tIns="36576" rIns="36576" bIns="36576" anchor="ctr">
            <a:spAutoFit/>
          </a:bodyPr>
          <a:lstStyle/>
          <a:p>
            <a:pPr algn="ctr"/>
            <a:r>
              <a:rPr sz="2100" b="1">
                <a:solidFill>
                  <a:srgbClr val="FFFFFF"/>
                </a:solidFill>
                <a:latin typeface="Arial"/>
              </a:rPr>
              <a:t>?</a:t>
            </a:r>
          </a:p>
        </p:txBody>
      </p:sp>
      <p:sp>
        <p:nvSpPr>
          <p:cNvPr id="32" name="TextBox 31"/>
          <p:cNvSpPr txBox="1"/>
          <p:nvPr/>
        </p:nvSpPr>
        <p:spPr>
          <a:xfrm>
            <a:off x="1124712" y="2121408"/>
            <a:ext cx="2057400" cy="201168"/>
          </a:xfrm>
          <a:prstGeom prst="rect">
            <a:avLst/>
          </a:prstGeom>
          <a:noFill/>
        </p:spPr>
        <p:txBody>
          <a:bodyPr wrap="square" lIns="36576" tIns="36576" rIns="36576" bIns="36576" anchor="ctr">
            <a:spAutoFit/>
          </a:bodyPr>
          <a:lstStyle/>
          <a:p>
            <a:pPr algn="l"/>
            <a:r>
              <a:rPr sz="1200" b="1" dirty="0">
                <a:solidFill>
                  <a:srgbClr val="1F487B"/>
                </a:solidFill>
                <a:latin typeface="Arial"/>
              </a:rPr>
              <a:t>CAREER UNCERTAINTY</a:t>
            </a:r>
          </a:p>
        </p:txBody>
      </p:sp>
      <p:sp>
        <p:nvSpPr>
          <p:cNvPr id="33" name="TextBox 32"/>
          <p:cNvSpPr txBox="1"/>
          <p:nvPr/>
        </p:nvSpPr>
        <p:spPr>
          <a:xfrm>
            <a:off x="1124712" y="2350008"/>
            <a:ext cx="2084831" cy="448056"/>
          </a:xfrm>
          <a:prstGeom prst="rect">
            <a:avLst/>
          </a:prstGeom>
          <a:noFill/>
        </p:spPr>
        <p:txBody>
          <a:bodyPr wrap="square" lIns="36576" tIns="36576" rIns="36576" bIns="36576" anchor="t">
            <a:spAutoFit/>
          </a:bodyPr>
          <a:lstStyle/>
          <a:p>
            <a:pPr algn="l"/>
            <a:r>
              <a:rPr sz="819" b="0" dirty="0">
                <a:solidFill>
                  <a:srgbClr val="1F487B"/>
                </a:solidFill>
                <a:latin typeface="Arial"/>
              </a:rPr>
              <a:t>• No clarity about career path
• Confusing choices &amp; information overload
• Lack of proper guidance</a:t>
            </a:r>
          </a:p>
        </p:txBody>
      </p:sp>
      <p:sp>
        <p:nvSpPr>
          <p:cNvPr id="34" name="Rounded Rectangle 33"/>
          <p:cNvSpPr/>
          <p:nvPr/>
        </p:nvSpPr>
        <p:spPr>
          <a:xfrm>
            <a:off x="155448" y="3035808"/>
            <a:ext cx="3273552" cy="932688"/>
          </a:xfrm>
          <a:prstGeom prst="roundRect">
            <a:avLst/>
          </a:prstGeom>
          <a:solidFill>
            <a:srgbClr val="E8F2FA"/>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246888" y="3145536"/>
            <a:ext cx="713232" cy="713232"/>
          </a:xfrm>
          <a:prstGeom prst="ellipse">
            <a:avLst/>
          </a:prstGeom>
          <a:solidFill>
            <a:srgbClr val="1F487B"/>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46888" y="3154679"/>
            <a:ext cx="713232" cy="713232"/>
          </a:xfrm>
          <a:prstGeom prst="rect">
            <a:avLst/>
          </a:prstGeom>
          <a:noFill/>
        </p:spPr>
        <p:txBody>
          <a:bodyPr wrap="square" lIns="36576" tIns="36576" rIns="36576" bIns="36576" anchor="ctr">
            <a:spAutoFit/>
          </a:bodyPr>
          <a:lstStyle/>
          <a:p>
            <a:pPr algn="ctr"/>
            <a:r>
              <a:rPr sz="2100" b="1" dirty="0">
                <a:solidFill>
                  <a:srgbClr val="FFFFFF"/>
                </a:solidFill>
                <a:latin typeface="Arial"/>
              </a:rPr>
              <a:t>▣</a:t>
            </a:r>
          </a:p>
        </p:txBody>
      </p:sp>
      <p:sp>
        <p:nvSpPr>
          <p:cNvPr id="37" name="TextBox 36"/>
          <p:cNvSpPr txBox="1"/>
          <p:nvPr/>
        </p:nvSpPr>
        <p:spPr>
          <a:xfrm>
            <a:off x="1124712" y="3191256"/>
            <a:ext cx="2057400" cy="201168"/>
          </a:xfrm>
          <a:prstGeom prst="rect">
            <a:avLst/>
          </a:prstGeom>
          <a:noFill/>
        </p:spPr>
        <p:txBody>
          <a:bodyPr wrap="square" lIns="36576" tIns="36576" rIns="36576" bIns="36576" anchor="ctr">
            <a:spAutoFit/>
          </a:bodyPr>
          <a:lstStyle/>
          <a:p>
            <a:pPr algn="l"/>
            <a:r>
              <a:rPr sz="1200" b="1">
                <a:solidFill>
                  <a:srgbClr val="1F487B"/>
                </a:solidFill>
                <a:latin typeface="Arial"/>
              </a:rPr>
              <a:t>SCATTERED RESOURCES</a:t>
            </a:r>
          </a:p>
        </p:txBody>
      </p:sp>
      <p:sp>
        <p:nvSpPr>
          <p:cNvPr id="38" name="TextBox 37"/>
          <p:cNvSpPr txBox="1"/>
          <p:nvPr/>
        </p:nvSpPr>
        <p:spPr>
          <a:xfrm>
            <a:off x="1124712" y="3419856"/>
            <a:ext cx="2084831" cy="448056"/>
          </a:xfrm>
          <a:prstGeom prst="rect">
            <a:avLst/>
          </a:prstGeom>
          <a:noFill/>
        </p:spPr>
        <p:txBody>
          <a:bodyPr wrap="square" lIns="36576" tIns="36576" rIns="36576" bIns="36576" anchor="t">
            <a:spAutoFit/>
          </a:bodyPr>
          <a:lstStyle/>
          <a:p>
            <a:pPr algn="l"/>
            <a:r>
              <a:rPr sz="819" b="0" dirty="0">
                <a:solidFill>
                  <a:srgbClr val="1F487B"/>
                </a:solidFill>
                <a:latin typeface="Arial"/>
              </a:rPr>
              <a:t>• Multiple platforms &amp; disconnected info
• Unreliable / outdated content
• Hard to find relevant opportunities</a:t>
            </a:r>
          </a:p>
        </p:txBody>
      </p:sp>
      <p:sp>
        <p:nvSpPr>
          <p:cNvPr id="39" name="Rounded Rectangle 38"/>
          <p:cNvSpPr/>
          <p:nvPr/>
        </p:nvSpPr>
        <p:spPr>
          <a:xfrm>
            <a:off x="155448" y="4105656"/>
            <a:ext cx="3273552" cy="932688"/>
          </a:xfrm>
          <a:prstGeom prst="roundRect">
            <a:avLst/>
          </a:prstGeom>
          <a:solidFill>
            <a:srgbClr val="E8F2FA"/>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246888" y="4215384"/>
            <a:ext cx="713232" cy="713232"/>
          </a:xfrm>
          <a:prstGeom prst="ellipse">
            <a:avLst/>
          </a:prstGeom>
          <a:solidFill>
            <a:srgbClr val="1F487B"/>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46888" y="4224528"/>
            <a:ext cx="713232" cy="713232"/>
          </a:xfrm>
          <a:prstGeom prst="rect">
            <a:avLst/>
          </a:prstGeom>
          <a:noFill/>
        </p:spPr>
        <p:txBody>
          <a:bodyPr wrap="square" lIns="36576" tIns="36576" rIns="36576" bIns="36576" anchor="ctr">
            <a:spAutoFit/>
          </a:bodyPr>
          <a:lstStyle/>
          <a:p>
            <a:pPr algn="ctr"/>
            <a:r>
              <a:rPr sz="2100" b="1">
                <a:solidFill>
                  <a:srgbClr val="FFFFFF"/>
                </a:solidFill>
                <a:latin typeface="Arial"/>
              </a:rPr>
              <a:t>⌾</a:t>
            </a:r>
          </a:p>
        </p:txBody>
      </p:sp>
      <p:sp>
        <p:nvSpPr>
          <p:cNvPr id="42" name="TextBox 41"/>
          <p:cNvSpPr txBox="1"/>
          <p:nvPr/>
        </p:nvSpPr>
        <p:spPr>
          <a:xfrm>
            <a:off x="1124712" y="4261104"/>
            <a:ext cx="2057400" cy="201168"/>
          </a:xfrm>
          <a:prstGeom prst="rect">
            <a:avLst/>
          </a:prstGeom>
          <a:noFill/>
        </p:spPr>
        <p:txBody>
          <a:bodyPr wrap="square" lIns="36576" tIns="36576" rIns="36576" bIns="36576" anchor="ctr">
            <a:spAutoFit/>
          </a:bodyPr>
          <a:lstStyle/>
          <a:p>
            <a:pPr algn="l"/>
            <a:r>
              <a:rPr sz="1200" b="1">
                <a:solidFill>
                  <a:srgbClr val="1F487B"/>
                </a:solidFill>
                <a:latin typeface="Arial"/>
              </a:rPr>
              <a:t>SKILL GAP</a:t>
            </a:r>
          </a:p>
        </p:txBody>
      </p:sp>
      <p:sp>
        <p:nvSpPr>
          <p:cNvPr id="43" name="TextBox 42"/>
          <p:cNvSpPr txBox="1"/>
          <p:nvPr/>
        </p:nvSpPr>
        <p:spPr>
          <a:xfrm>
            <a:off x="1124712" y="4489704"/>
            <a:ext cx="2084831" cy="448056"/>
          </a:xfrm>
          <a:prstGeom prst="rect">
            <a:avLst/>
          </a:prstGeom>
          <a:noFill/>
        </p:spPr>
        <p:txBody>
          <a:bodyPr wrap="square" lIns="36576" tIns="36576" rIns="36576" bIns="36576" anchor="t">
            <a:spAutoFit/>
          </a:bodyPr>
          <a:lstStyle/>
          <a:p>
            <a:pPr algn="l"/>
            <a:r>
              <a:rPr sz="819" b="0" dirty="0">
                <a:solidFill>
                  <a:srgbClr val="1F487B"/>
                </a:solidFill>
                <a:latin typeface="Arial"/>
              </a:rPr>
              <a:t>• Unclear strengths &amp; weaknesses
• Mismatch with industry needs
• Lack of structured learning path</a:t>
            </a:r>
          </a:p>
        </p:txBody>
      </p:sp>
      <p:sp>
        <p:nvSpPr>
          <p:cNvPr id="44" name="Oval 43"/>
          <p:cNvSpPr/>
          <p:nvPr/>
        </p:nvSpPr>
        <p:spPr>
          <a:xfrm>
            <a:off x="7454593" y="2259923"/>
            <a:ext cx="446728" cy="448055"/>
          </a:xfrm>
          <a:prstGeom prst="ellipse">
            <a:avLst/>
          </a:prstGeom>
          <a:solidFill>
            <a:srgbClr val="1F487B"/>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7" name="TextBox 56"/>
          <p:cNvSpPr txBox="1"/>
          <p:nvPr/>
        </p:nvSpPr>
        <p:spPr>
          <a:xfrm>
            <a:off x="7845552" y="3145536"/>
            <a:ext cx="548640" cy="548640"/>
          </a:xfrm>
          <a:prstGeom prst="rect">
            <a:avLst/>
          </a:prstGeom>
          <a:noFill/>
        </p:spPr>
        <p:txBody>
          <a:bodyPr wrap="square" lIns="36576" tIns="36576" rIns="36576" bIns="36576" anchor="ctr">
            <a:spAutoFit/>
          </a:bodyPr>
          <a:lstStyle/>
          <a:p>
            <a:pPr algn="ctr"/>
            <a:r>
              <a:rPr sz="2000" b="1">
                <a:solidFill>
                  <a:srgbClr val="FFFFFF"/>
                </a:solidFill>
                <a:latin typeface="Arial"/>
              </a:rPr>
              <a:t>♙</a:t>
            </a:r>
          </a:p>
        </p:txBody>
      </p:sp>
      <p:sp>
        <p:nvSpPr>
          <p:cNvPr id="65" name="TextBox 64"/>
          <p:cNvSpPr txBox="1"/>
          <p:nvPr/>
        </p:nvSpPr>
        <p:spPr>
          <a:xfrm>
            <a:off x="6146413" y="2029968"/>
            <a:ext cx="292608" cy="118872"/>
          </a:xfrm>
          <a:prstGeom prst="rect">
            <a:avLst/>
          </a:prstGeom>
          <a:noFill/>
        </p:spPr>
        <p:txBody>
          <a:bodyPr wrap="square" lIns="36576" tIns="36576" rIns="36576" bIns="36576" anchor="ctr">
            <a:spAutoFit/>
          </a:bodyPr>
          <a:lstStyle/>
          <a:p>
            <a:pPr algn="ctr"/>
            <a:r>
              <a:rPr sz="900" b="1">
                <a:solidFill>
                  <a:srgbClr val="FFFFFF"/>
                </a:solidFill>
                <a:latin typeface="Arial"/>
              </a:rPr>
              <a:t>01</a:t>
            </a:r>
          </a:p>
        </p:txBody>
      </p:sp>
      <p:sp>
        <p:nvSpPr>
          <p:cNvPr id="77" name="TextBox 76"/>
          <p:cNvSpPr txBox="1"/>
          <p:nvPr/>
        </p:nvSpPr>
        <p:spPr>
          <a:xfrm>
            <a:off x="6017117" y="3264408"/>
            <a:ext cx="292608" cy="118872"/>
          </a:xfrm>
          <a:prstGeom prst="rect">
            <a:avLst/>
          </a:prstGeom>
          <a:noFill/>
        </p:spPr>
        <p:txBody>
          <a:bodyPr wrap="square" lIns="36576" tIns="36576" rIns="36576" bIns="36576" anchor="ctr">
            <a:spAutoFit/>
          </a:bodyPr>
          <a:lstStyle/>
          <a:p>
            <a:pPr algn="ctr"/>
            <a:r>
              <a:rPr sz="900" b="1">
                <a:solidFill>
                  <a:srgbClr val="FFFFFF"/>
                </a:solidFill>
                <a:latin typeface="Arial"/>
              </a:rPr>
              <a:t>04</a:t>
            </a:r>
          </a:p>
        </p:txBody>
      </p:sp>
      <p:sp>
        <p:nvSpPr>
          <p:cNvPr id="80" name="Trapezoid 79"/>
          <p:cNvSpPr/>
          <p:nvPr/>
        </p:nvSpPr>
        <p:spPr>
          <a:xfrm>
            <a:off x="4045361" y="4430098"/>
            <a:ext cx="4535424" cy="438912"/>
          </a:xfrm>
          <a:prstGeom prst="trapezoid">
            <a:avLst/>
          </a:prstGeom>
          <a:solidFill>
            <a:srgbClr val="0099CC"/>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5973592" y="3675887"/>
            <a:ext cx="292608" cy="118872"/>
          </a:xfrm>
          <a:prstGeom prst="rect">
            <a:avLst/>
          </a:prstGeom>
          <a:noFill/>
        </p:spPr>
        <p:txBody>
          <a:bodyPr wrap="square" lIns="36576" tIns="36576" rIns="36576" bIns="36576" anchor="ctr">
            <a:spAutoFit/>
          </a:bodyPr>
          <a:lstStyle/>
          <a:p>
            <a:pPr algn="ctr"/>
            <a:r>
              <a:rPr sz="900" b="1">
                <a:solidFill>
                  <a:srgbClr val="FFFFFF"/>
                </a:solidFill>
                <a:latin typeface="Arial"/>
              </a:rPr>
              <a:t>05</a:t>
            </a:r>
          </a:p>
        </p:txBody>
      </p:sp>
      <p:sp>
        <p:nvSpPr>
          <p:cNvPr id="82" name="TextBox 81"/>
          <p:cNvSpPr txBox="1"/>
          <p:nvPr/>
        </p:nvSpPr>
        <p:spPr>
          <a:xfrm>
            <a:off x="5319099" y="3886200"/>
            <a:ext cx="2902671" cy="128016"/>
          </a:xfrm>
          <a:prstGeom prst="rect">
            <a:avLst/>
          </a:prstGeom>
          <a:noFill/>
        </p:spPr>
        <p:txBody>
          <a:bodyPr wrap="square" lIns="36576" tIns="36576" rIns="36576" bIns="36576" anchor="ctr">
            <a:spAutoFit/>
          </a:bodyPr>
          <a:lstStyle/>
          <a:p>
            <a:pPr algn="ctr"/>
            <a:r>
              <a:rPr sz="869" b="1">
                <a:solidFill>
                  <a:srgbClr val="FFFFFF"/>
                </a:solidFill>
                <a:latin typeface="Arial"/>
              </a:rPr>
              <a:t>TRACK &amp; GROW</a:t>
            </a:r>
          </a:p>
        </p:txBody>
      </p:sp>
      <p:sp>
        <p:nvSpPr>
          <p:cNvPr id="83" name="TextBox 82"/>
          <p:cNvSpPr txBox="1"/>
          <p:nvPr/>
        </p:nvSpPr>
        <p:spPr>
          <a:xfrm>
            <a:off x="4658319" y="3941063"/>
            <a:ext cx="3628339" cy="91440"/>
          </a:xfrm>
          <a:prstGeom prst="rect">
            <a:avLst/>
          </a:prstGeom>
          <a:noFill/>
        </p:spPr>
        <p:txBody>
          <a:bodyPr wrap="square" lIns="36576" tIns="36576" rIns="36576" bIns="36576" anchor="ctr">
            <a:spAutoFit/>
          </a:bodyPr>
          <a:lstStyle/>
          <a:p>
            <a:pPr algn="ctr"/>
            <a:r>
              <a:rPr sz="660" b="0">
                <a:solidFill>
                  <a:srgbClr val="FFFFFF"/>
                </a:solidFill>
                <a:latin typeface="Arial"/>
              </a:rPr>
              <a:t>Progress • Streaks • Achievements</a:t>
            </a:r>
          </a:p>
        </p:txBody>
      </p:sp>
      <p:grpSp>
        <p:nvGrpSpPr>
          <p:cNvPr id="183" name="Group 182">
            <a:extLst>
              <a:ext uri="{FF2B5EF4-FFF2-40B4-BE49-F238E27FC236}">
                <a16:creationId xmlns:a16="http://schemas.microsoft.com/office/drawing/2014/main" id="{3EF9A06A-864E-8976-3D83-BDD96FE065C0}"/>
              </a:ext>
            </a:extLst>
          </p:cNvPr>
          <p:cNvGrpSpPr/>
          <p:nvPr/>
        </p:nvGrpSpPr>
        <p:grpSpPr>
          <a:xfrm>
            <a:off x="4812154" y="3003804"/>
            <a:ext cx="2670048" cy="435189"/>
            <a:chOff x="4956048" y="2404872"/>
            <a:chExt cx="2670048" cy="435189"/>
          </a:xfrm>
        </p:grpSpPr>
        <p:sp>
          <p:nvSpPr>
            <p:cNvPr id="68" name="Trapezoid 67"/>
            <p:cNvSpPr/>
            <p:nvPr/>
          </p:nvSpPr>
          <p:spPr>
            <a:xfrm>
              <a:off x="4956048" y="2404872"/>
              <a:ext cx="2670048" cy="393192"/>
            </a:xfrm>
            <a:prstGeom prst="trapezoid">
              <a:avLst/>
            </a:prstGeom>
            <a:solidFill>
              <a:srgbClr val="FF6600"/>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solidFill>
                  <a:srgbClr val="FFC000"/>
                </a:solidFill>
              </a:endParaRPr>
            </a:p>
          </p:txBody>
        </p:sp>
        <p:sp>
          <p:nvSpPr>
            <p:cNvPr id="71" name="TextBox 70"/>
            <p:cNvSpPr txBox="1"/>
            <p:nvPr/>
          </p:nvSpPr>
          <p:spPr>
            <a:xfrm>
              <a:off x="5329854" y="2664628"/>
              <a:ext cx="2136038" cy="175433"/>
            </a:xfrm>
            <a:prstGeom prst="rect">
              <a:avLst/>
            </a:prstGeom>
            <a:noFill/>
          </p:spPr>
          <p:txBody>
            <a:bodyPr wrap="square" lIns="36576" tIns="36576" rIns="36576" bIns="36576" anchor="ctr">
              <a:spAutoFit/>
            </a:bodyPr>
            <a:lstStyle/>
            <a:p>
              <a:pPr algn="ctr"/>
              <a:endParaRPr sz="660" b="0" dirty="0">
                <a:solidFill>
                  <a:srgbClr val="FFC000"/>
                </a:solidFill>
                <a:latin typeface="Arial"/>
              </a:endParaRPr>
            </a:p>
          </p:txBody>
        </p:sp>
        <p:sp>
          <p:nvSpPr>
            <p:cNvPr id="85" name="TextBox 84"/>
            <p:cNvSpPr txBox="1"/>
            <p:nvPr/>
          </p:nvSpPr>
          <p:spPr>
            <a:xfrm>
              <a:off x="5084064" y="2465734"/>
              <a:ext cx="365760" cy="335476"/>
            </a:xfrm>
            <a:prstGeom prst="rect">
              <a:avLst/>
            </a:prstGeom>
            <a:noFill/>
          </p:spPr>
          <p:txBody>
            <a:bodyPr wrap="square" lIns="36576" tIns="36576" rIns="36576" bIns="36576" anchor="ctr">
              <a:spAutoFit/>
            </a:bodyPr>
            <a:lstStyle/>
            <a:p>
              <a:pPr algn="ctr"/>
              <a:endParaRPr sz="1700" b="1" dirty="0">
                <a:solidFill>
                  <a:srgbClr val="FFC000"/>
                </a:solidFill>
                <a:latin typeface="Arial"/>
              </a:endParaRPr>
            </a:p>
          </p:txBody>
        </p:sp>
      </p:grpSp>
      <p:grpSp>
        <p:nvGrpSpPr>
          <p:cNvPr id="182" name="Group 181">
            <a:extLst>
              <a:ext uri="{FF2B5EF4-FFF2-40B4-BE49-F238E27FC236}">
                <a16:creationId xmlns:a16="http://schemas.microsoft.com/office/drawing/2014/main" id="{2AF6AFA8-9388-BAE6-89DE-02D8B7D24ED9}"/>
              </a:ext>
            </a:extLst>
          </p:cNvPr>
          <p:cNvGrpSpPr/>
          <p:nvPr/>
        </p:nvGrpSpPr>
        <p:grpSpPr>
          <a:xfrm>
            <a:off x="4507992" y="3447784"/>
            <a:ext cx="3291840" cy="406509"/>
            <a:chOff x="4645152" y="2806181"/>
            <a:chExt cx="3291840" cy="406509"/>
          </a:xfrm>
        </p:grpSpPr>
        <p:sp>
          <p:nvSpPr>
            <p:cNvPr id="72" name="Trapezoid 71"/>
            <p:cNvSpPr/>
            <p:nvPr/>
          </p:nvSpPr>
          <p:spPr>
            <a:xfrm>
              <a:off x="4645152" y="2816352"/>
              <a:ext cx="3291840" cy="393192"/>
            </a:xfrm>
            <a:prstGeom prst="trapezoid">
              <a:avLst/>
            </a:prstGeom>
            <a:solidFill>
              <a:srgbClr val="3380B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6060643" y="2806181"/>
              <a:ext cx="292608" cy="212366"/>
            </a:xfrm>
            <a:prstGeom prst="rect">
              <a:avLst/>
            </a:prstGeom>
            <a:noFill/>
          </p:spPr>
          <p:txBody>
            <a:bodyPr wrap="square" lIns="36576" tIns="36576" rIns="36576" bIns="36576" anchor="ctr">
              <a:spAutoFit/>
            </a:bodyPr>
            <a:lstStyle/>
            <a:p>
              <a:pPr algn="ctr"/>
              <a:endParaRPr sz="900" b="1" dirty="0">
                <a:solidFill>
                  <a:srgbClr val="FFFFFF"/>
                </a:solidFill>
                <a:latin typeface="Arial"/>
              </a:endParaRPr>
            </a:p>
          </p:txBody>
        </p:sp>
        <p:sp>
          <p:nvSpPr>
            <p:cNvPr id="74" name="TextBox 73"/>
            <p:cNvSpPr txBox="1"/>
            <p:nvPr/>
          </p:nvSpPr>
          <p:spPr>
            <a:xfrm>
              <a:off x="5599785" y="2941142"/>
              <a:ext cx="2106777" cy="207621"/>
            </a:xfrm>
            <a:prstGeom prst="rect">
              <a:avLst/>
            </a:prstGeom>
            <a:noFill/>
          </p:spPr>
          <p:txBody>
            <a:bodyPr wrap="square" lIns="36576" tIns="36576" rIns="36576" bIns="36576" anchor="ctr">
              <a:spAutoFit/>
            </a:bodyPr>
            <a:lstStyle/>
            <a:p>
              <a:pPr algn="ctr"/>
              <a:endParaRPr sz="869" b="1" dirty="0">
                <a:solidFill>
                  <a:srgbClr val="FFFFFF"/>
                </a:solidFill>
                <a:latin typeface="Arial"/>
              </a:endParaRPr>
            </a:p>
          </p:txBody>
        </p:sp>
        <p:sp>
          <p:nvSpPr>
            <p:cNvPr id="86" name="TextBox 85"/>
            <p:cNvSpPr txBox="1"/>
            <p:nvPr/>
          </p:nvSpPr>
          <p:spPr>
            <a:xfrm>
              <a:off x="4773168" y="2877214"/>
              <a:ext cx="365760" cy="335476"/>
            </a:xfrm>
            <a:prstGeom prst="rect">
              <a:avLst/>
            </a:prstGeom>
            <a:noFill/>
          </p:spPr>
          <p:txBody>
            <a:bodyPr wrap="square" lIns="36576" tIns="36576" rIns="36576" bIns="36576" anchor="ctr">
              <a:spAutoFit/>
            </a:bodyPr>
            <a:lstStyle/>
            <a:p>
              <a:pPr algn="ctr"/>
              <a:endParaRPr sz="1700" b="1" dirty="0">
                <a:solidFill>
                  <a:srgbClr val="FFFFFF"/>
                </a:solidFill>
                <a:latin typeface="Arial"/>
              </a:endParaRPr>
            </a:p>
          </p:txBody>
        </p:sp>
      </p:grpSp>
      <p:grpSp>
        <p:nvGrpSpPr>
          <p:cNvPr id="181" name="Group 180">
            <a:extLst>
              <a:ext uri="{FF2B5EF4-FFF2-40B4-BE49-F238E27FC236}">
                <a16:creationId xmlns:a16="http://schemas.microsoft.com/office/drawing/2014/main" id="{604354A5-D2F7-50B6-A6E4-46174EF46CFF}"/>
              </a:ext>
            </a:extLst>
          </p:cNvPr>
          <p:cNvGrpSpPr/>
          <p:nvPr/>
        </p:nvGrpSpPr>
        <p:grpSpPr>
          <a:xfrm>
            <a:off x="4268920" y="3945635"/>
            <a:ext cx="3913632" cy="396337"/>
            <a:chOff x="4334256" y="3227832"/>
            <a:chExt cx="3913632" cy="396337"/>
          </a:xfrm>
          <a:solidFill>
            <a:srgbClr val="3366FF"/>
          </a:solidFill>
        </p:grpSpPr>
        <p:sp>
          <p:nvSpPr>
            <p:cNvPr id="76" name="Trapezoid 75"/>
            <p:cNvSpPr/>
            <p:nvPr/>
          </p:nvSpPr>
          <p:spPr>
            <a:xfrm>
              <a:off x="4334256" y="3227832"/>
              <a:ext cx="3913632" cy="393192"/>
            </a:xfrm>
            <a:prstGeom prst="trapezoid">
              <a:avLst/>
            </a:prstGeom>
            <a:grp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5469209" y="3352622"/>
              <a:ext cx="2504724" cy="207621"/>
            </a:xfrm>
            <a:prstGeom prst="rect">
              <a:avLst/>
            </a:prstGeom>
            <a:grpFill/>
          </p:spPr>
          <p:txBody>
            <a:bodyPr wrap="square" lIns="36576" tIns="36576" rIns="36576" bIns="36576" anchor="ctr">
              <a:spAutoFit/>
            </a:bodyPr>
            <a:lstStyle/>
            <a:p>
              <a:pPr algn="ctr"/>
              <a:endParaRPr sz="869" b="1" dirty="0">
                <a:solidFill>
                  <a:srgbClr val="FFFFFF"/>
                </a:solidFill>
                <a:latin typeface="Arial"/>
              </a:endParaRPr>
            </a:p>
          </p:txBody>
        </p:sp>
        <p:sp>
          <p:nvSpPr>
            <p:cNvPr id="87" name="TextBox 86"/>
            <p:cNvSpPr txBox="1"/>
            <p:nvPr/>
          </p:nvSpPr>
          <p:spPr>
            <a:xfrm>
              <a:off x="4462272" y="3288693"/>
              <a:ext cx="365760" cy="335476"/>
            </a:xfrm>
            <a:prstGeom prst="rect">
              <a:avLst/>
            </a:prstGeom>
            <a:grpFill/>
          </p:spPr>
          <p:txBody>
            <a:bodyPr wrap="square" lIns="36576" tIns="36576" rIns="36576" bIns="36576" anchor="ctr">
              <a:spAutoFit/>
            </a:bodyPr>
            <a:lstStyle/>
            <a:p>
              <a:pPr algn="ctr"/>
              <a:endParaRPr sz="1700" b="1" dirty="0">
                <a:solidFill>
                  <a:srgbClr val="FFFFFF"/>
                </a:solidFill>
                <a:latin typeface="Arial"/>
              </a:endParaRPr>
            </a:p>
          </p:txBody>
        </p:sp>
      </p:grpSp>
      <p:sp>
        <p:nvSpPr>
          <p:cNvPr id="88" name="TextBox 87"/>
          <p:cNvSpPr txBox="1"/>
          <p:nvPr/>
        </p:nvSpPr>
        <p:spPr>
          <a:xfrm>
            <a:off x="4151376" y="3739896"/>
            <a:ext cx="365760" cy="256032"/>
          </a:xfrm>
          <a:prstGeom prst="rect">
            <a:avLst/>
          </a:prstGeom>
          <a:noFill/>
        </p:spPr>
        <p:txBody>
          <a:bodyPr wrap="square" lIns="36576" tIns="36576" rIns="36576" bIns="36576" anchor="ctr">
            <a:spAutoFit/>
          </a:bodyPr>
          <a:lstStyle/>
          <a:p>
            <a:pPr algn="ctr"/>
            <a:r>
              <a:rPr sz="1700" b="1">
                <a:solidFill>
                  <a:srgbClr val="FFFFFF"/>
                </a:solidFill>
                <a:latin typeface="Arial"/>
              </a:rPr>
              <a:t>↗</a:t>
            </a:r>
          </a:p>
        </p:txBody>
      </p:sp>
      <p:sp>
        <p:nvSpPr>
          <p:cNvPr id="89" name="Rounded Rectangle 88"/>
          <p:cNvSpPr/>
          <p:nvPr/>
        </p:nvSpPr>
        <p:spPr>
          <a:xfrm>
            <a:off x="3934663" y="4941824"/>
            <a:ext cx="4544568" cy="438912"/>
          </a:xfrm>
          <a:prstGeom prst="roundRect">
            <a:avLst/>
          </a:prstGeom>
          <a:solidFill>
            <a:srgbClr val="E8F2FA"/>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4268053" y="4964176"/>
            <a:ext cx="534741" cy="289310"/>
          </a:xfrm>
          <a:prstGeom prst="rect">
            <a:avLst/>
          </a:prstGeom>
          <a:noFill/>
        </p:spPr>
        <p:txBody>
          <a:bodyPr wrap="square" lIns="36576" tIns="36576" rIns="36576" bIns="36576" anchor="ctr">
            <a:spAutoFit/>
          </a:bodyPr>
          <a:lstStyle/>
          <a:p>
            <a:pPr algn="ctr"/>
            <a:r>
              <a:rPr sz="1400" b="1" dirty="0">
                <a:solidFill>
                  <a:srgbClr val="1F487B"/>
                </a:solidFill>
                <a:latin typeface="Arial"/>
              </a:rPr>
              <a:t>👥</a:t>
            </a:r>
          </a:p>
        </p:txBody>
      </p:sp>
      <p:sp>
        <p:nvSpPr>
          <p:cNvPr id="91" name="TextBox 90"/>
          <p:cNvSpPr txBox="1"/>
          <p:nvPr/>
        </p:nvSpPr>
        <p:spPr>
          <a:xfrm>
            <a:off x="4700016" y="5029200"/>
            <a:ext cx="3456432" cy="164592"/>
          </a:xfrm>
          <a:prstGeom prst="rect">
            <a:avLst/>
          </a:prstGeom>
          <a:noFill/>
        </p:spPr>
        <p:txBody>
          <a:bodyPr wrap="square" lIns="36576" tIns="36576" rIns="36576" bIns="36576" anchor="ctr">
            <a:spAutoFit/>
          </a:bodyPr>
          <a:lstStyle/>
          <a:p>
            <a:pPr algn="ctr"/>
            <a:r>
              <a:rPr sz="900" b="1" dirty="0">
                <a:solidFill>
                  <a:srgbClr val="1F487B"/>
                </a:solidFill>
                <a:latin typeface="Arial"/>
              </a:rPr>
              <a:t>CONNECTING STUDENT  ↔  INSTITUTION  ↔  INDUSTRY</a:t>
            </a:r>
          </a:p>
        </p:txBody>
      </p:sp>
      <p:sp>
        <p:nvSpPr>
          <p:cNvPr id="92" name="TextBox 91"/>
          <p:cNvSpPr txBox="1"/>
          <p:nvPr/>
        </p:nvSpPr>
        <p:spPr>
          <a:xfrm>
            <a:off x="4395107" y="5212756"/>
            <a:ext cx="3657600" cy="128016"/>
          </a:xfrm>
          <a:prstGeom prst="rect">
            <a:avLst/>
          </a:prstGeom>
          <a:noFill/>
        </p:spPr>
        <p:txBody>
          <a:bodyPr wrap="square" lIns="36576" tIns="36576" rIns="36576" bIns="36576" anchor="ctr">
            <a:spAutoFit/>
          </a:bodyPr>
          <a:lstStyle/>
          <a:p>
            <a:pPr algn="ctr"/>
            <a:r>
              <a:rPr sz="740" b="0" dirty="0">
                <a:solidFill>
                  <a:srgbClr val="3380BE"/>
                </a:solidFill>
                <a:latin typeface="Arial"/>
              </a:rPr>
              <a:t>Role-based access through secure APIs</a:t>
            </a:r>
          </a:p>
        </p:txBody>
      </p:sp>
      <p:sp>
        <p:nvSpPr>
          <p:cNvPr id="93" name="Rounded Rectangle 92"/>
          <p:cNvSpPr/>
          <p:nvPr/>
        </p:nvSpPr>
        <p:spPr>
          <a:xfrm>
            <a:off x="8842248" y="1965960"/>
            <a:ext cx="3154680" cy="640080"/>
          </a:xfrm>
          <a:prstGeom prst="roundRect">
            <a:avLst/>
          </a:prstGeom>
          <a:solidFill>
            <a:srgbClr val="E8F2FA"/>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val 93"/>
          <p:cNvSpPr/>
          <p:nvPr/>
        </p:nvSpPr>
        <p:spPr>
          <a:xfrm>
            <a:off x="8951976" y="2002536"/>
            <a:ext cx="566928" cy="566928"/>
          </a:xfrm>
          <a:prstGeom prst="ellipse">
            <a:avLst/>
          </a:prstGeom>
          <a:solidFill>
            <a:srgbClr val="1F487B"/>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8951976" y="2011679"/>
            <a:ext cx="566928" cy="566928"/>
          </a:xfrm>
          <a:prstGeom prst="rect">
            <a:avLst/>
          </a:prstGeom>
          <a:noFill/>
        </p:spPr>
        <p:txBody>
          <a:bodyPr wrap="square" lIns="36576" tIns="36576" rIns="36576" bIns="36576" anchor="ctr">
            <a:spAutoFit/>
          </a:bodyPr>
          <a:lstStyle/>
          <a:p>
            <a:pPr algn="ctr"/>
            <a:r>
              <a:rPr sz="1800" b="1">
                <a:solidFill>
                  <a:srgbClr val="FFFFFF"/>
                </a:solidFill>
                <a:latin typeface="Arial"/>
              </a:rPr>
              <a:t>◎</a:t>
            </a:r>
          </a:p>
        </p:txBody>
      </p:sp>
      <p:sp>
        <p:nvSpPr>
          <p:cNvPr id="96" name="TextBox 95"/>
          <p:cNvSpPr txBox="1"/>
          <p:nvPr/>
        </p:nvSpPr>
        <p:spPr>
          <a:xfrm>
            <a:off x="9619488" y="2075688"/>
            <a:ext cx="1920240" cy="164592"/>
          </a:xfrm>
          <a:prstGeom prst="rect">
            <a:avLst/>
          </a:prstGeom>
          <a:noFill/>
        </p:spPr>
        <p:txBody>
          <a:bodyPr wrap="square" lIns="36576" tIns="36576" rIns="36576" bIns="36576" anchor="ctr">
            <a:spAutoFit/>
          </a:bodyPr>
          <a:lstStyle/>
          <a:p>
            <a:pPr algn="l"/>
            <a:r>
              <a:rPr sz="950" b="1">
                <a:solidFill>
                  <a:srgbClr val="1F487B"/>
                </a:solidFill>
                <a:latin typeface="Arial"/>
              </a:rPr>
              <a:t>CLEAR DIRECTION</a:t>
            </a:r>
          </a:p>
        </p:txBody>
      </p:sp>
      <p:sp>
        <p:nvSpPr>
          <p:cNvPr id="97" name="TextBox 96"/>
          <p:cNvSpPr txBox="1"/>
          <p:nvPr/>
        </p:nvSpPr>
        <p:spPr>
          <a:xfrm>
            <a:off x="9628632" y="2217419"/>
            <a:ext cx="2084831" cy="381643"/>
          </a:xfrm>
          <a:prstGeom prst="rect">
            <a:avLst/>
          </a:prstGeom>
          <a:noFill/>
        </p:spPr>
        <p:txBody>
          <a:bodyPr wrap="square" lIns="36576" tIns="36576" rIns="36576" bIns="36576" anchor="t">
            <a:spAutoFit/>
          </a:bodyPr>
          <a:lstStyle/>
          <a:p>
            <a:pPr algn="l"/>
            <a:r>
              <a:rPr sz="1000" b="0" dirty="0">
                <a:solidFill>
                  <a:srgbClr val="1F487B"/>
                </a:solidFill>
                <a:latin typeface="Arial"/>
              </a:rPr>
              <a:t>• Discover interests
• Set realistic goals</a:t>
            </a:r>
          </a:p>
        </p:txBody>
      </p:sp>
      <p:sp>
        <p:nvSpPr>
          <p:cNvPr id="98" name="Rounded Rectangle 97"/>
          <p:cNvSpPr/>
          <p:nvPr/>
        </p:nvSpPr>
        <p:spPr>
          <a:xfrm>
            <a:off x="8842248" y="2688336"/>
            <a:ext cx="3154680" cy="640080"/>
          </a:xfrm>
          <a:prstGeom prst="roundRect">
            <a:avLst/>
          </a:prstGeom>
          <a:solidFill>
            <a:srgbClr val="E8F2FA"/>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val 98"/>
          <p:cNvSpPr/>
          <p:nvPr/>
        </p:nvSpPr>
        <p:spPr>
          <a:xfrm>
            <a:off x="8951976" y="2724912"/>
            <a:ext cx="566928" cy="566928"/>
          </a:xfrm>
          <a:prstGeom prst="ellipse">
            <a:avLst/>
          </a:prstGeom>
          <a:solidFill>
            <a:srgbClr val="1F487B"/>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8951976" y="2734056"/>
            <a:ext cx="566928" cy="566928"/>
          </a:xfrm>
          <a:prstGeom prst="rect">
            <a:avLst/>
          </a:prstGeom>
          <a:noFill/>
        </p:spPr>
        <p:txBody>
          <a:bodyPr wrap="square" lIns="36576" tIns="36576" rIns="36576" bIns="36576" anchor="ctr">
            <a:spAutoFit/>
          </a:bodyPr>
          <a:lstStyle/>
          <a:p>
            <a:pPr algn="ctr"/>
            <a:r>
              <a:rPr sz="1800" b="1">
                <a:solidFill>
                  <a:srgbClr val="FFFFFF"/>
                </a:solidFill>
                <a:latin typeface="Arial"/>
              </a:rPr>
              <a:t>▤</a:t>
            </a:r>
          </a:p>
        </p:txBody>
      </p:sp>
      <p:sp>
        <p:nvSpPr>
          <p:cNvPr id="101" name="TextBox 100"/>
          <p:cNvSpPr txBox="1"/>
          <p:nvPr/>
        </p:nvSpPr>
        <p:spPr>
          <a:xfrm>
            <a:off x="9656063" y="2730520"/>
            <a:ext cx="1920240" cy="164592"/>
          </a:xfrm>
          <a:prstGeom prst="rect">
            <a:avLst/>
          </a:prstGeom>
          <a:noFill/>
        </p:spPr>
        <p:txBody>
          <a:bodyPr wrap="square" lIns="36576" tIns="36576" rIns="36576" bIns="36576" anchor="ctr">
            <a:spAutoFit/>
          </a:bodyPr>
          <a:lstStyle/>
          <a:p>
            <a:pPr algn="l"/>
            <a:r>
              <a:rPr sz="950" b="1" dirty="0">
                <a:solidFill>
                  <a:srgbClr val="1F487B"/>
                </a:solidFill>
                <a:latin typeface="Arial"/>
              </a:rPr>
              <a:t>BETTER RESOURCES</a:t>
            </a:r>
          </a:p>
        </p:txBody>
      </p:sp>
      <p:sp>
        <p:nvSpPr>
          <p:cNvPr id="102" name="TextBox 101"/>
          <p:cNvSpPr txBox="1"/>
          <p:nvPr/>
        </p:nvSpPr>
        <p:spPr>
          <a:xfrm>
            <a:off x="9656063" y="2906847"/>
            <a:ext cx="2084831" cy="381643"/>
          </a:xfrm>
          <a:prstGeom prst="rect">
            <a:avLst/>
          </a:prstGeom>
          <a:noFill/>
        </p:spPr>
        <p:txBody>
          <a:bodyPr wrap="square" lIns="36576" tIns="36576" rIns="36576" bIns="36576" anchor="t">
            <a:spAutoFit/>
          </a:bodyPr>
          <a:lstStyle/>
          <a:p>
            <a:pPr algn="l"/>
            <a:r>
              <a:rPr sz="1000" b="0" dirty="0">
                <a:solidFill>
                  <a:srgbClr val="1F487B"/>
                </a:solidFill>
                <a:latin typeface="Arial"/>
              </a:rPr>
              <a:t>• Curated &amp; verified content
• Domain specific learning</a:t>
            </a:r>
          </a:p>
        </p:txBody>
      </p:sp>
      <p:sp>
        <p:nvSpPr>
          <p:cNvPr id="103" name="Rounded Rectangle 102"/>
          <p:cNvSpPr/>
          <p:nvPr/>
        </p:nvSpPr>
        <p:spPr>
          <a:xfrm>
            <a:off x="8842248" y="3410712"/>
            <a:ext cx="3154680" cy="640080"/>
          </a:xfrm>
          <a:prstGeom prst="roundRect">
            <a:avLst/>
          </a:prstGeom>
          <a:solidFill>
            <a:srgbClr val="E8F2FA"/>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val 103"/>
          <p:cNvSpPr/>
          <p:nvPr/>
        </p:nvSpPr>
        <p:spPr>
          <a:xfrm>
            <a:off x="8951976" y="3447288"/>
            <a:ext cx="566928" cy="566928"/>
          </a:xfrm>
          <a:prstGeom prst="ellipse">
            <a:avLst/>
          </a:prstGeom>
          <a:solidFill>
            <a:srgbClr val="1F487B"/>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8951976" y="3456432"/>
            <a:ext cx="566928" cy="566928"/>
          </a:xfrm>
          <a:prstGeom prst="rect">
            <a:avLst/>
          </a:prstGeom>
          <a:noFill/>
        </p:spPr>
        <p:txBody>
          <a:bodyPr wrap="square" lIns="36576" tIns="36576" rIns="36576" bIns="36576" anchor="ctr">
            <a:spAutoFit/>
          </a:bodyPr>
          <a:lstStyle/>
          <a:p>
            <a:pPr algn="ctr"/>
            <a:r>
              <a:rPr sz="1800" b="1">
                <a:solidFill>
                  <a:srgbClr val="FFFFFF"/>
                </a:solidFill>
                <a:latin typeface="Arial"/>
              </a:rPr>
              <a:t>↗</a:t>
            </a:r>
          </a:p>
        </p:txBody>
      </p:sp>
      <p:sp>
        <p:nvSpPr>
          <p:cNvPr id="106" name="TextBox 105"/>
          <p:cNvSpPr txBox="1"/>
          <p:nvPr/>
        </p:nvSpPr>
        <p:spPr>
          <a:xfrm>
            <a:off x="9656063" y="3468952"/>
            <a:ext cx="1920240" cy="164592"/>
          </a:xfrm>
          <a:prstGeom prst="rect">
            <a:avLst/>
          </a:prstGeom>
          <a:noFill/>
        </p:spPr>
        <p:txBody>
          <a:bodyPr wrap="square" lIns="36576" tIns="36576" rIns="36576" bIns="36576" anchor="ctr">
            <a:spAutoFit/>
          </a:bodyPr>
          <a:lstStyle/>
          <a:p>
            <a:pPr algn="l"/>
            <a:r>
              <a:rPr sz="950" b="1" dirty="0">
                <a:solidFill>
                  <a:srgbClr val="1F487B"/>
                </a:solidFill>
                <a:latin typeface="Arial"/>
              </a:rPr>
              <a:t>BRIDGED SKILL GAP</a:t>
            </a:r>
          </a:p>
        </p:txBody>
      </p:sp>
      <p:sp>
        <p:nvSpPr>
          <p:cNvPr id="107" name="TextBox 106"/>
          <p:cNvSpPr txBox="1"/>
          <p:nvPr/>
        </p:nvSpPr>
        <p:spPr>
          <a:xfrm>
            <a:off x="9619488" y="3636130"/>
            <a:ext cx="2084831" cy="381643"/>
          </a:xfrm>
          <a:prstGeom prst="rect">
            <a:avLst/>
          </a:prstGeom>
          <a:noFill/>
        </p:spPr>
        <p:txBody>
          <a:bodyPr wrap="square" lIns="36576" tIns="36576" rIns="36576" bIns="36576" anchor="t">
            <a:spAutoFit/>
          </a:bodyPr>
          <a:lstStyle/>
          <a:p>
            <a:pPr algn="l"/>
            <a:r>
              <a:rPr sz="1000" b="0" dirty="0">
                <a:solidFill>
                  <a:srgbClr val="1F487B"/>
                </a:solidFill>
                <a:latin typeface="Arial"/>
              </a:rPr>
              <a:t>• Targeted practice &amp; assessment
• Industry-aligned skills</a:t>
            </a:r>
          </a:p>
        </p:txBody>
      </p:sp>
      <p:sp>
        <p:nvSpPr>
          <p:cNvPr id="108" name="Rounded Rectangle 107"/>
          <p:cNvSpPr/>
          <p:nvPr/>
        </p:nvSpPr>
        <p:spPr>
          <a:xfrm>
            <a:off x="8842248" y="4133087"/>
            <a:ext cx="3154680" cy="640080"/>
          </a:xfrm>
          <a:prstGeom prst="roundRect">
            <a:avLst/>
          </a:prstGeom>
          <a:solidFill>
            <a:srgbClr val="E8F2FA"/>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val 108"/>
          <p:cNvSpPr/>
          <p:nvPr/>
        </p:nvSpPr>
        <p:spPr>
          <a:xfrm>
            <a:off x="8951976" y="4169663"/>
            <a:ext cx="566928" cy="566928"/>
          </a:xfrm>
          <a:prstGeom prst="ellipse">
            <a:avLst/>
          </a:prstGeom>
          <a:solidFill>
            <a:srgbClr val="1F487B"/>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8951976" y="4178807"/>
            <a:ext cx="566928" cy="566928"/>
          </a:xfrm>
          <a:prstGeom prst="rect">
            <a:avLst/>
          </a:prstGeom>
          <a:noFill/>
        </p:spPr>
        <p:txBody>
          <a:bodyPr wrap="square" lIns="36576" tIns="36576" rIns="36576" bIns="36576" anchor="ctr">
            <a:spAutoFit/>
          </a:bodyPr>
          <a:lstStyle/>
          <a:p>
            <a:pPr algn="ctr"/>
            <a:r>
              <a:rPr sz="1800" b="1">
                <a:solidFill>
                  <a:srgbClr val="FFFFFF"/>
                </a:solidFill>
                <a:latin typeface="Arial"/>
              </a:rPr>
              <a:t>♙</a:t>
            </a:r>
          </a:p>
        </p:txBody>
      </p:sp>
      <p:sp>
        <p:nvSpPr>
          <p:cNvPr id="111" name="TextBox 110"/>
          <p:cNvSpPr txBox="1"/>
          <p:nvPr/>
        </p:nvSpPr>
        <p:spPr>
          <a:xfrm>
            <a:off x="9656063" y="4166107"/>
            <a:ext cx="1920240" cy="164592"/>
          </a:xfrm>
          <a:prstGeom prst="rect">
            <a:avLst/>
          </a:prstGeom>
          <a:noFill/>
        </p:spPr>
        <p:txBody>
          <a:bodyPr wrap="square" lIns="36576" tIns="36576" rIns="36576" bIns="36576" anchor="ctr">
            <a:spAutoFit/>
          </a:bodyPr>
          <a:lstStyle/>
          <a:p>
            <a:pPr algn="l"/>
            <a:r>
              <a:rPr sz="950" b="1" dirty="0">
                <a:solidFill>
                  <a:srgbClr val="1F487B"/>
                </a:solidFill>
                <a:latin typeface="Arial"/>
              </a:rPr>
              <a:t>FASTER GROWTH</a:t>
            </a:r>
          </a:p>
        </p:txBody>
      </p:sp>
      <p:sp>
        <p:nvSpPr>
          <p:cNvPr id="112" name="TextBox 111"/>
          <p:cNvSpPr txBox="1"/>
          <p:nvPr/>
        </p:nvSpPr>
        <p:spPr>
          <a:xfrm>
            <a:off x="9628632" y="4341972"/>
            <a:ext cx="2084831" cy="381643"/>
          </a:xfrm>
          <a:prstGeom prst="rect">
            <a:avLst/>
          </a:prstGeom>
          <a:noFill/>
        </p:spPr>
        <p:txBody>
          <a:bodyPr wrap="square" lIns="36576" tIns="36576" rIns="36576" bIns="36576" anchor="t">
            <a:spAutoFit/>
          </a:bodyPr>
          <a:lstStyle/>
          <a:p>
            <a:pPr algn="l"/>
            <a:r>
              <a:rPr sz="1000" b="0" dirty="0">
                <a:solidFill>
                  <a:srgbClr val="1F487B"/>
                </a:solidFill>
                <a:latin typeface="Arial"/>
              </a:rPr>
              <a:t>• Track progress
• Build profile &amp; achievements</a:t>
            </a:r>
          </a:p>
        </p:txBody>
      </p:sp>
      <p:sp>
        <p:nvSpPr>
          <p:cNvPr id="113" name="Rounded Rectangle 112"/>
          <p:cNvSpPr/>
          <p:nvPr/>
        </p:nvSpPr>
        <p:spPr>
          <a:xfrm>
            <a:off x="8842248" y="4855464"/>
            <a:ext cx="3154680" cy="640080"/>
          </a:xfrm>
          <a:prstGeom prst="roundRect">
            <a:avLst/>
          </a:prstGeom>
          <a:solidFill>
            <a:srgbClr val="E8F2FA"/>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val 113"/>
          <p:cNvSpPr/>
          <p:nvPr/>
        </p:nvSpPr>
        <p:spPr>
          <a:xfrm>
            <a:off x="8951976" y="4892040"/>
            <a:ext cx="566928" cy="566928"/>
          </a:xfrm>
          <a:prstGeom prst="ellipse">
            <a:avLst/>
          </a:prstGeom>
          <a:solidFill>
            <a:srgbClr val="1F487B"/>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8951976" y="4901183"/>
            <a:ext cx="566928" cy="566928"/>
          </a:xfrm>
          <a:prstGeom prst="rect">
            <a:avLst/>
          </a:prstGeom>
          <a:noFill/>
        </p:spPr>
        <p:txBody>
          <a:bodyPr wrap="square" lIns="36576" tIns="36576" rIns="36576" bIns="36576" anchor="ctr">
            <a:spAutoFit/>
          </a:bodyPr>
          <a:lstStyle/>
          <a:p>
            <a:pPr algn="ctr"/>
            <a:r>
              <a:rPr sz="1800" b="1">
                <a:solidFill>
                  <a:srgbClr val="FFFFFF"/>
                </a:solidFill>
                <a:latin typeface="Arial"/>
              </a:rPr>
              <a:t>▣</a:t>
            </a:r>
          </a:p>
        </p:txBody>
      </p:sp>
      <p:sp>
        <p:nvSpPr>
          <p:cNvPr id="116" name="TextBox 115"/>
          <p:cNvSpPr txBox="1"/>
          <p:nvPr/>
        </p:nvSpPr>
        <p:spPr>
          <a:xfrm>
            <a:off x="9619488" y="4890855"/>
            <a:ext cx="1920240" cy="164592"/>
          </a:xfrm>
          <a:prstGeom prst="rect">
            <a:avLst/>
          </a:prstGeom>
          <a:noFill/>
        </p:spPr>
        <p:txBody>
          <a:bodyPr wrap="square" lIns="36576" tIns="36576" rIns="36576" bIns="36576" anchor="ctr">
            <a:spAutoFit/>
          </a:bodyPr>
          <a:lstStyle/>
          <a:p>
            <a:pPr algn="l"/>
            <a:r>
              <a:rPr sz="950" b="1" dirty="0">
                <a:solidFill>
                  <a:srgbClr val="1F487B"/>
                </a:solidFill>
                <a:latin typeface="Arial"/>
              </a:rPr>
              <a:t>MORE OPPORTUNITIES</a:t>
            </a:r>
          </a:p>
        </p:txBody>
      </p:sp>
      <p:sp>
        <p:nvSpPr>
          <p:cNvPr id="117" name="TextBox 116"/>
          <p:cNvSpPr txBox="1"/>
          <p:nvPr/>
        </p:nvSpPr>
        <p:spPr>
          <a:xfrm>
            <a:off x="9601201" y="5088161"/>
            <a:ext cx="2084831" cy="381643"/>
          </a:xfrm>
          <a:prstGeom prst="rect">
            <a:avLst/>
          </a:prstGeom>
          <a:noFill/>
        </p:spPr>
        <p:txBody>
          <a:bodyPr wrap="square" lIns="36576" tIns="36576" rIns="36576" bIns="36576" anchor="t">
            <a:spAutoFit/>
          </a:bodyPr>
          <a:lstStyle/>
          <a:p>
            <a:pPr algn="l"/>
            <a:r>
              <a:rPr sz="1000" b="0" dirty="0">
                <a:solidFill>
                  <a:srgbClr val="1F487B"/>
                </a:solidFill>
                <a:latin typeface="Arial"/>
              </a:rPr>
              <a:t>• Job feed &amp; referrals
• Mentorship &amp; guidance</a:t>
            </a:r>
          </a:p>
        </p:txBody>
      </p:sp>
      <p:cxnSp>
        <p:nvCxnSpPr>
          <p:cNvPr id="118" name="Connector 117"/>
          <p:cNvCxnSpPr/>
          <p:nvPr/>
        </p:nvCxnSpPr>
        <p:spPr>
          <a:xfrm>
            <a:off x="182880" y="5550408"/>
            <a:ext cx="11795760" cy="0"/>
          </a:xfrm>
          <a:prstGeom prst="line">
            <a:avLst/>
          </a:prstGeom>
          <a:ln w="10160">
            <a:solidFill>
              <a:srgbClr val="3380BE"/>
            </a:solidFill>
          </a:ln>
        </p:spPr>
        <p:style>
          <a:lnRef idx="2">
            <a:schemeClr val="accent1"/>
          </a:lnRef>
          <a:fillRef idx="0">
            <a:schemeClr val="accent1"/>
          </a:fillRef>
          <a:effectRef idx="1">
            <a:schemeClr val="accent1"/>
          </a:effectRef>
          <a:fontRef idx="minor">
            <a:schemeClr val="tx1"/>
          </a:fontRef>
        </p:style>
      </p:cxnSp>
      <p:sp>
        <p:nvSpPr>
          <p:cNvPr id="119" name="Parallelogram 118"/>
          <p:cNvSpPr/>
          <p:nvPr/>
        </p:nvSpPr>
        <p:spPr>
          <a:xfrm>
            <a:off x="182880" y="5669280"/>
            <a:ext cx="2880360" cy="640080"/>
          </a:xfrm>
          <a:prstGeom prst="parallelogram">
            <a:avLst/>
          </a:prstGeom>
          <a:solidFill>
            <a:srgbClr val="1F487B"/>
          </a:solidFill>
          <a:ln>
            <a:solidFill>
              <a:srgbClr val="1F48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Parallelogram 119"/>
          <p:cNvSpPr/>
          <p:nvPr/>
        </p:nvSpPr>
        <p:spPr>
          <a:xfrm>
            <a:off x="2898648" y="5669280"/>
            <a:ext cx="228600" cy="640080"/>
          </a:xfrm>
          <a:prstGeom prst="parallelogram">
            <a:avLst/>
          </a:prstGeom>
          <a:solidFill>
            <a:srgbClr val="EB8B23"/>
          </a:solidFill>
          <a:ln>
            <a:solidFill>
              <a:srgbClr val="EB8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438912" y="5742432"/>
            <a:ext cx="502920" cy="292608"/>
          </a:xfrm>
          <a:prstGeom prst="rect">
            <a:avLst/>
          </a:prstGeom>
          <a:noFill/>
        </p:spPr>
        <p:txBody>
          <a:bodyPr wrap="square" lIns="36576" tIns="36576" rIns="36576" bIns="36576" anchor="ctr">
            <a:spAutoFit/>
          </a:bodyPr>
          <a:lstStyle/>
          <a:p>
            <a:pPr algn="ctr"/>
            <a:r>
              <a:rPr sz="2400" b="1">
                <a:solidFill>
                  <a:srgbClr val="FFFFFF"/>
                </a:solidFill>
                <a:latin typeface="Arial"/>
              </a:rPr>
              <a:t>▭</a:t>
            </a:r>
          </a:p>
        </p:txBody>
      </p:sp>
      <p:sp>
        <p:nvSpPr>
          <p:cNvPr id="122" name="TextBox 121"/>
          <p:cNvSpPr txBox="1"/>
          <p:nvPr/>
        </p:nvSpPr>
        <p:spPr>
          <a:xfrm>
            <a:off x="1097280" y="5715000"/>
            <a:ext cx="1188720" cy="219456"/>
          </a:xfrm>
          <a:prstGeom prst="rect">
            <a:avLst/>
          </a:prstGeom>
          <a:noFill/>
        </p:spPr>
        <p:txBody>
          <a:bodyPr wrap="square" lIns="36576" tIns="36576" rIns="36576" bIns="36576" anchor="ctr">
            <a:spAutoFit/>
          </a:bodyPr>
          <a:lstStyle/>
          <a:p>
            <a:pPr algn="l"/>
            <a:r>
              <a:rPr sz="1900" b="1">
                <a:solidFill>
                  <a:srgbClr val="FFFFFF"/>
                </a:solidFill>
                <a:latin typeface="Arial"/>
              </a:rPr>
              <a:t>PROTOTYPE</a:t>
            </a:r>
          </a:p>
        </p:txBody>
      </p:sp>
      <p:sp>
        <p:nvSpPr>
          <p:cNvPr id="123" name="TextBox 122"/>
          <p:cNvSpPr txBox="1"/>
          <p:nvPr/>
        </p:nvSpPr>
        <p:spPr>
          <a:xfrm>
            <a:off x="1097280" y="5980176"/>
            <a:ext cx="1737360" cy="146304"/>
          </a:xfrm>
          <a:prstGeom prst="rect">
            <a:avLst/>
          </a:prstGeom>
          <a:noFill/>
        </p:spPr>
        <p:txBody>
          <a:bodyPr wrap="square" lIns="36576" tIns="36576" rIns="36576" bIns="36576" anchor="ctr">
            <a:spAutoFit/>
          </a:bodyPr>
          <a:lstStyle/>
          <a:p>
            <a:pPr algn="l"/>
            <a:r>
              <a:rPr sz="850" b="1">
                <a:solidFill>
                  <a:srgbClr val="FFFFFF"/>
                </a:solidFill>
                <a:latin typeface="Arial"/>
              </a:rPr>
              <a:t>INTERACTIVE PLATFORM</a:t>
            </a:r>
          </a:p>
        </p:txBody>
      </p:sp>
      <p:sp>
        <p:nvSpPr>
          <p:cNvPr id="124" name="Rounded Rectangle 123"/>
          <p:cNvSpPr/>
          <p:nvPr/>
        </p:nvSpPr>
        <p:spPr>
          <a:xfrm>
            <a:off x="3246120" y="5669280"/>
            <a:ext cx="2596896" cy="640080"/>
          </a:xfrm>
          <a:prstGeom prst="roundRect">
            <a:avLst/>
          </a:prstGeom>
          <a:solidFill>
            <a:srgbClr val="F6F9F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Rounded Rectangle 124"/>
          <p:cNvSpPr/>
          <p:nvPr/>
        </p:nvSpPr>
        <p:spPr>
          <a:xfrm>
            <a:off x="3319272" y="5715000"/>
            <a:ext cx="777240" cy="219456"/>
          </a:xfrm>
          <a:prstGeom prst="roundRect">
            <a:avLst/>
          </a:prstGeom>
          <a:solidFill>
            <a:srgbClr val="1F487B"/>
          </a:solidFill>
          <a:ln>
            <a:solidFill>
              <a:srgbClr val="1F48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3319272" y="5710428"/>
            <a:ext cx="777240" cy="182880"/>
          </a:xfrm>
          <a:prstGeom prst="rect">
            <a:avLst/>
          </a:prstGeom>
          <a:noFill/>
        </p:spPr>
        <p:txBody>
          <a:bodyPr wrap="square" lIns="36576" tIns="36576" rIns="36576" bIns="36576" anchor="ctr">
            <a:spAutoFit/>
          </a:bodyPr>
          <a:lstStyle/>
          <a:p>
            <a:pPr algn="ctr"/>
            <a:r>
              <a:rPr sz="900" b="1">
                <a:solidFill>
                  <a:srgbClr val="FFFFFF"/>
                </a:solidFill>
                <a:latin typeface="Arial"/>
              </a:rPr>
              <a:t>BEFORE</a:t>
            </a:r>
          </a:p>
        </p:txBody>
      </p:sp>
      <p:sp>
        <p:nvSpPr>
          <p:cNvPr id="127" name="TextBox 126"/>
          <p:cNvSpPr txBox="1"/>
          <p:nvPr/>
        </p:nvSpPr>
        <p:spPr>
          <a:xfrm>
            <a:off x="4160520" y="5715000"/>
            <a:ext cx="868680" cy="173736"/>
          </a:xfrm>
          <a:prstGeom prst="rect">
            <a:avLst/>
          </a:prstGeom>
          <a:noFill/>
        </p:spPr>
        <p:txBody>
          <a:bodyPr wrap="square" lIns="36576" tIns="36576" rIns="36576" bIns="36576" anchor="ctr">
            <a:spAutoFit/>
          </a:bodyPr>
          <a:lstStyle/>
          <a:p>
            <a:pPr algn="l"/>
            <a:r>
              <a:rPr sz="840" b="1">
                <a:solidFill>
                  <a:srgbClr val="1F487B"/>
                </a:solidFill>
                <a:latin typeface="Arial"/>
              </a:rPr>
              <a:t>THE OLD WAY</a:t>
            </a:r>
          </a:p>
        </p:txBody>
      </p:sp>
      <p:sp>
        <p:nvSpPr>
          <p:cNvPr id="128" name="TextBox 127"/>
          <p:cNvSpPr txBox="1"/>
          <p:nvPr/>
        </p:nvSpPr>
        <p:spPr>
          <a:xfrm>
            <a:off x="3456432" y="5961888"/>
            <a:ext cx="384048" cy="237744"/>
          </a:xfrm>
          <a:prstGeom prst="rect">
            <a:avLst/>
          </a:prstGeom>
          <a:noFill/>
        </p:spPr>
        <p:txBody>
          <a:bodyPr wrap="square" lIns="36576" tIns="36576" rIns="36576" bIns="36576" anchor="ctr">
            <a:spAutoFit/>
          </a:bodyPr>
          <a:lstStyle/>
          <a:p>
            <a:pPr algn="ctr"/>
            <a:r>
              <a:rPr sz="1800" b="1">
                <a:solidFill>
                  <a:srgbClr val="1F487B"/>
                </a:solidFill>
                <a:latin typeface="Arial"/>
              </a:rPr>
              <a:t>❓</a:t>
            </a:r>
          </a:p>
        </p:txBody>
      </p:sp>
      <p:sp>
        <p:nvSpPr>
          <p:cNvPr id="129" name="TextBox 128"/>
          <p:cNvSpPr txBox="1"/>
          <p:nvPr/>
        </p:nvSpPr>
        <p:spPr>
          <a:xfrm>
            <a:off x="3959352" y="5916168"/>
            <a:ext cx="1700784" cy="338328"/>
          </a:xfrm>
          <a:prstGeom prst="rect">
            <a:avLst/>
          </a:prstGeom>
          <a:noFill/>
        </p:spPr>
        <p:txBody>
          <a:bodyPr wrap="square" lIns="36576" tIns="36576" rIns="36576" bIns="36576" anchor="t">
            <a:spAutoFit/>
          </a:bodyPr>
          <a:lstStyle/>
          <a:p>
            <a:pPr algn="l"/>
            <a:r>
              <a:rPr sz="640" b="0">
                <a:solidFill>
                  <a:srgbClr val="1F487B"/>
                </a:solidFill>
                <a:latin typeface="Arial"/>
              </a:rPr>
              <a:t>• Searching random websites
• No personalized guidance
• Unclear skill gaps
• No structured roadmap</a:t>
            </a:r>
          </a:p>
        </p:txBody>
      </p:sp>
      <p:sp>
        <p:nvSpPr>
          <p:cNvPr id="130" name="TextBox 129"/>
          <p:cNvSpPr txBox="1"/>
          <p:nvPr/>
        </p:nvSpPr>
        <p:spPr>
          <a:xfrm>
            <a:off x="5943600" y="5797296"/>
            <a:ext cx="438912" cy="329184"/>
          </a:xfrm>
          <a:prstGeom prst="rect">
            <a:avLst/>
          </a:prstGeom>
          <a:noFill/>
        </p:spPr>
        <p:txBody>
          <a:bodyPr wrap="square" lIns="36576" tIns="36576" rIns="36576" bIns="36576" anchor="ctr">
            <a:spAutoFit/>
          </a:bodyPr>
          <a:lstStyle/>
          <a:p>
            <a:pPr algn="ctr"/>
            <a:r>
              <a:rPr sz="2600" b="1">
                <a:solidFill>
                  <a:srgbClr val="3380BE"/>
                </a:solidFill>
                <a:latin typeface="Arial"/>
              </a:rPr>
              <a:t>»</a:t>
            </a:r>
          </a:p>
        </p:txBody>
      </p:sp>
      <p:sp>
        <p:nvSpPr>
          <p:cNvPr id="134" name="TextBox 133"/>
          <p:cNvSpPr txBox="1"/>
          <p:nvPr/>
        </p:nvSpPr>
        <p:spPr>
          <a:xfrm>
            <a:off x="6990588" y="5749205"/>
            <a:ext cx="1417320" cy="173736"/>
          </a:xfrm>
          <a:prstGeom prst="rect">
            <a:avLst/>
          </a:prstGeom>
          <a:noFill/>
        </p:spPr>
        <p:txBody>
          <a:bodyPr wrap="square" lIns="36576" tIns="36576" rIns="36576" bIns="36576" anchor="ctr">
            <a:spAutoFit/>
          </a:bodyPr>
          <a:lstStyle/>
          <a:p>
            <a:pPr algn="l"/>
            <a:r>
              <a:rPr sz="819" b="1" dirty="0">
                <a:solidFill>
                  <a:srgbClr val="3380BE"/>
                </a:solidFill>
                <a:latin typeface="Arial"/>
              </a:rPr>
              <a:t>WITH OUR SOLUTION</a:t>
            </a:r>
          </a:p>
        </p:txBody>
      </p:sp>
      <p:sp>
        <p:nvSpPr>
          <p:cNvPr id="136" name="TextBox 135"/>
          <p:cNvSpPr txBox="1"/>
          <p:nvPr/>
        </p:nvSpPr>
        <p:spPr>
          <a:xfrm>
            <a:off x="6903719" y="5897879"/>
            <a:ext cx="2274147" cy="689420"/>
          </a:xfrm>
          <a:prstGeom prst="rect">
            <a:avLst/>
          </a:prstGeom>
          <a:noFill/>
        </p:spPr>
        <p:txBody>
          <a:bodyPr wrap="square" lIns="36576" tIns="36576" rIns="36576" bIns="36576" anchor="t">
            <a:spAutoFit/>
          </a:bodyPr>
          <a:lstStyle/>
          <a:p>
            <a:pPr algn="l"/>
            <a:r>
              <a:rPr sz="800" b="0" dirty="0">
                <a:solidFill>
                  <a:srgbClr val="1F487B"/>
                </a:solidFill>
                <a:latin typeface="Arial"/>
              </a:rPr>
              <a:t>✓ Personalized learning path
✓ AI-driven assessment
✓ Skill gap analysis
✓ Progress tracking &amp; streaks
✓ Jobs, mentorship &amp; more</a:t>
            </a:r>
          </a:p>
        </p:txBody>
      </p:sp>
      <p:sp>
        <p:nvSpPr>
          <p:cNvPr id="137" name="Parallelogram 136"/>
          <p:cNvSpPr/>
          <p:nvPr/>
        </p:nvSpPr>
        <p:spPr>
          <a:xfrm>
            <a:off x="9619488" y="5669280"/>
            <a:ext cx="2404872" cy="640080"/>
          </a:xfrm>
          <a:prstGeom prst="parallelogram">
            <a:avLst/>
          </a:prstGeom>
          <a:solidFill>
            <a:srgbClr val="1F487B"/>
          </a:solidFill>
          <a:ln>
            <a:solidFill>
              <a:srgbClr val="1F48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TextBox 137"/>
          <p:cNvSpPr txBox="1"/>
          <p:nvPr/>
        </p:nvSpPr>
        <p:spPr>
          <a:xfrm>
            <a:off x="9802368" y="5760720"/>
            <a:ext cx="2039112" cy="393192"/>
          </a:xfrm>
          <a:prstGeom prst="rect">
            <a:avLst/>
          </a:prstGeom>
          <a:noFill/>
        </p:spPr>
        <p:txBody>
          <a:bodyPr wrap="square" lIns="36576" tIns="36576" rIns="36576" bIns="36576" anchor="ctr">
            <a:spAutoFit/>
          </a:bodyPr>
          <a:lstStyle/>
          <a:p>
            <a:pPr algn="ctr"/>
            <a:r>
              <a:rPr sz="1500" b="1">
                <a:solidFill>
                  <a:srgbClr val="FFFFFF"/>
                </a:solidFill>
                <a:latin typeface="Arial"/>
              </a:rPr>
              <a:t>Smarter Learning.
Brighter Careers.</a:t>
            </a:r>
          </a:p>
        </p:txBody>
      </p:sp>
      <p:sp>
        <p:nvSpPr>
          <p:cNvPr id="139" name="TextBox 138"/>
          <p:cNvSpPr txBox="1"/>
          <p:nvPr/>
        </p:nvSpPr>
        <p:spPr>
          <a:xfrm>
            <a:off x="320040" y="6547104"/>
            <a:ext cx="2834640" cy="128016"/>
          </a:xfrm>
          <a:prstGeom prst="rect">
            <a:avLst/>
          </a:prstGeom>
          <a:noFill/>
        </p:spPr>
        <p:txBody>
          <a:bodyPr wrap="square" lIns="36576" tIns="36576" rIns="36576" bIns="36576" anchor="ctr">
            <a:spAutoFit/>
          </a:bodyPr>
          <a:lstStyle/>
          <a:p>
            <a:pPr algn="l"/>
            <a:r>
              <a:rPr sz="700" b="1">
                <a:solidFill>
                  <a:srgbClr val="3380BE"/>
                </a:solidFill>
                <a:latin typeface="Arial"/>
              </a:rPr>
              <a:t>AI-POWERED • PERSONALIZED • END-TO-END</a:t>
            </a:r>
          </a:p>
        </p:txBody>
      </p:sp>
      <p:grpSp>
        <p:nvGrpSpPr>
          <p:cNvPr id="184" name="Group 183">
            <a:extLst>
              <a:ext uri="{FF2B5EF4-FFF2-40B4-BE49-F238E27FC236}">
                <a16:creationId xmlns:a16="http://schemas.microsoft.com/office/drawing/2014/main" id="{E3D07B02-6785-CDF9-C9A7-80B85548A234}"/>
              </a:ext>
            </a:extLst>
          </p:cNvPr>
          <p:cNvGrpSpPr/>
          <p:nvPr/>
        </p:nvGrpSpPr>
        <p:grpSpPr>
          <a:xfrm>
            <a:off x="0" y="1362456"/>
            <a:ext cx="12191695" cy="1554481"/>
            <a:chOff x="0" y="1362456"/>
            <a:chExt cx="12191695" cy="1554481"/>
          </a:xfrm>
        </p:grpSpPr>
        <p:sp>
          <p:nvSpPr>
            <p:cNvPr id="64" name="Trapezoid 63"/>
            <p:cNvSpPr/>
            <p:nvPr/>
          </p:nvSpPr>
          <p:spPr>
            <a:xfrm>
              <a:off x="5097781" y="2532889"/>
              <a:ext cx="2066543" cy="384048"/>
            </a:xfrm>
            <a:prstGeom prst="trapezoid">
              <a:avLst/>
            </a:prstGeom>
            <a:solidFill>
              <a:srgbClr val="EB8B23"/>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6" name="TextBox 65"/>
            <p:cNvSpPr txBox="1"/>
            <p:nvPr/>
          </p:nvSpPr>
          <p:spPr>
            <a:xfrm>
              <a:off x="5857097" y="2118181"/>
              <a:ext cx="1322588" cy="207621"/>
            </a:xfrm>
            <a:prstGeom prst="rect">
              <a:avLst/>
            </a:prstGeom>
            <a:noFill/>
          </p:spPr>
          <p:txBody>
            <a:bodyPr wrap="square" lIns="36576" tIns="36576" rIns="36576" bIns="36576" anchor="ctr">
              <a:spAutoFit/>
            </a:bodyPr>
            <a:lstStyle/>
            <a:p>
              <a:pPr algn="ctr"/>
              <a:r>
                <a:rPr lang="en-IN" sz="869" b="1" dirty="0">
                  <a:solidFill>
                    <a:srgbClr val="FFFFFF"/>
                  </a:solidFill>
                  <a:latin typeface="Arial"/>
                </a:rPr>
                <a:t>INTER</a:t>
              </a:r>
              <a:endParaRPr sz="869" b="1" dirty="0">
                <a:solidFill>
                  <a:srgbClr val="FFFFFF"/>
                </a:solidFill>
                <a:latin typeface="Arial"/>
              </a:endParaRPr>
            </a:p>
          </p:txBody>
        </p:sp>
        <p:sp>
          <p:nvSpPr>
            <p:cNvPr id="67" name="TextBox 66"/>
            <p:cNvSpPr txBox="1"/>
            <p:nvPr/>
          </p:nvSpPr>
          <p:spPr>
            <a:xfrm>
              <a:off x="5547116" y="2295144"/>
              <a:ext cx="1653235" cy="91440"/>
            </a:xfrm>
            <a:prstGeom prst="rect">
              <a:avLst/>
            </a:prstGeom>
            <a:noFill/>
          </p:spPr>
          <p:txBody>
            <a:bodyPr wrap="square" lIns="36576" tIns="36576" rIns="36576" bIns="36576" anchor="ctr">
              <a:spAutoFit/>
            </a:bodyPr>
            <a:lstStyle/>
            <a:p>
              <a:pPr algn="ctr"/>
              <a:r>
                <a:rPr sz="660" b="0" dirty="0">
                  <a:solidFill>
                    <a:srgbClr val="FFFFFF"/>
                  </a:solidFill>
                  <a:latin typeface="Arial"/>
                </a:rPr>
                <a:t>Know your goals &amp; preferences</a:t>
              </a:r>
            </a:p>
          </p:txBody>
        </p:sp>
        <p:sp>
          <p:nvSpPr>
            <p:cNvPr id="84" name="TextBox 83"/>
            <p:cNvSpPr txBox="1"/>
            <p:nvPr/>
          </p:nvSpPr>
          <p:spPr>
            <a:xfrm>
              <a:off x="5385816" y="2093976"/>
              <a:ext cx="365760" cy="256032"/>
            </a:xfrm>
            <a:prstGeom prst="rect">
              <a:avLst/>
            </a:prstGeom>
            <a:noFill/>
          </p:spPr>
          <p:txBody>
            <a:bodyPr wrap="square" lIns="36576" tIns="36576" rIns="36576" bIns="36576" anchor="ctr">
              <a:spAutoFit/>
            </a:bodyPr>
            <a:lstStyle/>
            <a:p>
              <a:pPr algn="ctr"/>
              <a:r>
                <a:rPr sz="1700" b="1">
                  <a:solidFill>
                    <a:srgbClr val="FFFFFF"/>
                  </a:solidFill>
                  <a:latin typeface="Arial"/>
                </a:rPr>
                <a:t>●</a:t>
              </a:r>
            </a:p>
          </p:txBody>
        </p:sp>
        <p:sp>
          <p:nvSpPr>
            <p:cNvPr id="141" name="Rectangle 140"/>
            <p:cNvSpPr/>
            <p:nvPr/>
          </p:nvSpPr>
          <p:spPr>
            <a:xfrm>
              <a:off x="0" y="1362456"/>
              <a:ext cx="12191695" cy="62179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142" name="Parallelogram 141"/>
          <p:cNvSpPr/>
          <p:nvPr/>
        </p:nvSpPr>
        <p:spPr>
          <a:xfrm>
            <a:off x="182880" y="1399032"/>
            <a:ext cx="3401568" cy="530352"/>
          </a:xfrm>
          <a:prstGeom prst="parallelogram">
            <a:avLst/>
          </a:prstGeom>
          <a:solidFill>
            <a:srgbClr val="558ED5"/>
          </a:solidFill>
          <a:ln>
            <a:solidFill>
              <a:srgbClr val="1F48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Parallelogram 142"/>
          <p:cNvSpPr/>
          <p:nvPr/>
        </p:nvSpPr>
        <p:spPr>
          <a:xfrm>
            <a:off x="3685032" y="1399032"/>
            <a:ext cx="5138928" cy="530352"/>
          </a:xfrm>
          <a:prstGeom prst="parallelogram">
            <a:avLst/>
          </a:prstGeom>
          <a:solidFill>
            <a:srgbClr val="FF5050"/>
          </a:solidFill>
          <a:ln>
            <a:solidFill>
              <a:srgbClr val="1F48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Parallelogram 143"/>
          <p:cNvSpPr/>
          <p:nvPr/>
        </p:nvSpPr>
        <p:spPr>
          <a:xfrm>
            <a:off x="8887968" y="1399032"/>
            <a:ext cx="3127248" cy="530352"/>
          </a:xfrm>
          <a:prstGeom prst="parallelogram">
            <a:avLst/>
          </a:prstGeom>
          <a:solidFill>
            <a:srgbClr val="00B050"/>
          </a:solidFill>
          <a:ln>
            <a:solidFill>
              <a:srgbClr val="1F48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Parallelogram 144"/>
          <p:cNvSpPr/>
          <p:nvPr/>
        </p:nvSpPr>
        <p:spPr>
          <a:xfrm>
            <a:off x="73152" y="1499616"/>
            <a:ext cx="292608" cy="301752"/>
          </a:xfrm>
          <a:prstGeom prst="parallelogram">
            <a:avLst/>
          </a:prstGeom>
          <a:solidFill>
            <a:srgbClr val="EB8B23"/>
          </a:solidFill>
          <a:ln>
            <a:solidFill>
              <a:srgbClr val="EB8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Parallelogram 145"/>
          <p:cNvSpPr/>
          <p:nvPr/>
        </p:nvSpPr>
        <p:spPr>
          <a:xfrm>
            <a:off x="3584448" y="1499616"/>
            <a:ext cx="292608" cy="301752"/>
          </a:xfrm>
          <a:prstGeom prst="parallelogram">
            <a:avLst/>
          </a:prstGeom>
          <a:solidFill>
            <a:srgbClr val="EB8B23"/>
          </a:solidFill>
          <a:ln>
            <a:solidFill>
              <a:srgbClr val="EB8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Parallelogram 146"/>
          <p:cNvSpPr/>
          <p:nvPr/>
        </p:nvSpPr>
        <p:spPr>
          <a:xfrm>
            <a:off x="8778240" y="1499616"/>
            <a:ext cx="292608" cy="301752"/>
          </a:xfrm>
          <a:prstGeom prst="parallelogram">
            <a:avLst/>
          </a:prstGeom>
          <a:solidFill>
            <a:srgbClr val="EB8B23"/>
          </a:solidFill>
          <a:ln>
            <a:solidFill>
              <a:srgbClr val="EB8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TextBox 147"/>
          <p:cNvSpPr txBox="1"/>
          <p:nvPr/>
        </p:nvSpPr>
        <p:spPr>
          <a:xfrm>
            <a:off x="283464" y="1463040"/>
            <a:ext cx="411480" cy="320040"/>
          </a:xfrm>
          <a:prstGeom prst="rect">
            <a:avLst/>
          </a:prstGeom>
          <a:noFill/>
        </p:spPr>
        <p:txBody>
          <a:bodyPr wrap="square" lIns="0" tIns="0" rIns="0" bIns="0" anchor="ctr">
            <a:spAutoFit/>
          </a:bodyPr>
          <a:lstStyle/>
          <a:p>
            <a:pPr algn="ctr"/>
            <a:r>
              <a:rPr sz="2000" b="1">
                <a:solidFill>
                  <a:srgbClr val="FFCA23"/>
                </a:solidFill>
                <a:latin typeface="Arial"/>
              </a:rPr>
              <a:t>⚠</a:t>
            </a:r>
          </a:p>
        </p:txBody>
      </p:sp>
      <p:sp>
        <p:nvSpPr>
          <p:cNvPr id="149" name="TextBox 148"/>
          <p:cNvSpPr txBox="1"/>
          <p:nvPr/>
        </p:nvSpPr>
        <p:spPr>
          <a:xfrm>
            <a:off x="621792" y="1453896"/>
            <a:ext cx="2286000" cy="228600"/>
          </a:xfrm>
          <a:prstGeom prst="rect">
            <a:avLst/>
          </a:prstGeom>
          <a:solidFill>
            <a:srgbClr val="558ED5"/>
          </a:solidFill>
        </p:spPr>
        <p:txBody>
          <a:bodyPr wrap="square" lIns="0" tIns="0" rIns="0" bIns="0" anchor="ctr">
            <a:spAutoFit/>
          </a:bodyPr>
          <a:lstStyle/>
          <a:p>
            <a:pPr algn="l"/>
            <a:r>
              <a:rPr sz="1700" b="1" dirty="0">
                <a:solidFill>
                  <a:srgbClr val="FFFFFF"/>
                </a:solidFill>
                <a:latin typeface="Arial"/>
              </a:rPr>
              <a:t>THE PROBLEM</a:t>
            </a:r>
          </a:p>
        </p:txBody>
      </p:sp>
      <p:sp>
        <p:nvSpPr>
          <p:cNvPr id="150" name="TextBox 149"/>
          <p:cNvSpPr txBox="1"/>
          <p:nvPr/>
        </p:nvSpPr>
        <p:spPr>
          <a:xfrm>
            <a:off x="621792" y="1682496"/>
            <a:ext cx="2468880" cy="118872"/>
          </a:xfrm>
          <a:prstGeom prst="rect">
            <a:avLst/>
          </a:prstGeom>
          <a:noFill/>
        </p:spPr>
        <p:txBody>
          <a:bodyPr wrap="square" lIns="0" tIns="0" rIns="0" bIns="0" anchor="ctr">
            <a:spAutoFit/>
          </a:bodyPr>
          <a:lstStyle/>
          <a:p>
            <a:pPr algn="l"/>
            <a:r>
              <a:rPr sz="780" b="1" dirty="0">
                <a:solidFill>
                  <a:srgbClr val="FFFFFF"/>
                </a:solidFill>
                <a:latin typeface="Arial"/>
              </a:rPr>
              <a:t>REAL CHALLENGES, REAL IMPACT</a:t>
            </a:r>
          </a:p>
        </p:txBody>
      </p:sp>
      <p:sp>
        <p:nvSpPr>
          <p:cNvPr id="151" name="TextBox 150"/>
          <p:cNvSpPr txBox="1"/>
          <p:nvPr/>
        </p:nvSpPr>
        <p:spPr>
          <a:xfrm>
            <a:off x="3858768" y="1444752"/>
            <a:ext cx="393192" cy="338328"/>
          </a:xfrm>
          <a:prstGeom prst="rect">
            <a:avLst/>
          </a:prstGeom>
          <a:noFill/>
        </p:spPr>
        <p:txBody>
          <a:bodyPr wrap="square" lIns="0" tIns="0" rIns="0" bIns="0" anchor="ctr">
            <a:spAutoFit/>
          </a:bodyPr>
          <a:lstStyle/>
          <a:p>
            <a:pPr algn="ctr"/>
            <a:r>
              <a:rPr sz="1800" b="1">
                <a:solidFill>
                  <a:srgbClr val="FFFFFF"/>
                </a:solidFill>
                <a:latin typeface="Arial"/>
              </a:rPr>
              <a:t>✺</a:t>
            </a:r>
          </a:p>
        </p:txBody>
      </p:sp>
      <p:sp>
        <p:nvSpPr>
          <p:cNvPr id="152" name="TextBox 151"/>
          <p:cNvSpPr txBox="1"/>
          <p:nvPr/>
        </p:nvSpPr>
        <p:spPr>
          <a:xfrm>
            <a:off x="4224528" y="1444752"/>
            <a:ext cx="2468880" cy="228600"/>
          </a:xfrm>
          <a:prstGeom prst="rect">
            <a:avLst/>
          </a:prstGeom>
          <a:noFill/>
        </p:spPr>
        <p:txBody>
          <a:bodyPr wrap="square" lIns="0" tIns="0" rIns="0" bIns="0" anchor="ctr">
            <a:spAutoFit/>
          </a:bodyPr>
          <a:lstStyle/>
          <a:p>
            <a:pPr algn="l"/>
            <a:r>
              <a:rPr sz="1700" b="1" dirty="0">
                <a:solidFill>
                  <a:srgbClr val="FFFFFF"/>
                </a:solidFill>
                <a:latin typeface="Arial"/>
              </a:rPr>
              <a:t>OUR SOLUTION</a:t>
            </a:r>
          </a:p>
        </p:txBody>
      </p:sp>
      <p:sp>
        <p:nvSpPr>
          <p:cNvPr id="153" name="TextBox 152"/>
          <p:cNvSpPr txBox="1"/>
          <p:nvPr/>
        </p:nvSpPr>
        <p:spPr>
          <a:xfrm>
            <a:off x="4224528" y="1682496"/>
            <a:ext cx="3474720" cy="118872"/>
          </a:xfrm>
          <a:prstGeom prst="rect">
            <a:avLst/>
          </a:prstGeom>
          <a:noFill/>
        </p:spPr>
        <p:txBody>
          <a:bodyPr wrap="square" lIns="0" tIns="0" rIns="0" bIns="0" anchor="ctr">
            <a:spAutoFit/>
          </a:bodyPr>
          <a:lstStyle/>
          <a:p>
            <a:pPr algn="l"/>
            <a:r>
              <a:rPr sz="780" b="1">
                <a:solidFill>
                  <a:srgbClr val="FFFFFF"/>
                </a:solidFill>
                <a:latin typeface="Arial"/>
              </a:rPr>
              <a:t>AI-POWERED • PERSONALIZED • END-TO-END</a:t>
            </a:r>
          </a:p>
        </p:txBody>
      </p:sp>
      <p:sp>
        <p:nvSpPr>
          <p:cNvPr id="154" name="TextBox 153"/>
          <p:cNvSpPr txBox="1"/>
          <p:nvPr/>
        </p:nvSpPr>
        <p:spPr>
          <a:xfrm>
            <a:off x="9043416" y="1444752"/>
            <a:ext cx="402336" cy="365760"/>
          </a:xfrm>
          <a:prstGeom prst="rect">
            <a:avLst/>
          </a:prstGeom>
          <a:noFill/>
        </p:spPr>
        <p:txBody>
          <a:bodyPr wrap="square" lIns="0" tIns="0" rIns="0" bIns="0" anchor="ctr">
            <a:spAutoFit/>
          </a:bodyPr>
          <a:lstStyle/>
          <a:p>
            <a:pPr algn="ctr"/>
            <a:r>
              <a:rPr sz="2200" b="1">
                <a:solidFill>
                  <a:srgbClr val="FFCA23"/>
                </a:solidFill>
                <a:latin typeface="Arial"/>
              </a:rPr>
              <a:t>★</a:t>
            </a:r>
          </a:p>
        </p:txBody>
      </p:sp>
      <p:sp>
        <p:nvSpPr>
          <p:cNvPr id="155" name="TextBox 154"/>
          <p:cNvSpPr txBox="1"/>
          <p:nvPr/>
        </p:nvSpPr>
        <p:spPr>
          <a:xfrm>
            <a:off x="9454896" y="1444752"/>
            <a:ext cx="2377440" cy="228600"/>
          </a:xfrm>
          <a:prstGeom prst="rect">
            <a:avLst/>
          </a:prstGeom>
          <a:noFill/>
        </p:spPr>
        <p:txBody>
          <a:bodyPr wrap="square" lIns="0" tIns="0" rIns="0" bIns="0" anchor="ctr">
            <a:spAutoFit/>
          </a:bodyPr>
          <a:lstStyle/>
          <a:p>
            <a:pPr algn="l"/>
            <a:r>
              <a:rPr sz="1500" b="1" dirty="0">
                <a:solidFill>
                  <a:srgbClr val="FFFFFF"/>
                </a:solidFill>
                <a:latin typeface="Arial"/>
              </a:rPr>
              <a:t>IMPACT / OUTCOME</a:t>
            </a:r>
          </a:p>
        </p:txBody>
      </p:sp>
      <p:sp>
        <p:nvSpPr>
          <p:cNvPr id="156" name="TextBox 155"/>
          <p:cNvSpPr txBox="1"/>
          <p:nvPr/>
        </p:nvSpPr>
        <p:spPr>
          <a:xfrm>
            <a:off x="9454896" y="1682496"/>
            <a:ext cx="2286000" cy="118872"/>
          </a:xfrm>
          <a:prstGeom prst="rect">
            <a:avLst/>
          </a:prstGeom>
          <a:noFill/>
        </p:spPr>
        <p:txBody>
          <a:bodyPr wrap="square" lIns="0" tIns="0" rIns="0" bIns="0" anchor="ctr">
            <a:spAutoFit/>
          </a:bodyPr>
          <a:lstStyle/>
          <a:p>
            <a:pPr algn="l"/>
            <a:r>
              <a:rPr sz="680" b="1">
                <a:solidFill>
                  <a:srgbClr val="FFFFFF"/>
                </a:solidFill>
                <a:latin typeface="Arial"/>
              </a:rPr>
              <a:t>A STRONGER, SMARTER CAREER ECOSYSTEM</a:t>
            </a:r>
          </a:p>
        </p:txBody>
      </p:sp>
      <p:sp>
        <p:nvSpPr>
          <p:cNvPr id="159" name="Parallelogram 158"/>
          <p:cNvSpPr/>
          <p:nvPr/>
        </p:nvSpPr>
        <p:spPr>
          <a:xfrm>
            <a:off x="182880" y="5669280"/>
            <a:ext cx="2880360" cy="640080"/>
          </a:xfrm>
          <a:prstGeom prst="parallelogram">
            <a:avLst/>
          </a:prstGeom>
          <a:solidFill>
            <a:srgbClr val="1F487B"/>
          </a:solidFill>
          <a:ln>
            <a:solidFill>
              <a:srgbClr val="1F48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Parallelogram 159"/>
          <p:cNvSpPr/>
          <p:nvPr/>
        </p:nvSpPr>
        <p:spPr>
          <a:xfrm>
            <a:off x="2898648" y="5669280"/>
            <a:ext cx="228600" cy="640080"/>
          </a:xfrm>
          <a:prstGeom prst="parallelogram">
            <a:avLst/>
          </a:prstGeom>
          <a:solidFill>
            <a:srgbClr val="EB8B23"/>
          </a:solidFill>
          <a:ln>
            <a:solidFill>
              <a:srgbClr val="EB8B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TextBox 161"/>
          <p:cNvSpPr txBox="1"/>
          <p:nvPr/>
        </p:nvSpPr>
        <p:spPr>
          <a:xfrm>
            <a:off x="1097280" y="5715000"/>
            <a:ext cx="1371600" cy="210312"/>
          </a:xfrm>
          <a:prstGeom prst="rect">
            <a:avLst/>
          </a:prstGeom>
          <a:noFill/>
        </p:spPr>
        <p:txBody>
          <a:bodyPr wrap="square" lIns="0" tIns="0" rIns="0" bIns="0" anchor="ctr">
            <a:spAutoFit/>
          </a:bodyPr>
          <a:lstStyle/>
          <a:p>
            <a:pPr algn="l"/>
            <a:r>
              <a:rPr sz="1700" b="1">
                <a:solidFill>
                  <a:srgbClr val="FFFFFF"/>
                </a:solidFill>
                <a:latin typeface="Arial"/>
              </a:rPr>
              <a:t>PROTOTYPE</a:t>
            </a:r>
          </a:p>
        </p:txBody>
      </p:sp>
      <p:sp>
        <p:nvSpPr>
          <p:cNvPr id="163" name="TextBox 162"/>
          <p:cNvSpPr txBox="1"/>
          <p:nvPr/>
        </p:nvSpPr>
        <p:spPr>
          <a:xfrm>
            <a:off x="1097280" y="5971032"/>
            <a:ext cx="1645920" cy="137160"/>
          </a:xfrm>
          <a:prstGeom prst="rect">
            <a:avLst/>
          </a:prstGeom>
          <a:noFill/>
        </p:spPr>
        <p:txBody>
          <a:bodyPr wrap="square" lIns="0" tIns="0" rIns="0" bIns="0" anchor="ctr">
            <a:spAutoFit/>
          </a:bodyPr>
          <a:lstStyle/>
          <a:p>
            <a:pPr algn="l"/>
            <a:r>
              <a:rPr sz="740" b="1">
                <a:solidFill>
                  <a:srgbClr val="FFFFFF"/>
                </a:solidFill>
                <a:latin typeface="Arial"/>
              </a:rPr>
              <a:t>INTERACTIVE PLATFORM</a:t>
            </a:r>
          </a:p>
        </p:txBody>
      </p:sp>
      <p:sp>
        <p:nvSpPr>
          <p:cNvPr id="164" name="Rounded Rectangle 163"/>
          <p:cNvSpPr/>
          <p:nvPr/>
        </p:nvSpPr>
        <p:spPr>
          <a:xfrm>
            <a:off x="3246120" y="5635075"/>
            <a:ext cx="2596896" cy="971296"/>
          </a:xfrm>
          <a:prstGeom prst="roundRect">
            <a:avLst/>
          </a:prstGeom>
          <a:solidFill>
            <a:srgbClr val="F6F9FC"/>
          </a:solidFill>
          <a:ln w="1143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Rounded Rectangle 164"/>
          <p:cNvSpPr/>
          <p:nvPr/>
        </p:nvSpPr>
        <p:spPr>
          <a:xfrm>
            <a:off x="3319271" y="5715000"/>
            <a:ext cx="615391" cy="182880"/>
          </a:xfrm>
          <a:prstGeom prst="roundRect">
            <a:avLst/>
          </a:prstGeom>
          <a:solidFill>
            <a:srgbClr val="1F487B"/>
          </a:solidFill>
          <a:ln>
            <a:solidFill>
              <a:srgbClr val="1F48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TextBox 165"/>
          <p:cNvSpPr txBox="1"/>
          <p:nvPr/>
        </p:nvSpPr>
        <p:spPr>
          <a:xfrm>
            <a:off x="3355848" y="5749205"/>
            <a:ext cx="521208" cy="133755"/>
          </a:xfrm>
          <a:prstGeom prst="rect">
            <a:avLst/>
          </a:prstGeom>
          <a:noFill/>
        </p:spPr>
        <p:txBody>
          <a:bodyPr wrap="square" lIns="0" tIns="0" rIns="0" bIns="0" anchor="ctr">
            <a:spAutoFit/>
          </a:bodyPr>
          <a:lstStyle/>
          <a:p>
            <a:pPr algn="ctr"/>
            <a:r>
              <a:rPr sz="869" b="1" dirty="0">
                <a:solidFill>
                  <a:srgbClr val="FFFFFF"/>
                </a:solidFill>
                <a:latin typeface="Arial"/>
              </a:rPr>
              <a:t>BEFORE</a:t>
            </a:r>
          </a:p>
        </p:txBody>
      </p:sp>
      <p:sp>
        <p:nvSpPr>
          <p:cNvPr id="167" name="TextBox 166"/>
          <p:cNvSpPr txBox="1"/>
          <p:nvPr/>
        </p:nvSpPr>
        <p:spPr>
          <a:xfrm>
            <a:off x="4036568" y="5735659"/>
            <a:ext cx="868680" cy="164592"/>
          </a:xfrm>
          <a:prstGeom prst="rect">
            <a:avLst/>
          </a:prstGeom>
          <a:noFill/>
        </p:spPr>
        <p:txBody>
          <a:bodyPr wrap="square" lIns="0" tIns="0" rIns="0" bIns="0" anchor="ctr">
            <a:spAutoFit/>
          </a:bodyPr>
          <a:lstStyle/>
          <a:p>
            <a:pPr algn="l"/>
            <a:r>
              <a:rPr sz="800" b="1" dirty="0">
                <a:solidFill>
                  <a:srgbClr val="1F487B"/>
                </a:solidFill>
                <a:latin typeface="Arial"/>
              </a:rPr>
              <a:t>THE OLD WAY</a:t>
            </a:r>
          </a:p>
        </p:txBody>
      </p:sp>
      <p:sp>
        <p:nvSpPr>
          <p:cNvPr id="168" name="TextBox 167"/>
          <p:cNvSpPr txBox="1"/>
          <p:nvPr/>
        </p:nvSpPr>
        <p:spPr>
          <a:xfrm>
            <a:off x="3447288" y="6071616"/>
            <a:ext cx="411480" cy="274320"/>
          </a:xfrm>
          <a:prstGeom prst="rect">
            <a:avLst/>
          </a:prstGeom>
          <a:noFill/>
        </p:spPr>
        <p:txBody>
          <a:bodyPr wrap="square" lIns="0" tIns="0" rIns="0" bIns="0" anchor="ctr">
            <a:spAutoFit/>
          </a:bodyPr>
          <a:lstStyle/>
          <a:p>
            <a:pPr algn="ctr"/>
            <a:r>
              <a:rPr sz="1700" b="1" dirty="0">
                <a:solidFill>
                  <a:srgbClr val="1F487B"/>
                </a:solidFill>
                <a:latin typeface="Arial"/>
              </a:rPr>
              <a:t>❓</a:t>
            </a:r>
          </a:p>
        </p:txBody>
      </p:sp>
      <p:sp>
        <p:nvSpPr>
          <p:cNvPr id="169" name="TextBox 168"/>
          <p:cNvSpPr txBox="1"/>
          <p:nvPr/>
        </p:nvSpPr>
        <p:spPr>
          <a:xfrm>
            <a:off x="3951257" y="5961888"/>
            <a:ext cx="1700784" cy="492443"/>
          </a:xfrm>
          <a:prstGeom prst="rect">
            <a:avLst/>
          </a:prstGeom>
          <a:noFill/>
        </p:spPr>
        <p:txBody>
          <a:bodyPr wrap="square" lIns="0" tIns="0" rIns="0" bIns="0" anchor="ctr">
            <a:spAutoFit/>
          </a:bodyPr>
          <a:lstStyle/>
          <a:p>
            <a:pPr algn="l"/>
            <a:r>
              <a:rPr sz="800" b="0" dirty="0">
                <a:solidFill>
                  <a:srgbClr val="1F487B"/>
                </a:solidFill>
                <a:latin typeface="Arial"/>
              </a:rPr>
              <a:t>• Searching random websites
• No personalized guidance
• Unclear skill gaps
• No structured roadmap</a:t>
            </a:r>
          </a:p>
        </p:txBody>
      </p:sp>
      <p:sp>
        <p:nvSpPr>
          <p:cNvPr id="170" name="TextBox 169"/>
          <p:cNvSpPr txBox="1"/>
          <p:nvPr/>
        </p:nvSpPr>
        <p:spPr>
          <a:xfrm>
            <a:off x="5751576" y="5797296"/>
            <a:ext cx="438912" cy="329184"/>
          </a:xfrm>
          <a:prstGeom prst="rect">
            <a:avLst/>
          </a:prstGeom>
          <a:noFill/>
        </p:spPr>
        <p:txBody>
          <a:bodyPr wrap="square" lIns="0" tIns="0" rIns="0" bIns="0" anchor="ctr">
            <a:spAutoFit/>
          </a:bodyPr>
          <a:lstStyle/>
          <a:p>
            <a:pPr algn="ctr"/>
            <a:r>
              <a:rPr sz="2500" b="1" dirty="0">
                <a:solidFill>
                  <a:srgbClr val="3380BE"/>
                </a:solidFill>
                <a:latin typeface="Arial"/>
              </a:rPr>
              <a:t>»</a:t>
            </a:r>
          </a:p>
        </p:txBody>
      </p:sp>
      <p:sp>
        <p:nvSpPr>
          <p:cNvPr id="177" name="Parallelogram 176"/>
          <p:cNvSpPr/>
          <p:nvPr/>
        </p:nvSpPr>
        <p:spPr>
          <a:xfrm>
            <a:off x="9619488" y="5669280"/>
            <a:ext cx="2404872" cy="640080"/>
          </a:xfrm>
          <a:prstGeom prst="parallelogram">
            <a:avLst/>
          </a:prstGeom>
          <a:solidFill>
            <a:srgbClr val="1F487B"/>
          </a:solidFill>
          <a:ln>
            <a:solidFill>
              <a:srgbClr val="1F48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TextBox 177"/>
          <p:cNvSpPr txBox="1"/>
          <p:nvPr/>
        </p:nvSpPr>
        <p:spPr>
          <a:xfrm>
            <a:off x="9802368" y="5760720"/>
            <a:ext cx="2039112" cy="393192"/>
          </a:xfrm>
          <a:prstGeom prst="rect">
            <a:avLst/>
          </a:prstGeom>
          <a:noFill/>
        </p:spPr>
        <p:txBody>
          <a:bodyPr wrap="square" lIns="0" tIns="0" rIns="0" bIns="0" anchor="ctr">
            <a:spAutoFit/>
          </a:bodyPr>
          <a:lstStyle/>
          <a:p>
            <a:pPr algn="ctr"/>
            <a:r>
              <a:rPr sz="1450" b="1">
                <a:solidFill>
                  <a:srgbClr val="FFFFFF"/>
                </a:solidFill>
                <a:latin typeface="Arial"/>
              </a:rPr>
              <a:t>Smarter Learning.
Brighter Careers.</a:t>
            </a:r>
          </a:p>
        </p:txBody>
      </p:sp>
      <p:sp>
        <p:nvSpPr>
          <p:cNvPr id="186" name="Oval 185">
            <a:extLst>
              <a:ext uri="{FF2B5EF4-FFF2-40B4-BE49-F238E27FC236}">
                <a16:creationId xmlns:a16="http://schemas.microsoft.com/office/drawing/2014/main" id="{2060D5C7-0645-EBFF-B0DB-2A8375949BF0}"/>
              </a:ext>
            </a:extLst>
          </p:cNvPr>
          <p:cNvSpPr/>
          <p:nvPr/>
        </p:nvSpPr>
        <p:spPr>
          <a:xfrm>
            <a:off x="8134057" y="3294789"/>
            <a:ext cx="446728" cy="448055"/>
          </a:xfrm>
          <a:prstGeom prst="ellipse">
            <a:avLst/>
          </a:prstGeom>
          <a:solidFill>
            <a:schemeClr val="bg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Oval 187">
            <a:extLst>
              <a:ext uri="{FF2B5EF4-FFF2-40B4-BE49-F238E27FC236}">
                <a16:creationId xmlns:a16="http://schemas.microsoft.com/office/drawing/2014/main" id="{9C1B79F2-8257-A0C7-2988-1FC3903F980C}"/>
              </a:ext>
            </a:extLst>
          </p:cNvPr>
          <p:cNvSpPr/>
          <p:nvPr/>
        </p:nvSpPr>
        <p:spPr>
          <a:xfrm>
            <a:off x="3825037" y="3204972"/>
            <a:ext cx="446728" cy="448055"/>
          </a:xfrm>
          <a:prstGeom prst="ellipse">
            <a:avLst/>
          </a:prstGeom>
          <a:solidFill>
            <a:srgbClr val="1F487B"/>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Oval 186">
            <a:extLst>
              <a:ext uri="{FF2B5EF4-FFF2-40B4-BE49-F238E27FC236}">
                <a16:creationId xmlns:a16="http://schemas.microsoft.com/office/drawing/2014/main" id="{41B7847F-C2EA-4389-2891-3337C3BAF238}"/>
              </a:ext>
            </a:extLst>
          </p:cNvPr>
          <p:cNvSpPr/>
          <p:nvPr/>
        </p:nvSpPr>
        <p:spPr>
          <a:xfrm>
            <a:off x="4356066" y="2293450"/>
            <a:ext cx="446728" cy="450597"/>
          </a:xfrm>
          <a:prstGeom prst="ellipse">
            <a:avLst/>
          </a:prstGeom>
          <a:solidFill>
            <a:schemeClr val="bg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164">
            <a:extLst>
              <a:ext uri="{FF2B5EF4-FFF2-40B4-BE49-F238E27FC236}">
                <a16:creationId xmlns:a16="http://schemas.microsoft.com/office/drawing/2014/main" id="{C2E5306F-219F-4843-2A23-EAF8B153837E}"/>
              </a:ext>
            </a:extLst>
          </p:cNvPr>
          <p:cNvSpPr/>
          <p:nvPr/>
        </p:nvSpPr>
        <p:spPr>
          <a:xfrm>
            <a:off x="6324294" y="5749205"/>
            <a:ext cx="615391" cy="182880"/>
          </a:xfrm>
          <a:prstGeom prst="roundRect">
            <a:avLst/>
          </a:prstGeom>
          <a:solidFill>
            <a:srgbClr val="1F487B"/>
          </a:solidFill>
          <a:ln>
            <a:solidFill>
              <a:srgbClr val="1F48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a:extLst>
              <a:ext uri="{FF2B5EF4-FFF2-40B4-BE49-F238E27FC236}">
                <a16:creationId xmlns:a16="http://schemas.microsoft.com/office/drawing/2014/main" id="{F714D132-278B-B3B4-DC85-4F77C43120A3}"/>
              </a:ext>
            </a:extLst>
          </p:cNvPr>
          <p:cNvSpPr txBox="1"/>
          <p:nvPr/>
        </p:nvSpPr>
        <p:spPr>
          <a:xfrm>
            <a:off x="6343327" y="5699096"/>
            <a:ext cx="739479" cy="307777"/>
          </a:xfrm>
          <a:prstGeom prst="rect">
            <a:avLst/>
          </a:prstGeom>
          <a:noFill/>
        </p:spPr>
        <p:txBody>
          <a:bodyPr wrap="square" rtlCol="0">
            <a:spAutoFit/>
          </a:bodyPr>
          <a:lstStyle/>
          <a:p>
            <a:r>
              <a:rPr lang="en-IN" sz="1400" dirty="0">
                <a:solidFill>
                  <a:schemeClr val="bg2"/>
                </a:solidFill>
                <a:latin typeface="Arial" panose="020B0604020202020204" pitchFamily="34" charset="0"/>
                <a:cs typeface="Arial" panose="020B0604020202020204" pitchFamily="34" charset="0"/>
              </a:rPr>
              <a:t>After</a:t>
            </a:r>
          </a:p>
        </p:txBody>
      </p:sp>
      <p:pic>
        <p:nvPicPr>
          <p:cNvPr id="48" name="Picture 47" descr="a_clean_vector_logo_graphic_on_a_white_background.png">
            <a:extLst>
              <a:ext uri="{FF2B5EF4-FFF2-40B4-BE49-F238E27FC236}">
                <a16:creationId xmlns:a16="http://schemas.microsoft.com/office/drawing/2014/main" id="{D17955AB-ED0A-E906-45E2-BF32C263E107}"/>
              </a:ext>
            </a:extLst>
          </p:cNvPr>
          <p:cNvPicPr>
            <a:picLocks noChangeAspect="1"/>
          </p:cNvPicPr>
          <p:nvPr/>
        </p:nvPicPr>
        <p:blipFill>
          <a:blip r:embed="rId2"/>
          <a:stretch>
            <a:fillRect/>
          </a:stretch>
        </p:blipFill>
        <p:spPr>
          <a:xfrm>
            <a:off x="10487829" y="13716"/>
            <a:ext cx="1691640" cy="950976"/>
          </a:xfrm>
          <a:prstGeom prst="rect">
            <a:avLst/>
          </a:prstGeom>
        </p:spPr>
      </p:pic>
      <p:pic>
        <p:nvPicPr>
          <p:cNvPr id="54" name="Picture 53" descr="A blue circle with a white and yellow question mark&#10;&#10;AI-generated content may be incorrect.">
            <a:extLst>
              <a:ext uri="{FF2B5EF4-FFF2-40B4-BE49-F238E27FC236}">
                <a16:creationId xmlns:a16="http://schemas.microsoft.com/office/drawing/2014/main" id="{C4A59408-B1F2-0644-B2D1-BDDCAAB221DA}"/>
              </a:ext>
            </a:extLst>
          </p:cNvPr>
          <p:cNvPicPr>
            <a:picLocks noChangeAspect="1"/>
          </p:cNvPicPr>
          <p:nvPr/>
        </p:nvPicPr>
        <p:blipFill>
          <a:blip r:embed="rId3"/>
          <a:srcRect l="7423" t="9411" r="8152" b="5181"/>
          <a:stretch>
            <a:fillRect/>
          </a:stretch>
        </p:blipFill>
        <p:spPr>
          <a:xfrm>
            <a:off x="256710" y="2088573"/>
            <a:ext cx="692622" cy="700690"/>
          </a:xfrm>
          <a:prstGeom prst="flowChartConnector">
            <a:avLst/>
          </a:prstGeom>
        </p:spPr>
      </p:pic>
      <p:pic>
        <p:nvPicPr>
          <p:cNvPr id="56" name="Picture 55" descr="A blue circle with a white and black sign with a white and black symbol&#10;&#10;AI-generated content may be incorrect.">
            <a:extLst>
              <a:ext uri="{FF2B5EF4-FFF2-40B4-BE49-F238E27FC236}">
                <a16:creationId xmlns:a16="http://schemas.microsoft.com/office/drawing/2014/main" id="{16318135-2BBA-6179-D432-4CB4080EDC68}"/>
              </a:ext>
            </a:extLst>
          </p:cNvPr>
          <p:cNvPicPr>
            <a:picLocks noChangeAspect="1"/>
          </p:cNvPicPr>
          <p:nvPr/>
        </p:nvPicPr>
        <p:blipFill>
          <a:blip r:embed="rId4"/>
          <a:srcRect l="5410" t="12409" r="6865"/>
          <a:stretch>
            <a:fillRect/>
          </a:stretch>
        </p:blipFill>
        <p:spPr>
          <a:xfrm>
            <a:off x="252177" y="3154679"/>
            <a:ext cx="717087" cy="704089"/>
          </a:xfrm>
          <a:prstGeom prst="flowChartConnector">
            <a:avLst/>
          </a:prstGeom>
        </p:spPr>
      </p:pic>
      <p:pic>
        <p:nvPicPr>
          <p:cNvPr id="201" name="Picture 200" descr="A blue circle with white graphic and arrow&#10;&#10;AI-generated content may be incorrect.">
            <a:extLst>
              <a:ext uri="{FF2B5EF4-FFF2-40B4-BE49-F238E27FC236}">
                <a16:creationId xmlns:a16="http://schemas.microsoft.com/office/drawing/2014/main" id="{2685EFA3-494B-A20F-4398-2D7DE0922060}"/>
              </a:ext>
            </a:extLst>
          </p:cNvPr>
          <p:cNvPicPr>
            <a:picLocks noChangeAspect="1"/>
          </p:cNvPicPr>
          <p:nvPr/>
        </p:nvPicPr>
        <p:blipFill>
          <a:blip r:embed="rId5"/>
          <a:srcRect l="19162" t="23519" r="11789" b="14613"/>
          <a:stretch>
            <a:fillRect/>
          </a:stretch>
        </p:blipFill>
        <p:spPr>
          <a:xfrm>
            <a:off x="234566" y="4217585"/>
            <a:ext cx="752986" cy="711031"/>
          </a:xfrm>
          <a:prstGeom prst="flowChartConnector">
            <a:avLst/>
          </a:prstGeom>
        </p:spPr>
      </p:pic>
      <p:pic>
        <p:nvPicPr>
          <p:cNvPr id="203" name="Picture 202" descr="A blue circle with a white circle with a white arrow in the center&#10;&#10;AI-generated content may be incorrect.">
            <a:extLst>
              <a:ext uri="{FF2B5EF4-FFF2-40B4-BE49-F238E27FC236}">
                <a16:creationId xmlns:a16="http://schemas.microsoft.com/office/drawing/2014/main" id="{480394C9-0A6C-3E37-E380-EADF6F697669}"/>
              </a:ext>
            </a:extLst>
          </p:cNvPr>
          <p:cNvPicPr>
            <a:picLocks noChangeAspect="1"/>
          </p:cNvPicPr>
          <p:nvPr/>
        </p:nvPicPr>
        <p:blipFill>
          <a:blip r:embed="rId6"/>
          <a:srcRect l="21410" t="16951" r="11509" b="18918"/>
          <a:stretch>
            <a:fillRect/>
          </a:stretch>
        </p:blipFill>
        <p:spPr>
          <a:xfrm>
            <a:off x="8902512" y="2015446"/>
            <a:ext cx="622550" cy="595165"/>
          </a:xfrm>
          <a:prstGeom prst="flowChartConnector">
            <a:avLst/>
          </a:prstGeom>
        </p:spPr>
      </p:pic>
      <p:pic>
        <p:nvPicPr>
          <p:cNvPr id="205" name="Picture 204" descr="A blue circle with a book in it&#10;&#10;AI-generated content may be incorrect.">
            <a:extLst>
              <a:ext uri="{FF2B5EF4-FFF2-40B4-BE49-F238E27FC236}">
                <a16:creationId xmlns:a16="http://schemas.microsoft.com/office/drawing/2014/main" id="{CB8DD815-D160-A8D6-72BB-96C80E78C60B}"/>
              </a:ext>
            </a:extLst>
          </p:cNvPr>
          <p:cNvPicPr>
            <a:picLocks noChangeAspect="1"/>
          </p:cNvPicPr>
          <p:nvPr/>
        </p:nvPicPr>
        <p:blipFill>
          <a:blip r:embed="rId7"/>
          <a:srcRect l="21410" t="16951" r="11509" b="15771"/>
          <a:stretch>
            <a:fillRect/>
          </a:stretch>
        </p:blipFill>
        <p:spPr>
          <a:xfrm>
            <a:off x="8918149" y="2686979"/>
            <a:ext cx="621328" cy="623149"/>
          </a:xfrm>
          <a:prstGeom prst="flowChartConnector">
            <a:avLst/>
          </a:prstGeom>
        </p:spPr>
      </p:pic>
      <p:pic>
        <p:nvPicPr>
          <p:cNvPr id="207" name="Picture 206" descr="A blue circle with white graphic and arrow&#10;&#10;AI-generated content may be incorrect.">
            <a:extLst>
              <a:ext uri="{FF2B5EF4-FFF2-40B4-BE49-F238E27FC236}">
                <a16:creationId xmlns:a16="http://schemas.microsoft.com/office/drawing/2014/main" id="{B6FAAE97-E86A-5C00-866B-FF095816792C}"/>
              </a:ext>
            </a:extLst>
          </p:cNvPr>
          <p:cNvPicPr>
            <a:picLocks noChangeAspect="1"/>
          </p:cNvPicPr>
          <p:nvPr/>
        </p:nvPicPr>
        <p:blipFill>
          <a:blip r:embed="rId5"/>
          <a:srcRect l="19679" t="21246" r="10016" b="15411"/>
          <a:stretch>
            <a:fillRect/>
          </a:stretch>
        </p:blipFill>
        <p:spPr>
          <a:xfrm>
            <a:off x="8902512" y="3427739"/>
            <a:ext cx="650753" cy="568189"/>
          </a:xfrm>
          <a:prstGeom prst="flowChartConnector">
            <a:avLst/>
          </a:prstGeom>
        </p:spPr>
      </p:pic>
      <p:pic>
        <p:nvPicPr>
          <p:cNvPr id="209" name="Picture 208" descr="A blue circle with a white and yellow star in the middle&#10;&#10;AI-generated content may be incorrect.">
            <a:extLst>
              <a:ext uri="{FF2B5EF4-FFF2-40B4-BE49-F238E27FC236}">
                <a16:creationId xmlns:a16="http://schemas.microsoft.com/office/drawing/2014/main" id="{F8D221A2-B4FD-9225-7AA1-234BB269F2F0}"/>
              </a:ext>
            </a:extLst>
          </p:cNvPr>
          <p:cNvPicPr>
            <a:picLocks noChangeAspect="1"/>
          </p:cNvPicPr>
          <p:nvPr/>
        </p:nvPicPr>
        <p:blipFill>
          <a:blip r:embed="rId8"/>
          <a:srcRect l="19106" t="24237" r="11508" b="14984"/>
          <a:stretch>
            <a:fillRect/>
          </a:stretch>
        </p:blipFill>
        <p:spPr>
          <a:xfrm>
            <a:off x="8951723" y="4173561"/>
            <a:ext cx="585722" cy="513074"/>
          </a:xfrm>
          <a:prstGeom prst="flowChartConnector">
            <a:avLst/>
          </a:prstGeom>
        </p:spPr>
      </p:pic>
      <p:pic>
        <p:nvPicPr>
          <p:cNvPr id="211" name="Picture 210" descr="A blue and white logo&#10;&#10;AI-generated content may be incorrect.">
            <a:extLst>
              <a:ext uri="{FF2B5EF4-FFF2-40B4-BE49-F238E27FC236}">
                <a16:creationId xmlns:a16="http://schemas.microsoft.com/office/drawing/2014/main" id="{C296F278-8856-EB1A-440D-5FFCED462E66}"/>
              </a:ext>
            </a:extLst>
          </p:cNvPr>
          <p:cNvPicPr>
            <a:picLocks noChangeAspect="1"/>
          </p:cNvPicPr>
          <p:nvPr/>
        </p:nvPicPr>
        <p:blipFill>
          <a:blip r:embed="rId9"/>
          <a:srcRect l="17924" t="28992" r="13727" b="17071"/>
          <a:stretch>
            <a:fillRect/>
          </a:stretch>
        </p:blipFill>
        <p:spPr>
          <a:xfrm>
            <a:off x="8918149" y="4910328"/>
            <a:ext cx="615887" cy="540851"/>
          </a:xfrm>
          <a:prstGeom prst="flowChartConnector">
            <a:avLst/>
          </a:prstGeom>
        </p:spPr>
      </p:pic>
      <p:pic>
        <p:nvPicPr>
          <p:cNvPr id="213" name="Picture 212" descr="A blue circle with a building and a tower&#10;&#10;AI-generated content may be incorrect.">
            <a:extLst>
              <a:ext uri="{FF2B5EF4-FFF2-40B4-BE49-F238E27FC236}">
                <a16:creationId xmlns:a16="http://schemas.microsoft.com/office/drawing/2014/main" id="{B4451138-35BD-489F-07E1-F10B8D840CE1}"/>
              </a:ext>
            </a:extLst>
          </p:cNvPr>
          <p:cNvPicPr>
            <a:picLocks noChangeAspect="1"/>
          </p:cNvPicPr>
          <p:nvPr/>
        </p:nvPicPr>
        <p:blipFill>
          <a:blip r:embed="rId10"/>
          <a:stretch>
            <a:fillRect/>
          </a:stretch>
        </p:blipFill>
        <p:spPr>
          <a:xfrm>
            <a:off x="7397495" y="2228257"/>
            <a:ext cx="491460" cy="448055"/>
          </a:xfrm>
          <a:prstGeom prst="flowChartConnector">
            <a:avLst/>
          </a:prstGeom>
        </p:spPr>
      </p:pic>
      <p:pic>
        <p:nvPicPr>
          <p:cNvPr id="222" name="Picture 221" descr="A blue and white logo&#10;&#10;AI-generated content may be incorrect.">
            <a:extLst>
              <a:ext uri="{FF2B5EF4-FFF2-40B4-BE49-F238E27FC236}">
                <a16:creationId xmlns:a16="http://schemas.microsoft.com/office/drawing/2014/main" id="{5FDD6660-9AD6-4C99-D321-08C84E5211D3}"/>
              </a:ext>
            </a:extLst>
          </p:cNvPr>
          <p:cNvPicPr>
            <a:picLocks noChangeAspect="1"/>
          </p:cNvPicPr>
          <p:nvPr/>
        </p:nvPicPr>
        <p:blipFill>
          <a:blip r:embed="rId11"/>
          <a:srcRect t="5513" b="-5054"/>
          <a:stretch>
            <a:fillRect/>
          </a:stretch>
        </p:blipFill>
        <p:spPr>
          <a:xfrm>
            <a:off x="3827477" y="3200266"/>
            <a:ext cx="455774" cy="455774"/>
          </a:xfrm>
          <a:prstGeom prst="flowChartConnector">
            <a:avLst/>
          </a:prstGeom>
        </p:spPr>
      </p:pic>
      <p:pic>
        <p:nvPicPr>
          <p:cNvPr id="226" name="Graphic 225" descr="User with solid fill">
            <a:extLst>
              <a:ext uri="{FF2B5EF4-FFF2-40B4-BE49-F238E27FC236}">
                <a16:creationId xmlns:a16="http://schemas.microsoft.com/office/drawing/2014/main" id="{A3630F48-54FD-7E5A-13D9-6923540A2E8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189115" y="3337310"/>
            <a:ext cx="345945" cy="345945"/>
          </a:xfrm>
          <a:prstGeom prst="rect">
            <a:avLst/>
          </a:prstGeom>
        </p:spPr>
      </p:pic>
      <p:pic>
        <p:nvPicPr>
          <p:cNvPr id="228" name="Graphic 227" descr="Graduation cap with solid fill">
            <a:extLst>
              <a:ext uri="{FF2B5EF4-FFF2-40B4-BE49-F238E27FC236}">
                <a16:creationId xmlns:a16="http://schemas.microsoft.com/office/drawing/2014/main" id="{03D830D0-7702-D409-6D1A-F4641466A2BB}"/>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399103" y="2244851"/>
            <a:ext cx="448056" cy="448056"/>
          </a:xfrm>
          <a:prstGeom prst="rect">
            <a:avLst/>
          </a:prstGeom>
        </p:spPr>
      </p:pic>
      <p:pic>
        <p:nvPicPr>
          <p:cNvPr id="230" name="Graphic 229" descr="User with solid fill">
            <a:extLst>
              <a:ext uri="{FF2B5EF4-FFF2-40B4-BE49-F238E27FC236}">
                <a16:creationId xmlns:a16="http://schemas.microsoft.com/office/drawing/2014/main" id="{AEDA4E8B-C88A-32EC-286E-814FD5A0F60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175502" y="2548467"/>
            <a:ext cx="365760" cy="365760"/>
          </a:xfrm>
          <a:prstGeom prst="rect">
            <a:avLst/>
          </a:prstGeom>
        </p:spPr>
      </p:pic>
      <p:pic>
        <p:nvPicPr>
          <p:cNvPr id="232" name="Picture 231" descr="A black background with a black square&#10;&#10;AI-generated content may be incorrect.">
            <a:extLst>
              <a:ext uri="{FF2B5EF4-FFF2-40B4-BE49-F238E27FC236}">
                <a16:creationId xmlns:a16="http://schemas.microsoft.com/office/drawing/2014/main" id="{5C8F5F26-067E-3394-DA9C-804063C71CB3}"/>
              </a:ext>
            </a:extLst>
          </p:cNvPr>
          <p:cNvPicPr>
            <a:picLocks noChangeAspect="1"/>
          </p:cNvPicPr>
          <p:nvPr/>
        </p:nvPicPr>
        <p:blipFill>
          <a:blip r:embed="rId18"/>
          <a:stretch>
            <a:fillRect/>
          </a:stretch>
        </p:blipFill>
        <p:spPr>
          <a:xfrm>
            <a:off x="5164744" y="3014624"/>
            <a:ext cx="382372" cy="382372"/>
          </a:xfrm>
          <a:prstGeom prst="rect">
            <a:avLst/>
          </a:prstGeom>
        </p:spPr>
      </p:pic>
      <p:pic>
        <p:nvPicPr>
          <p:cNvPr id="238" name="Picture 237" descr="A black background with a black square&#10;&#10;AI-generated content may be incorrect.">
            <a:extLst>
              <a:ext uri="{FF2B5EF4-FFF2-40B4-BE49-F238E27FC236}">
                <a16:creationId xmlns:a16="http://schemas.microsoft.com/office/drawing/2014/main" id="{F9843284-6EA4-F24C-DF1B-7E437DE37367}"/>
              </a:ext>
            </a:extLst>
          </p:cNvPr>
          <p:cNvPicPr>
            <a:picLocks noChangeAspect="1"/>
          </p:cNvPicPr>
          <p:nvPr/>
        </p:nvPicPr>
        <p:blipFill>
          <a:blip r:embed="rId19"/>
          <a:stretch>
            <a:fillRect/>
          </a:stretch>
        </p:blipFill>
        <p:spPr>
          <a:xfrm>
            <a:off x="4623131" y="3926498"/>
            <a:ext cx="448056" cy="448056"/>
          </a:xfrm>
          <a:prstGeom prst="rect">
            <a:avLst/>
          </a:prstGeom>
        </p:spPr>
      </p:pic>
      <p:pic>
        <p:nvPicPr>
          <p:cNvPr id="240" name="Picture 239" descr="A black background with a black square&#10;&#10;AI-generated content may be incorrect.">
            <a:extLst>
              <a:ext uri="{FF2B5EF4-FFF2-40B4-BE49-F238E27FC236}">
                <a16:creationId xmlns:a16="http://schemas.microsoft.com/office/drawing/2014/main" id="{5AFEB79E-FA65-9460-008B-7F91852A8EC8}"/>
              </a:ext>
            </a:extLst>
          </p:cNvPr>
          <p:cNvPicPr>
            <a:picLocks noChangeAspect="1"/>
          </p:cNvPicPr>
          <p:nvPr/>
        </p:nvPicPr>
        <p:blipFill>
          <a:blip r:embed="rId20"/>
          <a:stretch>
            <a:fillRect/>
          </a:stretch>
        </p:blipFill>
        <p:spPr>
          <a:xfrm>
            <a:off x="4940170" y="3419856"/>
            <a:ext cx="393701" cy="393701"/>
          </a:xfrm>
          <a:prstGeom prst="rect">
            <a:avLst/>
          </a:prstGeom>
        </p:spPr>
      </p:pic>
      <p:pic>
        <p:nvPicPr>
          <p:cNvPr id="242" name="Picture 241" descr="A black background with a black square&#10;&#10;AI-generated content may be incorrect.">
            <a:extLst>
              <a:ext uri="{FF2B5EF4-FFF2-40B4-BE49-F238E27FC236}">
                <a16:creationId xmlns:a16="http://schemas.microsoft.com/office/drawing/2014/main" id="{2D7A981C-B7E3-EB79-5C43-C2F8549E94F8}"/>
              </a:ext>
            </a:extLst>
          </p:cNvPr>
          <p:cNvPicPr>
            <a:picLocks noChangeAspect="1"/>
          </p:cNvPicPr>
          <p:nvPr/>
        </p:nvPicPr>
        <p:blipFill>
          <a:blip r:embed="rId21"/>
          <a:stretch>
            <a:fillRect/>
          </a:stretch>
        </p:blipFill>
        <p:spPr>
          <a:xfrm flipV="1">
            <a:off x="4503301" y="4475580"/>
            <a:ext cx="393430" cy="393430"/>
          </a:xfrm>
          <a:prstGeom prst="rect">
            <a:avLst/>
          </a:prstGeom>
        </p:spPr>
      </p:pic>
      <p:sp>
        <p:nvSpPr>
          <p:cNvPr id="243" name="TextBox 242">
            <a:extLst>
              <a:ext uri="{FF2B5EF4-FFF2-40B4-BE49-F238E27FC236}">
                <a16:creationId xmlns:a16="http://schemas.microsoft.com/office/drawing/2014/main" id="{D9C56133-F577-2963-C950-096D64DC0ABE}"/>
              </a:ext>
            </a:extLst>
          </p:cNvPr>
          <p:cNvSpPr txBox="1"/>
          <p:nvPr/>
        </p:nvSpPr>
        <p:spPr>
          <a:xfrm>
            <a:off x="5448179" y="2578607"/>
            <a:ext cx="1772913" cy="246221"/>
          </a:xfrm>
          <a:prstGeom prst="rect">
            <a:avLst/>
          </a:prstGeom>
          <a:noFill/>
        </p:spPr>
        <p:txBody>
          <a:bodyPr wrap="square" rtlCol="0">
            <a:spAutoFit/>
          </a:bodyPr>
          <a:lstStyle/>
          <a:p>
            <a:r>
              <a:rPr lang="en-IN" sz="1000" b="1" dirty="0"/>
              <a:t>O1 UNDERSTAND INTEREST</a:t>
            </a:r>
          </a:p>
        </p:txBody>
      </p:sp>
      <p:sp>
        <p:nvSpPr>
          <p:cNvPr id="244" name="TextBox 243">
            <a:extLst>
              <a:ext uri="{FF2B5EF4-FFF2-40B4-BE49-F238E27FC236}">
                <a16:creationId xmlns:a16="http://schemas.microsoft.com/office/drawing/2014/main" id="{FC33501C-E045-59DA-E2C8-276FC0B64283}"/>
              </a:ext>
            </a:extLst>
          </p:cNvPr>
          <p:cNvSpPr txBox="1"/>
          <p:nvPr/>
        </p:nvSpPr>
        <p:spPr>
          <a:xfrm>
            <a:off x="5588751" y="3093639"/>
            <a:ext cx="1678961" cy="261610"/>
          </a:xfrm>
          <a:prstGeom prst="rect">
            <a:avLst/>
          </a:prstGeom>
          <a:noFill/>
        </p:spPr>
        <p:txBody>
          <a:bodyPr wrap="square" rtlCol="0">
            <a:spAutoFit/>
          </a:bodyPr>
          <a:lstStyle/>
          <a:p>
            <a:r>
              <a:rPr lang="en-IN" sz="1100" b="1" dirty="0"/>
              <a:t>02 AI ASSESMENT</a:t>
            </a:r>
          </a:p>
        </p:txBody>
      </p:sp>
      <p:sp>
        <p:nvSpPr>
          <p:cNvPr id="246" name="TextBox 245">
            <a:extLst>
              <a:ext uri="{FF2B5EF4-FFF2-40B4-BE49-F238E27FC236}">
                <a16:creationId xmlns:a16="http://schemas.microsoft.com/office/drawing/2014/main" id="{44BA58AD-B84F-78FF-B3CA-F6BCCC4745A7}"/>
              </a:ext>
            </a:extLst>
          </p:cNvPr>
          <p:cNvSpPr txBox="1"/>
          <p:nvPr/>
        </p:nvSpPr>
        <p:spPr>
          <a:xfrm>
            <a:off x="5367528" y="3522222"/>
            <a:ext cx="2446664" cy="261610"/>
          </a:xfrm>
          <a:prstGeom prst="rect">
            <a:avLst/>
          </a:prstGeom>
          <a:noFill/>
        </p:spPr>
        <p:txBody>
          <a:bodyPr wrap="square" rtlCol="0">
            <a:spAutoFit/>
          </a:bodyPr>
          <a:lstStyle/>
          <a:p>
            <a:r>
              <a:rPr lang="en-IN" sz="1100" b="1" dirty="0"/>
              <a:t>03 IDENTIFY SKILL GAPS</a:t>
            </a:r>
          </a:p>
        </p:txBody>
      </p:sp>
      <p:sp>
        <p:nvSpPr>
          <p:cNvPr id="247" name="TextBox 246">
            <a:extLst>
              <a:ext uri="{FF2B5EF4-FFF2-40B4-BE49-F238E27FC236}">
                <a16:creationId xmlns:a16="http://schemas.microsoft.com/office/drawing/2014/main" id="{09A28680-0C70-2855-929B-194AC5D538C4}"/>
              </a:ext>
            </a:extLst>
          </p:cNvPr>
          <p:cNvSpPr txBox="1"/>
          <p:nvPr/>
        </p:nvSpPr>
        <p:spPr>
          <a:xfrm>
            <a:off x="5209134" y="3985161"/>
            <a:ext cx="3025580" cy="307777"/>
          </a:xfrm>
          <a:prstGeom prst="rect">
            <a:avLst/>
          </a:prstGeom>
          <a:noFill/>
        </p:spPr>
        <p:txBody>
          <a:bodyPr wrap="square" rtlCol="0">
            <a:spAutoFit/>
          </a:bodyPr>
          <a:lstStyle/>
          <a:p>
            <a:r>
              <a:rPr lang="en-IN" sz="1400" b="1" dirty="0"/>
              <a:t>04 PERSONALISED ROADMAP</a:t>
            </a:r>
          </a:p>
        </p:txBody>
      </p:sp>
      <p:sp>
        <p:nvSpPr>
          <p:cNvPr id="248" name="TextBox 247">
            <a:extLst>
              <a:ext uri="{FF2B5EF4-FFF2-40B4-BE49-F238E27FC236}">
                <a16:creationId xmlns:a16="http://schemas.microsoft.com/office/drawing/2014/main" id="{8D59D344-5252-F548-9C04-B8D212428F0F}"/>
              </a:ext>
            </a:extLst>
          </p:cNvPr>
          <p:cNvSpPr txBox="1"/>
          <p:nvPr/>
        </p:nvSpPr>
        <p:spPr>
          <a:xfrm>
            <a:off x="5162445" y="4493937"/>
            <a:ext cx="2406957" cy="338554"/>
          </a:xfrm>
          <a:prstGeom prst="rect">
            <a:avLst/>
          </a:prstGeom>
          <a:noFill/>
        </p:spPr>
        <p:txBody>
          <a:bodyPr wrap="square" rtlCol="0">
            <a:spAutoFit/>
          </a:bodyPr>
          <a:lstStyle/>
          <a:p>
            <a:r>
              <a:rPr lang="en-IN" sz="1600" b="1" dirty="0"/>
              <a:t>05 TRACK  &amp; GROW</a:t>
            </a:r>
          </a:p>
        </p:txBody>
      </p:sp>
      <p:pic>
        <p:nvPicPr>
          <p:cNvPr id="250" name="Picture 249" descr="A black background with a black square&#10;&#10;AI-generated content may be incorrect.">
            <a:extLst>
              <a:ext uri="{FF2B5EF4-FFF2-40B4-BE49-F238E27FC236}">
                <a16:creationId xmlns:a16="http://schemas.microsoft.com/office/drawing/2014/main" id="{90D3520F-BCF8-808A-1E7A-6C4F31B17549}"/>
              </a:ext>
            </a:extLst>
          </p:cNvPr>
          <p:cNvPicPr>
            <a:picLocks noChangeAspect="1"/>
          </p:cNvPicPr>
          <p:nvPr/>
        </p:nvPicPr>
        <p:blipFill>
          <a:blip r:embed="rId22"/>
          <a:srcRect l="29517" b="12665"/>
          <a:stretch>
            <a:fillRect/>
          </a:stretch>
        </p:blipFill>
        <p:spPr>
          <a:xfrm rot="1589685" flipH="1">
            <a:off x="3590164" y="3591451"/>
            <a:ext cx="681660" cy="1003430"/>
          </a:xfrm>
          <a:prstGeom prst="rect">
            <a:avLst/>
          </a:prstGeom>
        </p:spPr>
      </p:pic>
      <p:pic>
        <p:nvPicPr>
          <p:cNvPr id="251" name="Picture 250" descr="A black background with a black square&#10;&#10;AI-generated content may be incorrect.">
            <a:extLst>
              <a:ext uri="{FF2B5EF4-FFF2-40B4-BE49-F238E27FC236}">
                <a16:creationId xmlns:a16="http://schemas.microsoft.com/office/drawing/2014/main" id="{63275AAF-1579-3E2F-30AF-F3E10E3F245C}"/>
              </a:ext>
            </a:extLst>
          </p:cNvPr>
          <p:cNvPicPr>
            <a:picLocks noChangeAspect="1"/>
          </p:cNvPicPr>
          <p:nvPr/>
        </p:nvPicPr>
        <p:blipFill>
          <a:blip r:embed="rId22"/>
          <a:srcRect l="29517" b="12665"/>
          <a:stretch>
            <a:fillRect/>
          </a:stretch>
        </p:blipFill>
        <p:spPr>
          <a:xfrm rot="1790741" flipH="1">
            <a:off x="4138347" y="2678468"/>
            <a:ext cx="643011" cy="946538"/>
          </a:xfrm>
          <a:prstGeom prst="rect">
            <a:avLst/>
          </a:prstGeom>
        </p:spPr>
      </p:pic>
      <p:pic>
        <p:nvPicPr>
          <p:cNvPr id="252" name="Picture 251" descr="A black background with a black square&#10;&#10;AI-generated content may be incorrect.">
            <a:extLst>
              <a:ext uri="{FF2B5EF4-FFF2-40B4-BE49-F238E27FC236}">
                <a16:creationId xmlns:a16="http://schemas.microsoft.com/office/drawing/2014/main" id="{8A408E3A-0CDB-C31B-7A24-B786653FFA1B}"/>
              </a:ext>
            </a:extLst>
          </p:cNvPr>
          <p:cNvPicPr>
            <a:picLocks noChangeAspect="1"/>
          </p:cNvPicPr>
          <p:nvPr/>
        </p:nvPicPr>
        <p:blipFill>
          <a:blip r:embed="rId22"/>
          <a:srcRect l="29517" b="12665"/>
          <a:stretch>
            <a:fillRect/>
          </a:stretch>
        </p:blipFill>
        <p:spPr>
          <a:xfrm rot="19996507">
            <a:off x="7598519" y="2675817"/>
            <a:ext cx="551223" cy="811423"/>
          </a:xfrm>
          <a:prstGeom prst="rect">
            <a:avLst/>
          </a:prstGeom>
        </p:spPr>
      </p:pic>
      <p:pic>
        <p:nvPicPr>
          <p:cNvPr id="253" name="Picture 252" descr="A black background with a black square&#10;&#10;AI-generated content may be incorrect.">
            <a:extLst>
              <a:ext uri="{FF2B5EF4-FFF2-40B4-BE49-F238E27FC236}">
                <a16:creationId xmlns:a16="http://schemas.microsoft.com/office/drawing/2014/main" id="{5A38680E-9D81-B6FD-B8C0-D09D9C128840}"/>
              </a:ext>
            </a:extLst>
          </p:cNvPr>
          <p:cNvPicPr>
            <a:picLocks noChangeAspect="1"/>
          </p:cNvPicPr>
          <p:nvPr/>
        </p:nvPicPr>
        <p:blipFill>
          <a:blip r:embed="rId22"/>
          <a:srcRect l="29517" b="12665"/>
          <a:stretch>
            <a:fillRect/>
          </a:stretch>
        </p:blipFill>
        <p:spPr>
          <a:xfrm rot="19996507">
            <a:off x="8278259" y="3776892"/>
            <a:ext cx="470413" cy="692467"/>
          </a:xfrm>
          <a:prstGeom prst="rect">
            <a:avLst/>
          </a:prstGeom>
        </p:spPr>
      </p:pic>
      <p:sp>
        <p:nvSpPr>
          <p:cNvPr id="8" name="TextBox 7">
            <a:extLst>
              <a:ext uri="{FF2B5EF4-FFF2-40B4-BE49-F238E27FC236}">
                <a16:creationId xmlns:a16="http://schemas.microsoft.com/office/drawing/2014/main" id="{BE76E8B0-E13B-956D-CD46-E9F41A28D5EE}"/>
              </a:ext>
            </a:extLst>
          </p:cNvPr>
          <p:cNvSpPr txBox="1"/>
          <p:nvPr/>
        </p:nvSpPr>
        <p:spPr>
          <a:xfrm>
            <a:off x="3066238" y="171015"/>
            <a:ext cx="6142566" cy="489365"/>
          </a:xfrm>
          <a:prstGeom prst="rect">
            <a:avLst/>
          </a:prstGeom>
          <a:noFill/>
        </p:spPr>
        <p:txBody>
          <a:bodyPr wrap="square">
            <a:spAutoFit/>
          </a:bodyPr>
          <a:lstStyle/>
          <a:p>
            <a:pPr algn="ctr"/>
            <a:r>
              <a:rPr lang="en-IN" sz="2580" b="1" dirty="0">
                <a:solidFill>
                  <a:srgbClr val="082B54"/>
                </a:solidFill>
                <a:latin typeface="Georgia"/>
              </a:rPr>
              <a:t>IDEA</a:t>
            </a:r>
            <a:r>
              <a:rPr lang="en-IN" sz="1800" b="1" dirty="0">
                <a:solidFill>
                  <a:srgbClr val="082B54"/>
                </a:solidFill>
                <a:latin typeface="Georgia"/>
              </a:rPr>
              <a:t> </a:t>
            </a:r>
            <a:r>
              <a:rPr lang="en-IN" sz="2580" b="1" dirty="0">
                <a:solidFill>
                  <a:srgbClr val="082B54"/>
                </a:solidFill>
                <a:latin typeface="Georgia"/>
              </a:rPr>
              <a:t>TITTLE</a:t>
            </a:r>
          </a:p>
        </p:txBody>
      </p:sp>
      <p:pic>
        <p:nvPicPr>
          <p:cNvPr id="9" name="Picture 8">
            <a:extLst>
              <a:ext uri="{FF2B5EF4-FFF2-40B4-BE49-F238E27FC236}">
                <a16:creationId xmlns:a16="http://schemas.microsoft.com/office/drawing/2014/main" id="{380D0D1D-A310-5A67-B4F8-7360F2DFA6AA}"/>
              </a:ext>
            </a:extLst>
          </p:cNvPr>
          <p:cNvPicPr>
            <a:picLocks noChangeAspect="1"/>
          </p:cNvPicPr>
          <p:nvPr/>
        </p:nvPicPr>
        <p:blipFill>
          <a:blip r:embed="rId23"/>
          <a:stretch>
            <a:fillRect/>
          </a:stretch>
        </p:blipFill>
        <p:spPr>
          <a:xfrm>
            <a:off x="416052" y="5757672"/>
            <a:ext cx="612648" cy="408432"/>
          </a:xfrm>
          <a:prstGeom prst="rect">
            <a:avLst/>
          </a:prstGeom>
          <a:ln>
            <a:solidFill>
              <a:schemeClr val="tx2"/>
            </a:solidFill>
          </a:ln>
        </p:spPr>
      </p:pic>
      <p:pic>
        <p:nvPicPr>
          <p:cNvPr id="11" name="Graphic 10" descr="Checkmark with solid fill">
            <a:extLst>
              <a:ext uri="{FF2B5EF4-FFF2-40B4-BE49-F238E27FC236}">
                <a16:creationId xmlns:a16="http://schemas.microsoft.com/office/drawing/2014/main" id="{6175FD48-13A3-029A-3220-51F80C55A32B}"/>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6428232" y="6027176"/>
            <a:ext cx="344912" cy="34491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955164" y="38777"/>
            <a:ext cx="4319773" cy="443648"/>
          </a:xfrm>
          <a:prstGeom prst="rect">
            <a:avLst/>
          </a:prstGeom>
          <a:noFill/>
        </p:spPr>
        <p:txBody>
          <a:bodyPr wrap="none" lIns="22860" tIns="22860" rIns="22860" bIns="22860" anchor="ctr">
            <a:spAutoFit/>
          </a:bodyPr>
          <a:lstStyle/>
          <a:p>
            <a:pPr algn="ctr"/>
            <a:r>
              <a:rPr sz="2583" b="1" dirty="0">
                <a:solidFill>
                  <a:srgbClr val="082B54"/>
                </a:solidFill>
                <a:latin typeface="Georgia"/>
              </a:rPr>
              <a:t>TECHNICAL APPROACH</a:t>
            </a:r>
          </a:p>
        </p:txBody>
      </p:sp>
      <p:sp>
        <p:nvSpPr>
          <p:cNvPr id="6" name="TextBox 5"/>
          <p:cNvSpPr txBox="1"/>
          <p:nvPr/>
        </p:nvSpPr>
        <p:spPr>
          <a:xfrm>
            <a:off x="4994181" y="472104"/>
            <a:ext cx="2152898" cy="264240"/>
          </a:xfrm>
          <a:prstGeom prst="rect">
            <a:avLst/>
          </a:prstGeom>
          <a:noFill/>
        </p:spPr>
        <p:txBody>
          <a:bodyPr wrap="none" lIns="22860" tIns="22860" rIns="22860" bIns="22860" anchor="ctr">
            <a:spAutoFit/>
          </a:bodyPr>
          <a:lstStyle/>
          <a:p>
            <a:pPr algn="ctr"/>
            <a:r>
              <a:rPr sz="1417" b="1" dirty="0">
                <a:solidFill>
                  <a:srgbClr val="082B54"/>
                </a:solidFill>
                <a:latin typeface="Aptos"/>
              </a:rPr>
              <a:t>AI ACADEMIA – INDUSTRY</a:t>
            </a:r>
          </a:p>
        </p:txBody>
      </p:sp>
      <p:cxnSp>
        <p:nvCxnSpPr>
          <p:cNvPr id="7" name="Connector 6"/>
          <p:cNvCxnSpPr>
            <a:cxnSpLocks/>
          </p:cNvCxnSpPr>
          <p:nvPr/>
        </p:nvCxnSpPr>
        <p:spPr>
          <a:xfrm>
            <a:off x="2841494" y="604224"/>
            <a:ext cx="1937011" cy="0"/>
          </a:xfrm>
          <a:prstGeom prst="line">
            <a:avLst/>
          </a:prstGeom>
          <a:ln w="15240">
            <a:solidFill>
              <a:srgbClr val="082B54"/>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a:cxnSpLocks/>
          </p:cNvCxnSpPr>
          <p:nvPr/>
        </p:nvCxnSpPr>
        <p:spPr>
          <a:xfrm>
            <a:off x="7315767" y="604224"/>
            <a:ext cx="2105740" cy="0"/>
          </a:xfrm>
          <a:prstGeom prst="line">
            <a:avLst/>
          </a:prstGeom>
          <a:ln w="15240">
            <a:solidFill>
              <a:srgbClr val="082B54"/>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934424" y="736344"/>
            <a:ext cx="2290372" cy="168059"/>
          </a:xfrm>
          <a:prstGeom prst="rect">
            <a:avLst/>
          </a:prstGeom>
          <a:noFill/>
        </p:spPr>
        <p:txBody>
          <a:bodyPr wrap="none" lIns="22860" tIns="22860" rIns="22860" bIns="22860" anchor="ctr">
            <a:spAutoFit/>
          </a:bodyPr>
          <a:lstStyle/>
          <a:p>
            <a:pPr algn="ctr"/>
            <a:r>
              <a:rPr sz="792" dirty="0">
                <a:solidFill>
                  <a:srgbClr val="082B54"/>
                </a:solidFill>
                <a:latin typeface="Aptos"/>
              </a:rPr>
              <a:t>METHODOLOGY &amp; PROCESS OF IMPLEMENTATION</a:t>
            </a:r>
          </a:p>
        </p:txBody>
      </p:sp>
      <p:sp>
        <p:nvSpPr>
          <p:cNvPr id="12" name="Rounded Rectangle 11"/>
          <p:cNvSpPr/>
          <p:nvPr/>
        </p:nvSpPr>
        <p:spPr>
          <a:xfrm>
            <a:off x="237845" y="947461"/>
            <a:ext cx="7369158" cy="2311137"/>
          </a:xfrm>
          <a:prstGeom prst="roundRect">
            <a:avLst/>
          </a:prstGeom>
          <a:solidFill>
            <a:srgbClr val="FFFFFF"/>
          </a:solidFill>
          <a:ln w="12700">
            <a:solidFill>
              <a:srgbClr val="69A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dirty="0"/>
          </a:p>
        </p:txBody>
      </p:sp>
      <p:sp>
        <p:nvSpPr>
          <p:cNvPr id="13" name="Chevron 12"/>
          <p:cNvSpPr/>
          <p:nvPr/>
        </p:nvSpPr>
        <p:spPr>
          <a:xfrm>
            <a:off x="361950" y="898427"/>
            <a:ext cx="5334000" cy="304800"/>
          </a:xfrm>
          <a:prstGeom prst="chevron">
            <a:avLst/>
          </a:prstGeom>
          <a:solidFill>
            <a:srgbClr val="FF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dirty="0"/>
          </a:p>
        </p:txBody>
      </p:sp>
      <p:sp>
        <p:nvSpPr>
          <p:cNvPr id="14" name="TextBox 13"/>
          <p:cNvSpPr txBox="1"/>
          <p:nvPr/>
        </p:nvSpPr>
        <p:spPr>
          <a:xfrm>
            <a:off x="690705" y="938980"/>
            <a:ext cx="180820" cy="238527"/>
          </a:xfrm>
          <a:prstGeom prst="rect">
            <a:avLst/>
          </a:prstGeom>
          <a:noFill/>
        </p:spPr>
        <p:txBody>
          <a:bodyPr wrap="none" lIns="22860" tIns="22860" rIns="22860" bIns="22860" anchor="ctr">
            <a:spAutoFit/>
          </a:bodyPr>
          <a:lstStyle/>
          <a:p>
            <a:pPr algn="ctr"/>
            <a:r>
              <a:rPr sz="1250" b="1" dirty="0">
                <a:solidFill>
                  <a:srgbClr val="FFFFFF"/>
                </a:solidFill>
                <a:latin typeface="Aptos"/>
              </a:rPr>
              <a:t>⚙</a:t>
            </a:r>
          </a:p>
        </p:txBody>
      </p:sp>
      <p:sp>
        <p:nvSpPr>
          <p:cNvPr id="15" name="TextBox 14"/>
          <p:cNvSpPr txBox="1"/>
          <p:nvPr/>
        </p:nvSpPr>
        <p:spPr>
          <a:xfrm>
            <a:off x="1003831" y="964692"/>
            <a:ext cx="3228128" cy="212815"/>
          </a:xfrm>
          <a:prstGeom prst="rect">
            <a:avLst/>
          </a:prstGeom>
          <a:noFill/>
        </p:spPr>
        <p:txBody>
          <a:bodyPr wrap="none" lIns="22860" tIns="22860" rIns="22860" bIns="22860" anchor="ctr">
            <a:spAutoFit/>
          </a:bodyPr>
          <a:lstStyle/>
          <a:p>
            <a:pPr algn="l"/>
            <a:r>
              <a:rPr sz="1083" b="1" dirty="0">
                <a:solidFill>
                  <a:srgbClr val="FFFFFF"/>
                </a:solidFill>
                <a:latin typeface="Aptos"/>
              </a:rPr>
              <a:t>METHODOLOGY &amp; PROCESS OF IMPLEMENTATION</a:t>
            </a:r>
          </a:p>
        </p:txBody>
      </p:sp>
      <p:sp>
        <p:nvSpPr>
          <p:cNvPr id="19" name="TextBox 18"/>
          <p:cNvSpPr txBox="1"/>
          <p:nvPr/>
        </p:nvSpPr>
        <p:spPr>
          <a:xfrm>
            <a:off x="315449" y="1901649"/>
            <a:ext cx="161583" cy="174343"/>
          </a:xfrm>
          <a:prstGeom prst="rect">
            <a:avLst/>
          </a:prstGeom>
          <a:noFill/>
        </p:spPr>
        <p:txBody>
          <a:bodyPr wrap="none" lIns="22860" tIns="22860" rIns="22860" bIns="22860" anchor="ctr">
            <a:spAutoFit/>
          </a:bodyPr>
          <a:lstStyle/>
          <a:p>
            <a:pPr algn="ctr"/>
            <a:r>
              <a:rPr sz="833" b="1">
                <a:solidFill>
                  <a:srgbClr val="FFFFFF"/>
                </a:solidFill>
                <a:latin typeface="Aptos"/>
              </a:rPr>
              <a:t>01</a:t>
            </a:r>
          </a:p>
        </p:txBody>
      </p:sp>
      <p:sp>
        <p:nvSpPr>
          <p:cNvPr id="20" name="TextBox 19"/>
          <p:cNvSpPr txBox="1"/>
          <p:nvPr/>
        </p:nvSpPr>
        <p:spPr>
          <a:xfrm>
            <a:off x="481418" y="2113223"/>
            <a:ext cx="948608" cy="184666"/>
          </a:xfrm>
          <a:prstGeom prst="rect">
            <a:avLst/>
          </a:prstGeom>
          <a:noFill/>
        </p:spPr>
        <p:txBody>
          <a:bodyPr wrap="square" lIns="22860" tIns="22860" rIns="22860" bIns="22860" anchor="ctr">
            <a:spAutoFit/>
          </a:bodyPr>
          <a:lstStyle/>
          <a:p>
            <a:pPr algn="l"/>
            <a:r>
              <a:rPr sz="900" b="1" dirty="0">
                <a:solidFill>
                  <a:srgbClr val="246CBE"/>
                </a:solidFill>
                <a:latin typeface="Aptos"/>
              </a:rPr>
              <a:t>ONBOARDING</a:t>
            </a:r>
          </a:p>
        </p:txBody>
      </p:sp>
      <p:sp>
        <p:nvSpPr>
          <p:cNvPr id="24" name="TextBox 23"/>
          <p:cNvSpPr txBox="1"/>
          <p:nvPr/>
        </p:nvSpPr>
        <p:spPr>
          <a:xfrm>
            <a:off x="1477673" y="1658481"/>
            <a:ext cx="161583" cy="276999"/>
          </a:xfrm>
          <a:prstGeom prst="rect">
            <a:avLst/>
          </a:prstGeom>
          <a:noFill/>
        </p:spPr>
        <p:txBody>
          <a:bodyPr wrap="none" lIns="22860" tIns="22860" rIns="22860" bIns="22860" anchor="ctr">
            <a:spAutoFit/>
          </a:bodyPr>
          <a:lstStyle/>
          <a:p>
            <a:pPr algn="ctr"/>
            <a:r>
              <a:rPr sz="1500" b="1" dirty="0">
                <a:solidFill>
                  <a:srgbClr val="082B54"/>
                </a:solidFill>
                <a:latin typeface="Aptos"/>
              </a:rPr>
              <a:t>→</a:t>
            </a:r>
          </a:p>
        </p:txBody>
      </p:sp>
      <p:sp>
        <p:nvSpPr>
          <p:cNvPr id="25" name="Oval 24"/>
          <p:cNvSpPr/>
          <p:nvPr/>
        </p:nvSpPr>
        <p:spPr>
          <a:xfrm>
            <a:off x="1968649" y="1312207"/>
            <a:ext cx="604466" cy="563958"/>
          </a:xfrm>
          <a:prstGeom prst="ellipse">
            <a:avLst/>
          </a:prstGeom>
          <a:solidFill>
            <a:srgbClr val="3E914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dirty="0"/>
          </a:p>
        </p:txBody>
      </p:sp>
      <p:sp>
        <p:nvSpPr>
          <p:cNvPr id="29" name="TextBox 28"/>
          <p:cNvSpPr txBox="1"/>
          <p:nvPr/>
        </p:nvSpPr>
        <p:spPr>
          <a:xfrm>
            <a:off x="1596765" y="2084262"/>
            <a:ext cx="890950" cy="184666"/>
          </a:xfrm>
          <a:prstGeom prst="rect">
            <a:avLst/>
          </a:prstGeom>
          <a:noFill/>
        </p:spPr>
        <p:txBody>
          <a:bodyPr wrap="none" lIns="22860" tIns="22860" rIns="22860" bIns="22860" anchor="ctr">
            <a:spAutoFit/>
          </a:bodyPr>
          <a:lstStyle/>
          <a:p>
            <a:pPr algn="l"/>
            <a:r>
              <a:rPr sz="900" b="1" dirty="0">
                <a:solidFill>
                  <a:srgbClr val="3E914F"/>
                </a:solidFill>
                <a:latin typeface="Aptos"/>
              </a:rPr>
              <a:t>AI ASSESSMENT</a:t>
            </a:r>
          </a:p>
        </p:txBody>
      </p:sp>
      <p:sp>
        <p:nvSpPr>
          <p:cNvPr id="34" name="TextBox 33"/>
          <p:cNvSpPr txBox="1"/>
          <p:nvPr/>
        </p:nvSpPr>
        <p:spPr>
          <a:xfrm>
            <a:off x="2581107" y="1658481"/>
            <a:ext cx="434321" cy="276999"/>
          </a:xfrm>
          <a:prstGeom prst="rect">
            <a:avLst/>
          </a:prstGeom>
          <a:noFill/>
        </p:spPr>
        <p:txBody>
          <a:bodyPr wrap="square" lIns="22860" tIns="22860" rIns="22860" bIns="22860" anchor="ctr">
            <a:spAutoFit/>
          </a:bodyPr>
          <a:lstStyle/>
          <a:p>
            <a:pPr algn="ctr"/>
            <a:r>
              <a:rPr sz="1500" b="1" dirty="0">
                <a:solidFill>
                  <a:srgbClr val="082B54"/>
                </a:solidFill>
                <a:latin typeface="Aptos"/>
              </a:rPr>
              <a:t>→</a:t>
            </a:r>
          </a:p>
        </p:txBody>
      </p:sp>
      <p:sp>
        <p:nvSpPr>
          <p:cNvPr id="39" name="TextBox 38"/>
          <p:cNvSpPr txBox="1"/>
          <p:nvPr/>
        </p:nvSpPr>
        <p:spPr>
          <a:xfrm>
            <a:off x="2748053" y="2093707"/>
            <a:ext cx="1129796" cy="184666"/>
          </a:xfrm>
          <a:prstGeom prst="rect">
            <a:avLst/>
          </a:prstGeom>
          <a:noFill/>
        </p:spPr>
        <p:txBody>
          <a:bodyPr wrap="none" lIns="22860" tIns="22860" rIns="22860" bIns="22860" anchor="ctr">
            <a:spAutoFit/>
          </a:bodyPr>
          <a:lstStyle/>
          <a:p>
            <a:pPr algn="l"/>
            <a:r>
              <a:rPr sz="900" b="1" dirty="0">
                <a:solidFill>
                  <a:srgbClr val="6F46A6"/>
                </a:solidFill>
                <a:latin typeface="Aptos"/>
              </a:rPr>
              <a:t>SKILL</a:t>
            </a:r>
            <a:r>
              <a:rPr sz="682" b="1" dirty="0">
                <a:solidFill>
                  <a:srgbClr val="6F46A6"/>
                </a:solidFill>
                <a:latin typeface="Aptos"/>
              </a:rPr>
              <a:t> </a:t>
            </a:r>
            <a:r>
              <a:rPr sz="900" b="1" dirty="0">
                <a:solidFill>
                  <a:srgbClr val="6F46A6"/>
                </a:solidFill>
                <a:latin typeface="Aptos"/>
              </a:rPr>
              <a:t>INTELLIGENCE</a:t>
            </a:r>
          </a:p>
        </p:txBody>
      </p:sp>
      <p:sp>
        <p:nvSpPr>
          <p:cNvPr id="44" name="TextBox 43"/>
          <p:cNvSpPr txBox="1"/>
          <p:nvPr/>
        </p:nvSpPr>
        <p:spPr>
          <a:xfrm>
            <a:off x="4007205" y="1528958"/>
            <a:ext cx="161583" cy="276999"/>
          </a:xfrm>
          <a:prstGeom prst="rect">
            <a:avLst/>
          </a:prstGeom>
          <a:noFill/>
        </p:spPr>
        <p:txBody>
          <a:bodyPr wrap="none" lIns="22860" tIns="22860" rIns="22860" bIns="22860" anchor="ctr">
            <a:spAutoFit/>
          </a:bodyPr>
          <a:lstStyle/>
          <a:p>
            <a:pPr algn="ctr"/>
            <a:r>
              <a:rPr sz="1500" b="1" dirty="0">
                <a:solidFill>
                  <a:srgbClr val="082B54"/>
                </a:solidFill>
                <a:latin typeface="Aptos"/>
              </a:rPr>
              <a:t>→</a:t>
            </a:r>
          </a:p>
        </p:txBody>
      </p:sp>
      <p:grpSp>
        <p:nvGrpSpPr>
          <p:cNvPr id="4" name="Group 3">
            <a:extLst>
              <a:ext uri="{FF2B5EF4-FFF2-40B4-BE49-F238E27FC236}">
                <a16:creationId xmlns:a16="http://schemas.microsoft.com/office/drawing/2014/main" id="{740FDCA6-815B-7036-6A43-B7B5DC482C48}"/>
              </a:ext>
            </a:extLst>
          </p:cNvPr>
          <p:cNvGrpSpPr/>
          <p:nvPr/>
        </p:nvGrpSpPr>
        <p:grpSpPr>
          <a:xfrm>
            <a:off x="4481836" y="1319325"/>
            <a:ext cx="743926" cy="608637"/>
            <a:chOff x="4213744" y="1426819"/>
            <a:chExt cx="690882" cy="569440"/>
          </a:xfrm>
          <a:solidFill>
            <a:srgbClr val="E8910C"/>
          </a:solidFill>
        </p:grpSpPr>
        <p:sp>
          <p:nvSpPr>
            <p:cNvPr id="45" name="Oval 44"/>
            <p:cNvSpPr/>
            <p:nvPr/>
          </p:nvSpPr>
          <p:spPr>
            <a:xfrm>
              <a:off x="4304760" y="1426819"/>
              <a:ext cx="599866" cy="523320"/>
            </a:xfrm>
            <a:prstGeom prst="ellipse">
              <a:avLst/>
            </a:prstGeom>
            <a:grp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dirty="0"/>
            </a:p>
          </p:txBody>
        </p:sp>
        <p:grpSp>
          <p:nvGrpSpPr>
            <p:cNvPr id="238" name="Group 237">
              <a:extLst>
                <a:ext uri="{FF2B5EF4-FFF2-40B4-BE49-F238E27FC236}">
                  <a16:creationId xmlns:a16="http://schemas.microsoft.com/office/drawing/2014/main" id="{E6210EEE-C4E6-DACD-2341-B712C7644088}"/>
                </a:ext>
              </a:extLst>
            </p:cNvPr>
            <p:cNvGrpSpPr/>
            <p:nvPr/>
          </p:nvGrpSpPr>
          <p:grpSpPr>
            <a:xfrm>
              <a:off x="4213744" y="1749763"/>
              <a:ext cx="289560" cy="246496"/>
              <a:chOff x="3941326" y="1835334"/>
              <a:chExt cx="289560" cy="246496"/>
            </a:xfrm>
            <a:grpFill/>
          </p:grpSpPr>
          <p:sp>
            <p:nvSpPr>
              <p:cNvPr id="47" name="Oval 46"/>
              <p:cNvSpPr/>
              <p:nvPr/>
            </p:nvSpPr>
            <p:spPr>
              <a:xfrm>
                <a:off x="3941326" y="1835334"/>
                <a:ext cx="289560" cy="246496"/>
              </a:xfrm>
              <a:prstGeom prst="ellipse">
                <a:avLst/>
              </a:prstGeom>
              <a:grp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dirty="0"/>
              </a:p>
            </p:txBody>
          </p:sp>
          <p:sp>
            <p:nvSpPr>
              <p:cNvPr id="48" name="TextBox 47"/>
              <p:cNvSpPr txBox="1"/>
              <p:nvPr/>
            </p:nvSpPr>
            <p:spPr>
              <a:xfrm>
                <a:off x="3974288" y="1856781"/>
                <a:ext cx="194723" cy="215966"/>
              </a:xfrm>
              <a:prstGeom prst="rect">
                <a:avLst/>
              </a:prstGeom>
              <a:grpFill/>
            </p:spPr>
            <p:txBody>
              <a:bodyPr wrap="none" lIns="22860" tIns="22860" rIns="22860" bIns="22860" anchor="ctr">
                <a:spAutoFit/>
              </a:bodyPr>
              <a:lstStyle/>
              <a:p>
                <a:pPr algn="ctr"/>
                <a:r>
                  <a:rPr sz="1200" b="1" dirty="0">
                    <a:solidFill>
                      <a:srgbClr val="FFFFFF"/>
                    </a:solidFill>
                    <a:latin typeface="Aptos"/>
                  </a:rPr>
                  <a:t>04</a:t>
                </a:r>
              </a:p>
            </p:txBody>
          </p:sp>
        </p:grpSp>
      </p:grpSp>
      <p:sp>
        <p:nvSpPr>
          <p:cNvPr id="49" name="TextBox 48"/>
          <p:cNvSpPr txBox="1"/>
          <p:nvPr/>
        </p:nvSpPr>
        <p:spPr>
          <a:xfrm>
            <a:off x="4031833" y="2094030"/>
            <a:ext cx="1550359" cy="184666"/>
          </a:xfrm>
          <a:prstGeom prst="rect">
            <a:avLst/>
          </a:prstGeom>
          <a:noFill/>
        </p:spPr>
        <p:txBody>
          <a:bodyPr wrap="square" lIns="22860" tIns="22860" rIns="22860" bIns="22860" anchor="ctr">
            <a:spAutoFit/>
          </a:bodyPr>
          <a:lstStyle/>
          <a:p>
            <a:pPr algn="l"/>
            <a:r>
              <a:rPr sz="900" b="1" dirty="0">
                <a:solidFill>
                  <a:srgbClr val="E8910C"/>
                </a:solidFill>
                <a:latin typeface="Aptos"/>
              </a:rPr>
              <a:t>PERSONALIZED ROADMAP</a:t>
            </a:r>
          </a:p>
        </p:txBody>
      </p:sp>
      <p:sp>
        <p:nvSpPr>
          <p:cNvPr id="54" name="TextBox 53"/>
          <p:cNvSpPr txBox="1"/>
          <p:nvPr/>
        </p:nvSpPr>
        <p:spPr>
          <a:xfrm>
            <a:off x="5473356" y="1491300"/>
            <a:ext cx="161583" cy="276999"/>
          </a:xfrm>
          <a:prstGeom prst="rect">
            <a:avLst/>
          </a:prstGeom>
          <a:noFill/>
        </p:spPr>
        <p:txBody>
          <a:bodyPr wrap="none" lIns="22860" tIns="22860" rIns="22860" bIns="22860" anchor="ctr">
            <a:spAutoFit/>
          </a:bodyPr>
          <a:lstStyle/>
          <a:p>
            <a:pPr algn="ctr"/>
            <a:r>
              <a:rPr sz="1500" b="1" dirty="0">
                <a:solidFill>
                  <a:srgbClr val="082B54"/>
                </a:solidFill>
                <a:latin typeface="Aptos"/>
              </a:rPr>
              <a:t>→</a:t>
            </a:r>
          </a:p>
        </p:txBody>
      </p:sp>
      <p:grpSp>
        <p:nvGrpSpPr>
          <p:cNvPr id="2" name="Group 1">
            <a:extLst>
              <a:ext uri="{FF2B5EF4-FFF2-40B4-BE49-F238E27FC236}">
                <a16:creationId xmlns:a16="http://schemas.microsoft.com/office/drawing/2014/main" id="{628AD7B1-26F5-A6D8-5461-DD6DF3D856F2}"/>
              </a:ext>
            </a:extLst>
          </p:cNvPr>
          <p:cNvGrpSpPr/>
          <p:nvPr/>
        </p:nvGrpSpPr>
        <p:grpSpPr>
          <a:xfrm>
            <a:off x="5948401" y="1287409"/>
            <a:ext cx="633811" cy="701411"/>
            <a:chOff x="5425017" y="1516590"/>
            <a:chExt cx="500501" cy="605922"/>
          </a:xfrm>
        </p:grpSpPr>
        <p:sp>
          <p:nvSpPr>
            <p:cNvPr id="55" name="Oval 54"/>
            <p:cNvSpPr/>
            <p:nvPr/>
          </p:nvSpPr>
          <p:spPr>
            <a:xfrm>
              <a:off x="5425017" y="1516590"/>
              <a:ext cx="500501" cy="464610"/>
            </a:xfrm>
            <a:prstGeom prst="ellipse">
              <a:avLst/>
            </a:prstGeom>
            <a:solidFill>
              <a:srgbClr val="E5474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grpSp>
          <p:nvGrpSpPr>
            <p:cNvPr id="237" name="Group 236">
              <a:extLst>
                <a:ext uri="{FF2B5EF4-FFF2-40B4-BE49-F238E27FC236}">
                  <a16:creationId xmlns:a16="http://schemas.microsoft.com/office/drawing/2014/main" id="{8D1B6E60-7F64-FB94-CAE4-C60C97965D79}"/>
                </a:ext>
              </a:extLst>
            </p:cNvPr>
            <p:cNvGrpSpPr/>
            <p:nvPr/>
          </p:nvGrpSpPr>
          <p:grpSpPr>
            <a:xfrm>
              <a:off x="5437665" y="1832952"/>
              <a:ext cx="289560" cy="289560"/>
              <a:chOff x="5082540" y="1883467"/>
              <a:chExt cx="289560" cy="289560"/>
            </a:xfrm>
          </p:grpSpPr>
          <p:sp>
            <p:nvSpPr>
              <p:cNvPr id="57" name="Oval 56"/>
              <p:cNvSpPr/>
              <p:nvPr/>
            </p:nvSpPr>
            <p:spPr>
              <a:xfrm>
                <a:off x="5082540" y="1883467"/>
                <a:ext cx="289560" cy="289560"/>
              </a:xfrm>
              <a:prstGeom prst="ellipse">
                <a:avLst/>
              </a:prstGeom>
              <a:solidFill>
                <a:srgbClr val="E5474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dirty="0"/>
              </a:p>
            </p:txBody>
          </p:sp>
          <p:sp>
            <p:nvSpPr>
              <p:cNvPr id="58" name="TextBox 57"/>
              <p:cNvSpPr txBox="1"/>
              <p:nvPr/>
            </p:nvSpPr>
            <p:spPr>
              <a:xfrm>
                <a:off x="5139470" y="1933712"/>
                <a:ext cx="165573" cy="199407"/>
              </a:xfrm>
              <a:prstGeom prst="rect">
                <a:avLst/>
              </a:prstGeom>
              <a:noFill/>
            </p:spPr>
            <p:txBody>
              <a:bodyPr wrap="none" lIns="22860" tIns="22860" rIns="22860" bIns="22860" anchor="ctr">
                <a:spAutoFit/>
              </a:bodyPr>
              <a:lstStyle/>
              <a:p>
                <a:pPr algn="ctr"/>
                <a:r>
                  <a:rPr sz="1200" b="1" dirty="0">
                    <a:solidFill>
                      <a:srgbClr val="FFFFFF"/>
                    </a:solidFill>
                    <a:latin typeface="Aptos"/>
                  </a:rPr>
                  <a:t>05</a:t>
                </a:r>
              </a:p>
            </p:txBody>
          </p:sp>
        </p:grpSp>
      </p:grpSp>
      <p:sp>
        <p:nvSpPr>
          <p:cNvPr id="64" name="Rounded Rectangle 63"/>
          <p:cNvSpPr/>
          <p:nvPr/>
        </p:nvSpPr>
        <p:spPr>
          <a:xfrm>
            <a:off x="7690987" y="1013895"/>
            <a:ext cx="4384144" cy="4381610"/>
          </a:xfrm>
          <a:prstGeom prst="roundRect">
            <a:avLst/>
          </a:prstGeom>
          <a:solidFill>
            <a:srgbClr val="FFFFFF"/>
          </a:solidFill>
          <a:ln w="12700">
            <a:solidFill>
              <a:srgbClr val="69A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dirty="0"/>
          </a:p>
        </p:txBody>
      </p:sp>
      <p:sp>
        <p:nvSpPr>
          <p:cNvPr id="65" name="Chevron 64"/>
          <p:cNvSpPr/>
          <p:nvPr/>
        </p:nvSpPr>
        <p:spPr>
          <a:xfrm>
            <a:off x="8065427" y="1096342"/>
            <a:ext cx="2961966" cy="273859"/>
          </a:xfrm>
          <a:prstGeom prst="chevron">
            <a:avLst/>
          </a:prstGeom>
          <a:solidFill>
            <a:srgbClr val="558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dirty="0"/>
          </a:p>
        </p:txBody>
      </p:sp>
      <p:sp>
        <p:nvSpPr>
          <p:cNvPr id="66" name="TextBox 65"/>
          <p:cNvSpPr txBox="1"/>
          <p:nvPr/>
        </p:nvSpPr>
        <p:spPr>
          <a:xfrm>
            <a:off x="8195812" y="1112233"/>
            <a:ext cx="219291" cy="238527"/>
          </a:xfrm>
          <a:prstGeom prst="rect">
            <a:avLst/>
          </a:prstGeom>
          <a:noFill/>
        </p:spPr>
        <p:txBody>
          <a:bodyPr wrap="none" lIns="22860" tIns="22860" rIns="22860" bIns="22860" anchor="ctr">
            <a:spAutoFit/>
          </a:bodyPr>
          <a:lstStyle/>
          <a:p>
            <a:pPr algn="ctr"/>
            <a:r>
              <a:rPr sz="1250" b="1" dirty="0">
                <a:solidFill>
                  <a:srgbClr val="FFFFFF"/>
                </a:solidFill>
                <a:latin typeface="Aptos"/>
              </a:rPr>
              <a:t>⌘</a:t>
            </a:r>
          </a:p>
        </p:txBody>
      </p:sp>
      <p:sp>
        <p:nvSpPr>
          <p:cNvPr id="67" name="TextBox 66"/>
          <p:cNvSpPr txBox="1"/>
          <p:nvPr/>
        </p:nvSpPr>
        <p:spPr>
          <a:xfrm>
            <a:off x="8431501" y="1124811"/>
            <a:ext cx="2683499" cy="212815"/>
          </a:xfrm>
          <a:prstGeom prst="rect">
            <a:avLst/>
          </a:prstGeom>
          <a:noFill/>
        </p:spPr>
        <p:txBody>
          <a:bodyPr wrap="square" lIns="22860" tIns="22860" rIns="22860" bIns="22860" anchor="ctr">
            <a:spAutoFit/>
          </a:bodyPr>
          <a:lstStyle/>
          <a:p>
            <a:pPr algn="l"/>
            <a:r>
              <a:rPr sz="1083" b="1" dirty="0">
                <a:solidFill>
                  <a:srgbClr val="FFFFFF"/>
                </a:solidFill>
                <a:latin typeface="Aptos"/>
              </a:rPr>
              <a:t>SYSTEM ARCHITECTURE &amp; DATA FLOW</a:t>
            </a:r>
          </a:p>
        </p:txBody>
      </p:sp>
      <p:sp>
        <p:nvSpPr>
          <p:cNvPr id="68" name="Rounded Rectangle 67"/>
          <p:cNvSpPr/>
          <p:nvPr/>
        </p:nvSpPr>
        <p:spPr>
          <a:xfrm>
            <a:off x="8107822" y="1536376"/>
            <a:ext cx="3543301" cy="853440"/>
          </a:xfrm>
          <a:prstGeom prst="roundRect">
            <a:avLst/>
          </a:prstGeom>
          <a:solidFill>
            <a:srgbClr val="E8F5FF"/>
          </a:solidFill>
          <a:ln w="12700">
            <a:solidFill>
              <a:srgbClr val="69A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dirty="0"/>
          </a:p>
        </p:txBody>
      </p:sp>
      <p:sp>
        <p:nvSpPr>
          <p:cNvPr id="70" name="TextBox 69"/>
          <p:cNvSpPr txBox="1"/>
          <p:nvPr/>
        </p:nvSpPr>
        <p:spPr>
          <a:xfrm>
            <a:off x="8510230" y="1947923"/>
            <a:ext cx="437300" cy="155107"/>
          </a:xfrm>
          <a:prstGeom prst="rect">
            <a:avLst/>
          </a:prstGeom>
          <a:noFill/>
        </p:spPr>
        <p:txBody>
          <a:bodyPr wrap="none" lIns="22860" tIns="22860" rIns="22860" bIns="22860" anchor="ctr">
            <a:spAutoFit/>
          </a:bodyPr>
          <a:lstStyle/>
          <a:p>
            <a:pPr algn="ctr"/>
            <a:r>
              <a:rPr sz="708" b="1" dirty="0">
                <a:solidFill>
                  <a:srgbClr val="082B54"/>
                </a:solidFill>
                <a:latin typeface="Aptos"/>
              </a:rPr>
              <a:t>STUDENT</a:t>
            </a:r>
          </a:p>
        </p:txBody>
      </p:sp>
      <p:sp>
        <p:nvSpPr>
          <p:cNvPr id="71" name="TextBox 70"/>
          <p:cNvSpPr txBox="1"/>
          <p:nvPr/>
        </p:nvSpPr>
        <p:spPr>
          <a:xfrm>
            <a:off x="8466572" y="2107139"/>
            <a:ext cx="527067" cy="230832"/>
          </a:xfrm>
          <a:prstGeom prst="rect">
            <a:avLst/>
          </a:prstGeom>
          <a:noFill/>
        </p:spPr>
        <p:txBody>
          <a:bodyPr wrap="none" lIns="22860" tIns="22860" rIns="22860" bIns="22860" anchor="ctr">
            <a:spAutoFit/>
          </a:bodyPr>
          <a:lstStyle/>
          <a:p>
            <a:pPr algn="ctr"/>
            <a:r>
              <a:rPr sz="600" dirty="0">
                <a:solidFill>
                  <a:srgbClr val="082B54"/>
                </a:solidFill>
                <a:latin typeface="Aptos"/>
              </a:rPr>
              <a:t>Learn, Assess,
Grow</a:t>
            </a:r>
          </a:p>
        </p:txBody>
      </p:sp>
      <p:sp>
        <p:nvSpPr>
          <p:cNvPr id="73" name="TextBox 72"/>
          <p:cNvSpPr txBox="1"/>
          <p:nvPr/>
        </p:nvSpPr>
        <p:spPr>
          <a:xfrm>
            <a:off x="9708595" y="2004123"/>
            <a:ext cx="583173" cy="155107"/>
          </a:xfrm>
          <a:prstGeom prst="rect">
            <a:avLst/>
          </a:prstGeom>
          <a:noFill/>
        </p:spPr>
        <p:txBody>
          <a:bodyPr wrap="none" lIns="22860" tIns="22860" rIns="22860" bIns="22860" anchor="ctr">
            <a:spAutoFit/>
          </a:bodyPr>
          <a:lstStyle/>
          <a:p>
            <a:pPr algn="ctr"/>
            <a:r>
              <a:rPr sz="708" b="1" dirty="0">
                <a:solidFill>
                  <a:srgbClr val="082B54"/>
                </a:solidFill>
                <a:latin typeface="Aptos"/>
              </a:rPr>
              <a:t>INSTITUTION</a:t>
            </a:r>
          </a:p>
        </p:txBody>
      </p:sp>
      <p:sp>
        <p:nvSpPr>
          <p:cNvPr id="74" name="TextBox 73"/>
          <p:cNvSpPr txBox="1"/>
          <p:nvPr/>
        </p:nvSpPr>
        <p:spPr>
          <a:xfrm>
            <a:off x="9563100" y="2167650"/>
            <a:ext cx="786754" cy="230832"/>
          </a:xfrm>
          <a:prstGeom prst="rect">
            <a:avLst/>
          </a:prstGeom>
          <a:noFill/>
        </p:spPr>
        <p:txBody>
          <a:bodyPr wrap="none" lIns="22860" tIns="22860" rIns="22860" bIns="22860" anchor="ctr">
            <a:spAutoFit/>
          </a:bodyPr>
          <a:lstStyle/>
          <a:p>
            <a:pPr algn="ctr"/>
            <a:r>
              <a:rPr sz="600" dirty="0">
                <a:solidFill>
                  <a:srgbClr val="082B54"/>
                </a:solidFill>
                <a:latin typeface="Aptos"/>
              </a:rPr>
              <a:t>Analytics, Curriculum,
Resources</a:t>
            </a:r>
          </a:p>
        </p:txBody>
      </p:sp>
      <p:sp>
        <p:nvSpPr>
          <p:cNvPr id="76" name="TextBox 75"/>
          <p:cNvSpPr txBox="1"/>
          <p:nvPr/>
        </p:nvSpPr>
        <p:spPr>
          <a:xfrm>
            <a:off x="10965403" y="1920205"/>
            <a:ext cx="477375" cy="155107"/>
          </a:xfrm>
          <a:prstGeom prst="rect">
            <a:avLst/>
          </a:prstGeom>
          <a:noFill/>
        </p:spPr>
        <p:txBody>
          <a:bodyPr wrap="none" lIns="22860" tIns="22860" rIns="22860" bIns="22860" anchor="ctr">
            <a:spAutoFit/>
          </a:bodyPr>
          <a:lstStyle/>
          <a:p>
            <a:pPr algn="ctr"/>
            <a:r>
              <a:rPr sz="708" b="1" dirty="0">
                <a:solidFill>
                  <a:srgbClr val="082B54"/>
                </a:solidFill>
                <a:latin typeface="Aptos"/>
              </a:rPr>
              <a:t>INDUSTRY</a:t>
            </a:r>
          </a:p>
        </p:txBody>
      </p:sp>
      <p:sp>
        <p:nvSpPr>
          <p:cNvPr id="77" name="TextBox 76"/>
          <p:cNvSpPr txBox="1"/>
          <p:nvPr/>
        </p:nvSpPr>
        <p:spPr>
          <a:xfrm>
            <a:off x="10779027" y="2130429"/>
            <a:ext cx="732252" cy="230832"/>
          </a:xfrm>
          <a:prstGeom prst="rect">
            <a:avLst/>
          </a:prstGeom>
          <a:noFill/>
        </p:spPr>
        <p:txBody>
          <a:bodyPr wrap="none" lIns="22860" tIns="22860" rIns="22860" bIns="22860" anchor="ctr">
            <a:spAutoFit/>
          </a:bodyPr>
          <a:lstStyle/>
          <a:p>
            <a:pPr algn="ctr"/>
            <a:r>
              <a:rPr sz="600" dirty="0">
                <a:solidFill>
                  <a:srgbClr val="082B54"/>
                </a:solidFill>
                <a:latin typeface="Aptos"/>
              </a:rPr>
              <a:t>Demand, Jobs,
Projects, Mentorship</a:t>
            </a:r>
          </a:p>
        </p:txBody>
      </p:sp>
      <p:sp>
        <p:nvSpPr>
          <p:cNvPr id="78" name="TextBox 77"/>
          <p:cNvSpPr txBox="1"/>
          <p:nvPr/>
        </p:nvSpPr>
        <p:spPr>
          <a:xfrm>
            <a:off x="9276923" y="1691335"/>
            <a:ext cx="200056" cy="251287"/>
          </a:xfrm>
          <a:prstGeom prst="rect">
            <a:avLst/>
          </a:prstGeom>
          <a:noFill/>
        </p:spPr>
        <p:txBody>
          <a:bodyPr wrap="none" lIns="22860" tIns="22860" rIns="22860" bIns="22860" anchor="ctr">
            <a:spAutoFit/>
          </a:bodyPr>
          <a:lstStyle/>
          <a:p>
            <a:pPr algn="ctr"/>
            <a:r>
              <a:rPr sz="1333" b="1" dirty="0">
                <a:solidFill>
                  <a:srgbClr val="082B54"/>
                </a:solidFill>
                <a:latin typeface="Aptos"/>
              </a:rPr>
              <a:t>↔</a:t>
            </a:r>
          </a:p>
        </p:txBody>
      </p:sp>
      <p:sp>
        <p:nvSpPr>
          <p:cNvPr id="79" name="TextBox 78"/>
          <p:cNvSpPr txBox="1"/>
          <p:nvPr/>
        </p:nvSpPr>
        <p:spPr>
          <a:xfrm>
            <a:off x="10618732" y="1655802"/>
            <a:ext cx="200056" cy="251287"/>
          </a:xfrm>
          <a:prstGeom prst="rect">
            <a:avLst/>
          </a:prstGeom>
          <a:noFill/>
        </p:spPr>
        <p:txBody>
          <a:bodyPr wrap="none" lIns="22860" tIns="22860" rIns="22860" bIns="22860" anchor="ctr">
            <a:spAutoFit/>
          </a:bodyPr>
          <a:lstStyle/>
          <a:p>
            <a:pPr algn="ctr"/>
            <a:r>
              <a:rPr sz="1333" b="1" dirty="0">
                <a:solidFill>
                  <a:srgbClr val="082B54"/>
                </a:solidFill>
                <a:latin typeface="Aptos"/>
              </a:rPr>
              <a:t>↔</a:t>
            </a:r>
          </a:p>
        </p:txBody>
      </p:sp>
      <p:sp>
        <p:nvSpPr>
          <p:cNvPr id="80" name="Rounded Rectangle 79"/>
          <p:cNvSpPr/>
          <p:nvPr/>
        </p:nvSpPr>
        <p:spPr>
          <a:xfrm>
            <a:off x="8118532" y="2481919"/>
            <a:ext cx="3543302" cy="441960"/>
          </a:xfrm>
          <a:prstGeom prst="roundRect">
            <a:avLst/>
          </a:prstGeom>
          <a:solidFill>
            <a:srgbClr val="E8F5FF"/>
          </a:solidFill>
          <a:ln w="12700">
            <a:solidFill>
              <a:srgbClr val="246C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83" name="Rounded Rectangle 82"/>
          <p:cNvSpPr/>
          <p:nvPr/>
        </p:nvSpPr>
        <p:spPr>
          <a:xfrm>
            <a:off x="8118532" y="3016268"/>
            <a:ext cx="3621104" cy="1618326"/>
          </a:xfrm>
          <a:prstGeom prst="roundRect">
            <a:avLst/>
          </a:prstGeom>
          <a:solidFill>
            <a:srgbClr val="EBF9EE"/>
          </a:solidFill>
          <a:ln w="12700">
            <a:solidFill>
              <a:srgbClr val="3E91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dirty="0"/>
          </a:p>
        </p:txBody>
      </p:sp>
      <p:sp>
        <p:nvSpPr>
          <p:cNvPr id="84" name="TextBox 83"/>
          <p:cNvSpPr txBox="1"/>
          <p:nvPr/>
        </p:nvSpPr>
        <p:spPr>
          <a:xfrm>
            <a:off x="9672060" y="3028792"/>
            <a:ext cx="841257" cy="174343"/>
          </a:xfrm>
          <a:prstGeom prst="rect">
            <a:avLst/>
          </a:prstGeom>
          <a:noFill/>
        </p:spPr>
        <p:txBody>
          <a:bodyPr wrap="none" lIns="22860" tIns="22860" rIns="22860" bIns="22860" anchor="ctr">
            <a:spAutoFit/>
          </a:bodyPr>
          <a:lstStyle/>
          <a:p>
            <a:pPr algn="ctr"/>
            <a:r>
              <a:rPr sz="833" b="1" dirty="0">
                <a:solidFill>
                  <a:srgbClr val="082B54"/>
                </a:solidFill>
                <a:latin typeface="Aptos"/>
              </a:rPr>
              <a:t>CORE SERVICES</a:t>
            </a:r>
          </a:p>
        </p:txBody>
      </p:sp>
      <p:sp>
        <p:nvSpPr>
          <p:cNvPr id="103" name="Rounded Rectangle 102"/>
          <p:cNvSpPr/>
          <p:nvPr/>
        </p:nvSpPr>
        <p:spPr>
          <a:xfrm>
            <a:off x="8144156" y="4747072"/>
            <a:ext cx="3543300" cy="476286"/>
          </a:xfrm>
          <a:prstGeom prst="roundRect">
            <a:avLst/>
          </a:prstGeom>
          <a:solidFill>
            <a:srgbClr val="F4EDFF"/>
          </a:solidFill>
          <a:ln w="12700">
            <a:solidFill>
              <a:srgbClr val="6F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dirty="0"/>
          </a:p>
        </p:txBody>
      </p:sp>
      <p:sp>
        <p:nvSpPr>
          <p:cNvPr id="107" name="Rounded Rectangle 106"/>
          <p:cNvSpPr/>
          <p:nvPr/>
        </p:nvSpPr>
        <p:spPr>
          <a:xfrm>
            <a:off x="145465" y="3359270"/>
            <a:ext cx="7464769" cy="2019382"/>
          </a:xfrm>
          <a:prstGeom prst="roundRect">
            <a:avLst/>
          </a:prstGeom>
          <a:solidFill>
            <a:srgbClr val="FFFFFF"/>
          </a:solidFill>
          <a:ln w="12700">
            <a:solidFill>
              <a:srgbClr val="69A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dirty="0"/>
          </a:p>
        </p:txBody>
      </p:sp>
      <p:sp>
        <p:nvSpPr>
          <p:cNvPr id="108" name="Chevron 107"/>
          <p:cNvSpPr/>
          <p:nvPr/>
        </p:nvSpPr>
        <p:spPr>
          <a:xfrm>
            <a:off x="530694" y="3300301"/>
            <a:ext cx="3009900" cy="304800"/>
          </a:xfrm>
          <a:prstGeom prst="chevron">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dirty="0"/>
          </a:p>
        </p:txBody>
      </p:sp>
      <p:sp>
        <p:nvSpPr>
          <p:cNvPr id="109" name="TextBox 108"/>
          <p:cNvSpPr txBox="1"/>
          <p:nvPr/>
        </p:nvSpPr>
        <p:spPr>
          <a:xfrm>
            <a:off x="262724" y="3370696"/>
            <a:ext cx="198452" cy="238527"/>
          </a:xfrm>
          <a:prstGeom prst="rect">
            <a:avLst/>
          </a:prstGeom>
          <a:noFill/>
        </p:spPr>
        <p:txBody>
          <a:bodyPr wrap="none" lIns="22860" tIns="22860" rIns="22860" bIns="22860" anchor="ctr">
            <a:spAutoFit/>
          </a:bodyPr>
          <a:lstStyle/>
          <a:p>
            <a:pPr algn="ctr"/>
            <a:r>
              <a:rPr sz="1250" b="1">
                <a:solidFill>
                  <a:srgbClr val="FFFFFF"/>
                </a:solidFill>
                <a:latin typeface="Aptos"/>
              </a:rPr>
              <a:t>▱</a:t>
            </a:r>
          </a:p>
        </p:txBody>
      </p:sp>
      <p:sp>
        <p:nvSpPr>
          <p:cNvPr id="110" name="TextBox 109"/>
          <p:cNvSpPr txBox="1"/>
          <p:nvPr/>
        </p:nvSpPr>
        <p:spPr>
          <a:xfrm>
            <a:off x="980135" y="3341973"/>
            <a:ext cx="2163734" cy="212815"/>
          </a:xfrm>
          <a:prstGeom prst="rect">
            <a:avLst/>
          </a:prstGeom>
          <a:noFill/>
        </p:spPr>
        <p:txBody>
          <a:bodyPr wrap="none" lIns="22860" tIns="22860" rIns="22860" bIns="22860" anchor="ctr">
            <a:spAutoFit/>
          </a:bodyPr>
          <a:lstStyle/>
          <a:p>
            <a:pPr algn="l"/>
            <a:r>
              <a:rPr sz="1083" b="1" dirty="0">
                <a:solidFill>
                  <a:srgbClr val="FFFFFF"/>
                </a:solidFill>
                <a:latin typeface="Aptos"/>
              </a:rPr>
              <a:t>TECHNOLOGIES &amp; COMPONENTS</a:t>
            </a:r>
          </a:p>
        </p:txBody>
      </p:sp>
      <p:sp>
        <p:nvSpPr>
          <p:cNvPr id="111" name="Rounded Rectangle 110"/>
          <p:cNvSpPr/>
          <p:nvPr/>
        </p:nvSpPr>
        <p:spPr>
          <a:xfrm>
            <a:off x="237845" y="3686101"/>
            <a:ext cx="1171448" cy="1637595"/>
          </a:xfrm>
          <a:prstGeom prst="roundRect">
            <a:avLst/>
          </a:prstGeom>
          <a:solidFill>
            <a:srgbClr val="E8F5FF"/>
          </a:solidFill>
          <a:ln w="12700">
            <a:solidFill>
              <a:srgbClr val="246C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dirty="0"/>
          </a:p>
        </p:txBody>
      </p:sp>
      <p:sp>
        <p:nvSpPr>
          <p:cNvPr id="117" name="Rounded Rectangle 116"/>
          <p:cNvSpPr/>
          <p:nvPr/>
        </p:nvSpPr>
        <p:spPr>
          <a:xfrm>
            <a:off x="1477673" y="3655437"/>
            <a:ext cx="1237516" cy="1674734"/>
          </a:xfrm>
          <a:prstGeom prst="roundRect">
            <a:avLst/>
          </a:prstGeom>
          <a:solidFill>
            <a:srgbClr val="EBF9EE"/>
          </a:solidFill>
          <a:ln w="12700">
            <a:solidFill>
              <a:srgbClr val="3E91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dirty="0"/>
          </a:p>
        </p:txBody>
      </p:sp>
      <p:sp>
        <p:nvSpPr>
          <p:cNvPr id="118" name="TextBox 117"/>
          <p:cNvSpPr txBox="1"/>
          <p:nvPr/>
        </p:nvSpPr>
        <p:spPr>
          <a:xfrm>
            <a:off x="1848728" y="3719673"/>
            <a:ext cx="519053" cy="169277"/>
          </a:xfrm>
          <a:prstGeom prst="rect">
            <a:avLst/>
          </a:prstGeom>
          <a:noFill/>
        </p:spPr>
        <p:txBody>
          <a:bodyPr wrap="none" lIns="22860" tIns="22860" rIns="22860" bIns="22860" anchor="ctr">
            <a:spAutoFit/>
          </a:bodyPr>
          <a:lstStyle/>
          <a:p>
            <a:pPr algn="ctr"/>
            <a:r>
              <a:rPr sz="800" b="1" dirty="0">
                <a:solidFill>
                  <a:srgbClr val="082B54"/>
                </a:solidFill>
                <a:latin typeface="Aptos"/>
              </a:rPr>
              <a:t>SECURITY</a:t>
            </a:r>
          </a:p>
        </p:txBody>
      </p:sp>
      <p:sp>
        <p:nvSpPr>
          <p:cNvPr id="123" name="Rounded Rectangle 122"/>
          <p:cNvSpPr/>
          <p:nvPr/>
        </p:nvSpPr>
        <p:spPr>
          <a:xfrm>
            <a:off x="2818878" y="3638550"/>
            <a:ext cx="1153321" cy="1685146"/>
          </a:xfrm>
          <a:prstGeom prst="roundRect">
            <a:avLst/>
          </a:prstGeom>
          <a:solidFill>
            <a:srgbClr val="FFF7E1"/>
          </a:solidFill>
          <a:ln w="12700">
            <a:solidFill>
              <a:srgbClr val="E891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dirty="0"/>
          </a:p>
        </p:txBody>
      </p:sp>
      <p:sp>
        <p:nvSpPr>
          <p:cNvPr id="124" name="TextBox 123"/>
          <p:cNvSpPr txBox="1"/>
          <p:nvPr/>
        </p:nvSpPr>
        <p:spPr>
          <a:xfrm>
            <a:off x="2935327" y="3674679"/>
            <a:ext cx="887744" cy="292388"/>
          </a:xfrm>
          <a:prstGeom prst="rect">
            <a:avLst/>
          </a:prstGeom>
          <a:noFill/>
        </p:spPr>
        <p:txBody>
          <a:bodyPr wrap="none" lIns="22860" tIns="22860" rIns="22860" bIns="22860" anchor="ctr">
            <a:spAutoFit/>
          </a:bodyPr>
          <a:lstStyle/>
          <a:p>
            <a:pPr algn="ctr"/>
            <a:r>
              <a:rPr sz="800" b="1" dirty="0">
                <a:solidFill>
                  <a:srgbClr val="082B54"/>
                </a:solidFill>
                <a:latin typeface="Aptos"/>
              </a:rPr>
              <a:t>AI &amp; ASSESSMENT
</a:t>
            </a:r>
          </a:p>
        </p:txBody>
      </p:sp>
      <p:sp>
        <p:nvSpPr>
          <p:cNvPr id="129" name="Rounded Rectangle 128"/>
          <p:cNvSpPr/>
          <p:nvPr/>
        </p:nvSpPr>
        <p:spPr>
          <a:xfrm>
            <a:off x="4057026" y="3614455"/>
            <a:ext cx="1120760" cy="1685145"/>
          </a:xfrm>
          <a:prstGeom prst="roundRect">
            <a:avLst/>
          </a:prstGeom>
          <a:solidFill>
            <a:srgbClr val="F4EDFF"/>
          </a:solidFill>
          <a:ln w="12700">
            <a:solidFill>
              <a:srgbClr val="6F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dirty="0"/>
          </a:p>
        </p:txBody>
      </p:sp>
      <p:sp>
        <p:nvSpPr>
          <p:cNvPr id="130" name="TextBox 129"/>
          <p:cNvSpPr txBox="1"/>
          <p:nvPr/>
        </p:nvSpPr>
        <p:spPr>
          <a:xfrm>
            <a:off x="4204589" y="3655596"/>
            <a:ext cx="911273" cy="251479"/>
          </a:xfrm>
          <a:prstGeom prst="rect">
            <a:avLst/>
          </a:prstGeom>
          <a:noFill/>
        </p:spPr>
        <p:txBody>
          <a:bodyPr wrap="square" lIns="22860" tIns="22860" rIns="22860" bIns="22860" anchor="ctr">
            <a:spAutoFit/>
          </a:bodyPr>
          <a:lstStyle/>
          <a:p>
            <a:pPr algn="ctr"/>
            <a:r>
              <a:rPr sz="667" b="1" dirty="0">
                <a:solidFill>
                  <a:srgbClr val="082B54"/>
                </a:solidFill>
                <a:latin typeface="Aptos"/>
              </a:rPr>
              <a:t>SKILL INTELLIGENCE
</a:t>
            </a:r>
          </a:p>
        </p:txBody>
      </p:sp>
      <p:sp>
        <p:nvSpPr>
          <p:cNvPr id="131" name="TextBox 130"/>
          <p:cNvSpPr txBox="1"/>
          <p:nvPr/>
        </p:nvSpPr>
        <p:spPr>
          <a:xfrm>
            <a:off x="3352800" y="4316098"/>
            <a:ext cx="46231" cy="130805"/>
          </a:xfrm>
          <a:prstGeom prst="rect">
            <a:avLst/>
          </a:prstGeom>
          <a:noFill/>
        </p:spPr>
        <p:txBody>
          <a:bodyPr wrap="none" lIns="22860" tIns="22860" rIns="22860" bIns="22860" anchor="ctr">
            <a:spAutoFit/>
          </a:bodyPr>
          <a:lstStyle/>
          <a:p>
            <a:pPr algn="l"/>
            <a:endParaRPr sz="550" dirty="0">
              <a:solidFill>
                <a:srgbClr val="082B54"/>
              </a:solidFill>
              <a:latin typeface="Aptos"/>
            </a:endParaRPr>
          </a:p>
        </p:txBody>
      </p:sp>
      <p:sp>
        <p:nvSpPr>
          <p:cNvPr id="132" name="TextBox 131"/>
          <p:cNvSpPr txBox="1"/>
          <p:nvPr/>
        </p:nvSpPr>
        <p:spPr>
          <a:xfrm>
            <a:off x="3352800" y="4529458"/>
            <a:ext cx="46231" cy="130805"/>
          </a:xfrm>
          <a:prstGeom prst="rect">
            <a:avLst/>
          </a:prstGeom>
          <a:noFill/>
        </p:spPr>
        <p:txBody>
          <a:bodyPr wrap="none" lIns="22860" tIns="22860" rIns="22860" bIns="22860" anchor="ctr">
            <a:spAutoFit/>
          </a:bodyPr>
          <a:lstStyle/>
          <a:p>
            <a:pPr algn="l"/>
            <a:endParaRPr sz="550" dirty="0">
              <a:solidFill>
                <a:srgbClr val="082B54"/>
              </a:solidFill>
              <a:latin typeface="Aptos"/>
            </a:endParaRPr>
          </a:p>
        </p:txBody>
      </p:sp>
      <p:sp>
        <p:nvSpPr>
          <p:cNvPr id="133" name="TextBox 132"/>
          <p:cNvSpPr txBox="1"/>
          <p:nvPr/>
        </p:nvSpPr>
        <p:spPr>
          <a:xfrm>
            <a:off x="3352800" y="4742818"/>
            <a:ext cx="46231" cy="130805"/>
          </a:xfrm>
          <a:prstGeom prst="rect">
            <a:avLst/>
          </a:prstGeom>
          <a:noFill/>
        </p:spPr>
        <p:txBody>
          <a:bodyPr wrap="none" lIns="22860" tIns="22860" rIns="22860" bIns="22860" anchor="ctr">
            <a:spAutoFit/>
          </a:bodyPr>
          <a:lstStyle/>
          <a:p>
            <a:pPr algn="l"/>
            <a:endParaRPr sz="550" dirty="0">
              <a:solidFill>
                <a:srgbClr val="082B54"/>
              </a:solidFill>
              <a:latin typeface="Aptos"/>
            </a:endParaRPr>
          </a:p>
        </p:txBody>
      </p:sp>
      <p:sp>
        <p:nvSpPr>
          <p:cNvPr id="134" name="TextBox 133"/>
          <p:cNvSpPr txBox="1"/>
          <p:nvPr/>
        </p:nvSpPr>
        <p:spPr>
          <a:xfrm>
            <a:off x="3352800" y="4956178"/>
            <a:ext cx="46231" cy="130805"/>
          </a:xfrm>
          <a:prstGeom prst="rect">
            <a:avLst/>
          </a:prstGeom>
          <a:noFill/>
        </p:spPr>
        <p:txBody>
          <a:bodyPr wrap="none" lIns="22860" tIns="22860" rIns="22860" bIns="22860" anchor="ctr">
            <a:spAutoFit/>
          </a:bodyPr>
          <a:lstStyle/>
          <a:p>
            <a:pPr algn="l"/>
            <a:endParaRPr sz="550" dirty="0">
              <a:solidFill>
                <a:srgbClr val="082B54"/>
              </a:solidFill>
              <a:latin typeface="Aptos"/>
            </a:endParaRPr>
          </a:p>
        </p:txBody>
      </p:sp>
      <p:sp>
        <p:nvSpPr>
          <p:cNvPr id="135" name="Rounded Rectangle 134"/>
          <p:cNvSpPr/>
          <p:nvPr/>
        </p:nvSpPr>
        <p:spPr>
          <a:xfrm>
            <a:off x="5256451" y="3589169"/>
            <a:ext cx="1118399" cy="1715476"/>
          </a:xfrm>
          <a:prstGeom prst="roundRect">
            <a:avLst/>
          </a:prstGeom>
          <a:solidFill>
            <a:srgbClr val="FFEEEE"/>
          </a:solidFill>
          <a:ln w="12700">
            <a:solidFill>
              <a:srgbClr val="E547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dirty="0"/>
          </a:p>
        </p:txBody>
      </p:sp>
      <p:sp>
        <p:nvSpPr>
          <p:cNvPr id="136" name="TextBox 135"/>
          <p:cNvSpPr txBox="1"/>
          <p:nvPr/>
        </p:nvSpPr>
        <p:spPr>
          <a:xfrm>
            <a:off x="5425017" y="3655437"/>
            <a:ext cx="724237" cy="148823"/>
          </a:xfrm>
          <a:prstGeom prst="rect">
            <a:avLst/>
          </a:prstGeom>
          <a:noFill/>
        </p:spPr>
        <p:txBody>
          <a:bodyPr wrap="none" lIns="22860" tIns="22860" rIns="22860" bIns="22860" anchor="ctr">
            <a:spAutoFit/>
          </a:bodyPr>
          <a:lstStyle/>
          <a:p>
            <a:pPr algn="ctr"/>
            <a:r>
              <a:rPr sz="667" b="1" dirty="0">
                <a:solidFill>
                  <a:srgbClr val="082B54"/>
                </a:solidFill>
                <a:latin typeface="Aptos"/>
              </a:rPr>
              <a:t>DATA &amp; STORAGE</a:t>
            </a:r>
          </a:p>
        </p:txBody>
      </p:sp>
      <p:sp>
        <p:nvSpPr>
          <p:cNvPr id="137" name="TextBox 136"/>
          <p:cNvSpPr txBox="1"/>
          <p:nvPr/>
        </p:nvSpPr>
        <p:spPr>
          <a:xfrm>
            <a:off x="4373880" y="4316098"/>
            <a:ext cx="46231" cy="130805"/>
          </a:xfrm>
          <a:prstGeom prst="rect">
            <a:avLst/>
          </a:prstGeom>
          <a:noFill/>
        </p:spPr>
        <p:txBody>
          <a:bodyPr wrap="none" lIns="22860" tIns="22860" rIns="22860" bIns="22860" anchor="ctr">
            <a:spAutoFit/>
          </a:bodyPr>
          <a:lstStyle/>
          <a:p>
            <a:pPr algn="l"/>
            <a:endParaRPr sz="550" dirty="0">
              <a:solidFill>
                <a:srgbClr val="082B54"/>
              </a:solidFill>
              <a:latin typeface="Aptos"/>
            </a:endParaRPr>
          </a:p>
        </p:txBody>
      </p:sp>
      <p:sp>
        <p:nvSpPr>
          <p:cNvPr id="139" name="TextBox 138"/>
          <p:cNvSpPr txBox="1"/>
          <p:nvPr/>
        </p:nvSpPr>
        <p:spPr>
          <a:xfrm>
            <a:off x="4373880" y="4742818"/>
            <a:ext cx="46231" cy="130805"/>
          </a:xfrm>
          <a:prstGeom prst="rect">
            <a:avLst/>
          </a:prstGeom>
          <a:noFill/>
        </p:spPr>
        <p:txBody>
          <a:bodyPr wrap="none" lIns="22860" tIns="22860" rIns="22860" bIns="22860" anchor="ctr">
            <a:spAutoFit/>
          </a:bodyPr>
          <a:lstStyle/>
          <a:p>
            <a:pPr algn="l"/>
            <a:endParaRPr sz="550" dirty="0">
              <a:solidFill>
                <a:srgbClr val="082B54"/>
              </a:solidFill>
              <a:latin typeface="Aptos"/>
            </a:endParaRPr>
          </a:p>
        </p:txBody>
      </p:sp>
      <p:sp>
        <p:nvSpPr>
          <p:cNvPr id="140" name="TextBox 139"/>
          <p:cNvSpPr txBox="1"/>
          <p:nvPr/>
        </p:nvSpPr>
        <p:spPr>
          <a:xfrm>
            <a:off x="4373880" y="4956178"/>
            <a:ext cx="46231" cy="130805"/>
          </a:xfrm>
          <a:prstGeom prst="rect">
            <a:avLst/>
          </a:prstGeom>
          <a:noFill/>
        </p:spPr>
        <p:txBody>
          <a:bodyPr wrap="none" lIns="22860" tIns="22860" rIns="22860" bIns="22860" anchor="ctr">
            <a:spAutoFit/>
          </a:bodyPr>
          <a:lstStyle/>
          <a:p>
            <a:pPr algn="l"/>
            <a:endParaRPr sz="550" dirty="0">
              <a:solidFill>
                <a:srgbClr val="082B54"/>
              </a:solidFill>
              <a:latin typeface="Aptos"/>
            </a:endParaRPr>
          </a:p>
        </p:txBody>
      </p:sp>
      <p:sp>
        <p:nvSpPr>
          <p:cNvPr id="141" name="Rounded Rectangle 140"/>
          <p:cNvSpPr/>
          <p:nvPr/>
        </p:nvSpPr>
        <p:spPr>
          <a:xfrm>
            <a:off x="6441574" y="3595055"/>
            <a:ext cx="1118398" cy="1689329"/>
          </a:xfrm>
          <a:prstGeom prst="roundRect">
            <a:avLst/>
          </a:prstGeom>
          <a:solidFill>
            <a:srgbClr val="E8FAFD"/>
          </a:solidFill>
          <a:ln w="12700">
            <a:solidFill>
              <a:srgbClr val="1BA3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dirty="0"/>
          </a:p>
        </p:txBody>
      </p:sp>
      <p:sp>
        <p:nvSpPr>
          <p:cNvPr id="142" name="TextBox 141"/>
          <p:cNvSpPr txBox="1"/>
          <p:nvPr/>
        </p:nvSpPr>
        <p:spPr>
          <a:xfrm>
            <a:off x="6560532" y="3641076"/>
            <a:ext cx="812402" cy="148823"/>
          </a:xfrm>
          <a:prstGeom prst="rect">
            <a:avLst/>
          </a:prstGeom>
          <a:noFill/>
        </p:spPr>
        <p:txBody>
          <a:bodyPr wrap="none" lIns="22860" tIns="22860" rIns="22860" bIns="22860" anchor="ctr">
            <a:spAutoFit/>
          </a:bodyPr>
          <a:lstStyle/>
          <a:p>
            <a:pPr algn="ctr"/>
            <a:r>
              <a:rPr sz="667" b="1" dirty="0">
                <a:solidFill>
                  <a:srgbClr val="082B54"/>
                </a:solidFill>
                <a:latin typeface="Aptos"/>
              </a:rPr>
              <a:t>TESTING &amp; QUALITY</a:t>
            </a:r>
          </a:p>
        </p:txBody>
      </p:sp>
      <p:sp>
        <p:nvSpPr>
          <p:cNvPr id="145" name="TextBox 144"/>
          <p:cNvSpPr txBox="1"/>
          <p:nvPr/>
        </p:nvSpPr>
        <p:spPr>
          <a:xfrm>
            <a:off x="5394960" y="4742818"/>
            <a:ext cx="46231" cy="130805"/>
          </a:xfrm>
          <a:prstGeom prst="rect">
            <a:avLst/>
          </a:prstGeom>
          <a:noFill/>
        </p:spPr>
        <p:txBody>
          <a:bodyPr wrap="none" lIns="22860" tIns="22860" rIns="22860" bIns="22860" anchor="ctr">
            <a:spAutoFit/>
          </a:bodyPr>
          <a:lstStyle/>
          <a:p>
            <a:pPr algn="l"/>
            <a:endParaRPr sz="550" dirty="0">
              <a:solidFill>
                <a:srgbClr val="082B54"/>
              </a:solidFill>
              <a:latin typeface="Aptos"/>
            </a:endParaRPr>
          </a:p>
        </p:txBody>
      </p:sp>
      <p:sp>
        <p:nvSpPr>
          <p:cNvPr id="146" name="TextBox 145"/>
          <p:cNvSpPr txBox="1"/>
          <p:nvPr/>
        </p:nvSpPr>
        <p:spPr>
          <a:xfrm>
            <a:off x="5394961" y="4956178"/>
            <a:ext cx="46231" cy="130805"/>
          </a:xfrm>
          <a:prstGeom prst="rect">
            <a:avLst/>
          </a:prstGeom>
          <a:noFill/>
        </p:spPr>
        <p:txBody>
          <a:bodyPr wrap="none" lIns="22860" tIns="22860" rIns="22860" bIns="22860" anchor="ctr">
            <a:spAutoFit/>
          </a:bodyPr>
          <a:lstStyle/>
          <a:p>
            <a:pPr algn="l"/>
            <a:endParaRPr sz="550" dirty="0">
              <a:solidFill>
                <a:srgbClr val="082B54"/>
              </a:solidFill>
              <a:latin typeface="Aptos"/>
            </a:endParaRPr>
          </a:p>
        </p:txBody>
      </p:sp>
      <p:sp>
        <p:nvSpPr>
          <p:cNvPr id="147" name="Rounded Rectangle 146"/>
          <p:cNvSpPr/>
          <p:nvPr/>
        </p:nvSpPr>
        <p:spPr>
          <a:xfrm>
            <a:off x="26670" y="5513352"/>
            <a:ext cx="11963400" cy="731520"/>
          </a:xfrm>
          <a:prstGeom prst="roundRect">
            <a:avLst/>
          </a:prstGeom>
          <a:solidFill>
            <a:srgbClr val="FFFFFF"/>
          </a:solidFill>
          <a:ln w="12700">
            <a:solidFill>
              <a:srgbClr val="69AE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dirty="0"/>
          </a:p>
        </p:txBody>
      </p:sp>
      <p:cxnSp>
        <p:nvCxnSpPr>
          <p:cNvPr id="149" name="Connector 148"/>
          <p:cNvCxnSpPr>
            <a:cxnSpLocks/>
          </p:cNvCxnSpPr>
          <p:nvPr/>
        </p:nvCxnSpPr>
        <p:spPr>
          <a:xfrm>
            <a:off x="1046480" y="5606644"/>
            <a:ext cx="0" cy="487861"/>
          </a:xfrm>
          <a:prstGeom prst="line">
            <a:avLst/>
          </a:prstGeom>
          <a:ln w="8890">
            <a:solidFill>
              <a:srgbClr val="D7DCE1"/>
            </a:solidFill>
          </a:ln>
        </p:spPr>
        <p:style>
          <a:lnRef idx="2">
            <a:schemeClr val="accent1"/>
          </a:lnRef>
          <a:fillRef idx="0">
            <a:schemeClr val="accent1"/>
          </a:fillRef>
          <a:effectRef idx="1">
            <a:schemeClr val="accent1"/>
          </a:effectRef>
          <a:fontRef idx="minor">
            <a:schemeClr val="tx1"/>
          </a:fontRef>
        </p:style>
      </p:cxnSp>
      <p:sp>
        <p:nvSpPr>
          <p:cNvPr id="151" name="TextBox 150"/>
          <p:cNvSpPr txBox="1"/>
          <p:nvPr/>
        </p:nvSpPr>
        <p:spPr>
          <a:xfrm>
            <a:off x="310038" y="5941628"/>
            <a:ext cx="628057" cy="169277"/>
          </a:xfrm>
          <a:prstGeom prst="rect">
            <a:avLst/>
          </a:prstGeom>
          <a:noFill/>
        </p:spPr>
        <p:txBody>
          <a:bodyPr wrap="none" lIns="22860" tIns="22860" rIns="22860" bIns="22860" anchor="ctr">
            <a:spAutoFit/>
          </a:bodyPr>
          <a:lstStyle/>
          <a:p>
            <a:pPr algn="ctr"/>
            <a:r>
              <a:rPr sz="800" b="1" dirty="0">
                <a:solidFill>
                  <a:srgbClr val="082B54"/>
                </a:solidFill>
                <a:latin typeface="Arial" panose="020B0604020202020204" pitchFamily="34" charset="0"/>
                <a:cs typeface="Arial" panose="020B0604020202020204" pitchFamily="34" charset="0"/>
              </a:rPr>
              <a:t>Onboarding</a:t>
            </a:r>
          </a:p>
        </p:txBody>
      </p:sp>
      <p:cxnSp>
        <p:nvCxnSpPr>
          <p:cNvPr id="152" name="Connector 151"/>
          <p:cNvCxnSpPr>
            <a:cxnSpLocks/>
          </p:cNvCxnSpPr>
          <p:nvPr/>
        </p:nvCxnSpPr>
        <p:spPr>
          <a:xfrm>
            <a:off x="1996869" y="5602213"/>
            <a:ext cx="0" cy="492292"/>
          </a:xfrm>
          <a:prstGeom prst="line">
            <a:avLst/>
          </a:prstGeom>
          <a:ln w="8890">
            <a:solidFill>
              <a:srgbClr val="D7DCE1"/>
            </a:solidFill>
          </a:ln>
        </p:spPr>
        <p:style>
          <a:lnRef idx="2">
            <a:schemeClr val="accent1"/>
          </a:lnRef>
          <a:fillRef idx="0">
            <a:schemeClr val="accent1"/>
          </a:fillRef>
          <a:effectRef idx="1">
            <a:schemeClr val="accent1"/>
          </a:effectRef>
          <a:fontRef idx="minor">
            <a:schemeClr val="tx1"/>
          </a:fontRef>
        </p:style>
      </p:cxnSp>
      <p:sp>
        <p:nvSpPr>
          <p:cNvPr id="154" name="TextBox 153"/>
          <p:cNvSpPr txBox="1"/>
          <p:nvPr/>
        </p:nvSpPr>
        <p:spPr>
          <a:xfrm>
            <a:off x="1146269" y="5940855"/>
            <a:ext cx="785151" cy="169277"/>
          </a:xfrm>
          <a:prstGeom prst="rect">
            <a:avLst/>
          </a:prstGeom>
          <a:noFill/>
        </p:spPr>
        <p:txBody>
          <a:bodyPr wrap="none" lIns="22860" tIns="22860" rIns="22860" bIns="22860" anchor="ctr">
            <a:spAutoFit/>
          </a:bodyPr>
          <a:lstStyle/>
          <a:p>
            <a:pPr algn="ctr"/>
            <a:r>
              <a:rPr sz="800" b="1" dirty="0">
                <a:solidFill>
                  <a:srgbClr val="082B54"/>
                </a:solidFill>
                <a:latin typeface="Arial" panose="020B0604020202020204" pitchFamily="34" charset="0"/>
                <a:cs typeface="Arial" panose="020B0604020202020204" pitchFamily="34" charset="0"/>
              </a:rPr>
              <a:t>AI Assessment</a:t>
            </a:r>
          </a:p>
        </p:txBody>
      </p:sp>
      <p:cxnSp>
        <p:nvCxnSpPr>
          <p:cNvPr id="155" name="Connector 154"/>
          <p:cNvCxnSpPr>
            <a:cxnSpLocks/>
          </p:cNvCxnSpPr>
          <p:nvPr/>
        </p:nvCxnSpPr>
        <p:spPr>
          <a:xfrm>
            <a:off x="2948940" y="5606644"/>
            <a:ext cx="0" cy="510925"/>
          </a:xfrm>
          <a:prstGeom prst="line">
            <a:avLst/>
          </a:prstGeom>
          <a:ln w="8890">
            <a:solidFill>
              <a:srgbClr val="D7DCE1"/>
            </a:solidFill>
          </a:ln>
        </p:spPr>
        <p:style>
          <a:lnRef idx="2">
            <a:schemeClr val="accent1"/>
          </a:lnRef>
          <a:fillRef idx="0">
            <a:schemeClr val="accent1"/>
          </a:fillRef>
          <a:effectRef idx="1">
            <a:schemeClr val="accent1"/>
          </a:effectRef>
          <a:fontRef idx="minor">
            <a:schemeClr val="tx1"/>
          </a:fontRef>
        </p:style>
      </p:cxnSp>
      <p:sp>
        <p:nvSpPr>
          <p:cNvPr id="157" name="TextBox 156"/>
          <p:cNvSpPr txBox="1"/>
          <p:nvPr/>
        </p:nvSpPr>
        <p:spPr>
          <a:xfrm>
            <a:off x="2182923" y="5879714"/>
            <a:ext cx="666529" cy="292388"/>
          </a:xfrm>
          <a:prstGeom prst="rect">
            <a:avLst/>
          </a:prstGeom>
          <a:noFill/>
        </p:spPr>
        <p:txBody>
          <a:bodyPr wrap="none" lIns="22860" tIns="22860" rIns="22860" bIns="22860" anchor="ctr">
            <a:spAutoFit/>
          </a:bodyPr>
          <a:lstStyle/>
          <a:p>
            <a:pPr algn="ctr"/>
            <a:r>
              <a:rPr sz="800" b="1" dirty="0">
                <a:solidFill>
                  <a:srgbClr val="082B54"/>
                </a:solidFill>
                <a:latin typeface="Arial" panose="020B0604020202020204" pitchFamily="34" charset="0"/>
                <a:cs typeface="Arial" panose="020B0604020202020204" pitchFamily="34" charset="0"/>
              </a:rPr>
              <a:t>Skill a</a:t>
            </a:r>
            <a:r>
              <a:rPr lang="en-IN" sz="800" b="1" dirty="0">
                <a:solidFill>
                  <a:srgbClr val="082B54"/>
                </a:solidFill>
                <a:latin typeface="Arial" panose="020B0604020202020204" pitchFamily="34" charset="0"/>
                <a:cs typeface="Arial" panose="020B0604020202020204" pitchFamily="34" charset="0"/>
              </a:rPr>
              <a:t>Profile
&amp; Ga</a:t>
            </a:r>
            <a:r>
              <a:rPr sz="800" b="1" dirty="0">
                <a:solidFill>
                  <a:srgbClr val="082B54"/>
                </a:solidFill>
                <a:latin typeface="Arial" panose="020B0604020202020204" pitchFamily="34" charset="0"/>
                <a:cs typeface="Arial" panose="020B0604020202020204" pitchFamily="34" charset="0"/>
              </a:rPr>
              <a:t>p</a:t>
            </a:r>
          </a:p>
        </p:txBody>
      </p:sp>
      <p:cxnSp>
        <p:nvCxnSpPr>
          <p:cNvPr id="158" name="Connector 157"/>
          <p:cNvCxnSpPr>
            <a:cxnSpLocks/>
          </p:cNvCxnSpPr>
          <p:nvPr/>
        </p:nvCxnSpPr>
        <p:spPr>
          <a:xfrm>
            <a:off x="3680460" y="5593080"/>
            <a:ext cx="0" cy="517825"/>
          </a:xfrm>
          <a:prstGeom prst="line">
            <a:avLst/>
          </a:prstGeom>
          <a:ln w="8890">
            <a:solidFill>
              <a:srgbClr val="D7DCE1"/>
            </a:solidFill>
          </a:ln>
        </p:spPr>
        <p:style>
          <a:lnRef idx="2">
            <a:schemeClr val="accent1"/>
          </a:lnRef>
          <a:fillRef idx="0">
            <a:schemeClr val="accent1"/>
          </a:fillRef>
          <a:effectRef idx="1">
            <a:schemeClr val="accent1"/>
          </a:effectRef>
          <a:fontRef idx="minor">
            <a:schemeClr val="tx1"/>
          </a:fontRef>
        </p:style>
      </p:cxnSp>
      <p:sp>
        <p:nvSpPr>
          <p:cNvPr id="160" name="TextBox 159"/>
          <p:cNvSpPr txBox="1"/>
          <p:nvPr/>
        </p:nvSpPr>
        <p:spPr>
          <a:xfrm>
            <a:off x="3036609" y="5761717"/>
            <a:ext cx="497626" cy="415498"/>
          </a:xfrm>
          <a:prstGeom prst="rect">
            <a:avLst/>
          </a:prstGeom>
          <a:noFill/>
        </p:spPr>
        <p:txBody>
          <a:bodyPr wrap="square" lIns="22860" tIns="22860" rIns="22860" bIns="22860" anchor="ctr">
            <a:spAutoFit/>
          </a:bodyPr>
          <a:lstStyle/>
          <a:p>
            <a:pPr algn="ctr"/>
            <a:r>
              <a:rPr sz="800" b="1" dirty="0">
                <a:solidFill>
                  <a:srgbClr val="082B54"/>
                </a:solidFill>
                <a:latin typeface="Arial" panose="020B0604020202020204" pitchFamily="34" charset="0"/>
                <a:cs typeface="Arial" panose="020B0604020202020204" pitchFamily="34" charset="0"/>
              </a:rPr>
              <a:t>
</a:t>
            </a:r>
            <a:r>
              <a:rPr lang="en-IN" sz="800" b="1" dirty="0">
                <a:solidFill>
                  <a:srgbClr val="082B54"/>
                </a:solidFill>
                <a:latin typeface="Arial" panose="020B0604020202020204" pitchFamily="34" charset="0"/>
                <a:cs typeface="Arial" panose="020B0604020202020204" pitchFamily="34" charset="0"/>
              </a:rPr>
              <a:t>Resource &amp; test</a:t>
            </a:r>
            <a:endParaRPr sz="800" b="1" dirty="0">
              <a:solidFill>
                <a:srgbClr val="082B54"/>
              </a:solidFill>
              <a:latin typeface="Arial" panose="020B0604020202020204" pitchFamily="34" charset="0"/>
              <a:cs typeface="Arial" panose="020B0604020202020204" pitchFamily="34" charset="0"/>
            </a:endParaRPr>
          </a:p>
        </p:txBody>
      </p:sp>
      <p:cxnSp>
        <p:nvCxnSpPr>
          <p:cNvPr id="161" name="Connector 160"/>
          <p:cNvCxnSpPr>
            <a:cxnSpLocks/>
          </p:cNvCxnSpPr>
          <p:nvPr/>
        </p:nvCxnSpPr>
        <p:spPr>
          <a:xfrm>
            <a:off x="4579620" y="5593080"/>
            <a:ext cx="0" cy="506013"/>
          </a:xfrm>
          <a:prstGeom prst="line">
            <a:avLst/>
          </a:prstGeom>
          <a:ln w="8890">
            <a:solidFill>
              <a:srgbClr val="D7DCE1"/>
            </a:solidFill>
          </a:ln>
        </p:spPr>
        <p:style>
          <a:lnRef idx="2">
            <a:schemeClr val="accent1"/>
          </a:lnRef>
          <a:fillRef idx="0">
            <a:schemeClr val="accent1"/>
          </a:fillRef>
          <a:effectRef idx="1">
            <a:schemeClr val="accent1"/>
          </a:effectRef>
          <a:fontRef idx="minor">
            <a:schemeClr val="tx1"/>
          </a:fontRef>
        </p:style>
      </p:cxnSp>
      <p:sp>
        <p:nvSpPr>
          <p:cNvPr id="163" name="TextBox 162"/>
          <p:cNvSpPr txBox="1"/>
          <p:nvPr/>
        </p:nvSpPr>
        <p:spPr>
          <a:xfrm>
            <a:off x="3810424" y="5925228"/>
            <a:ext cx="700192" cy="169277"/>
          </a:xfrm>
          <a:prstGeom prst="rect">
            <a:avLst/>
          </a:prstGeom>
          <a:noFill/>
        </p:spPr>
        <p:txBody>
          <a:bodyPr wrap="none" lIns="22860" tIns="22860" rIns="22860" bIns="22860" anchor="ctr">
            <a:spAutoFit/>
          </a:bodyPr>
          <a:lstStyle/>
          <a:p>
            <a:pPr algn="ctr"/>
            <a:r>
              <a:rPr sz="800" b="1" dirty="0">
                <a:solidFill>
                  <a:srgbClr val="082B54"/>
                </a:solidFill>
                <a:latin typeface="Arial" panose="020B0604020202020204" pitchFamily="34" charset="0"/>
                <a:cs typeface="Arial" panose="020B0604020202020204" pitchFamily="34" charset="0"/>
              </a:rPr>
              <a:t>Daily Planner</a:t>
            </a:r>
          </a:p>
        </p:txBody>
      </p:sp>
      <p:cxnSp>
        <p:nvCxnSpPr>
          <p:cNvPr id="164" name="Connector 163"/>
          <p:cNvCxnSpPr>
            <a:cxnSpLocks/>
          </p:cNvCxnSpPr>
          <p:nvPr/>
        </p:nvCxnSpPr>
        <p:spPr>
          <a:xfrm>
            <a:off x="5478780" y="5593080"/>
            <a:ext cx="0" cy="524489"/>
          </a:xfrm>
          <a:prstGeom prst="line">
            <a:avLst/>
          </a:prstGeom>
          <a:ln w="8890">
            <a:solidFill>
              <a:srgbClr val="D7DCE1"/>
            </a:solidFill>
          </a:ln>
        </p:spPr>
        <p:style>
          <a:lnRef idx="2">
            <a:schemeClr val="accent1"/>
          </a:lnRef>
          <a:fillRef idx="0">
            <a:schemeClr val="accent1"/>
          </a:fillRef>
          <a:effectRef idx="1">
            <a:schemeClr val="accent1"/>
          </a:effectRef>
          <a:fontRef idx="minor">
            <a:schemeClr val="tx1"/>
          </a:fontRef>
        </p:style>
      </p:cxnSp>
      <p:sp>
        <p:nvSpPr>
          <p:cNvPr id="166" name="TextBox 165"/>
          <p:cNvSpPr txBox="1"/>
          <p:nvPr/>
        </p:nvSpPr>
        <p:spPr>
          <a:xfrm>
            <a:off x="4740837" y="5948292"/>
            <a:ext cx="631263" cy="169277"/>
          </a:xfrm>
          <a:prstGeom prst="rect">
            <a:avLst/>
          </a:prstGeom>
          <a:noFill/>
        </p:spPr>
        <p:txBody>
          <a:bodyPr wrap="none" lIns="22860" tIns="22860" rIns="22860" bIns="22860" anchor="ctr">
            <a:spAutoFit/>
          </a:bodyPr>
          <a:lstStyle/>
          <a:p>
            <a:pPr algn="ctr"/>
            <a:r>
              <a:rPr sz="800" b="1" dirty="0">
                <a:solidFill>
                  <a:srgbClr val="082B54"/>
                </a:solidFill>
                <a:latin typeface="Arial" panose="020B0604020202020204" pitchFamily="34" charset="0"/>
                <a:cs typeface="Arial" panose="020B0604020202020204" pitchFamily="34" charset="0"/>
              </a:rPr>
              <a:t>Streak &amp; XP</a:t>
            </a:r>
          </a:p>
        </p:txBody>
      </p:sp>
      <p:cxnSp>
        <p:nvCxnSpPr>
          <p:cNvPr id="167" name="Connector 166"/>
          <p:cNvCxnSpPr>
            <a:cxnSpLocks/>
          </p:cNvCxnSpPr>
          <p:nvPr/>
        </p:nvCxnSpPr>
        <p:spPr>
          <a:xfrm>
            <a:off x="6377939" y="5593080"/>
            <a:ext cx="0" cy="524489"/>
          </a:xfrm>
          <a:prstGeom prst="line">
            <a:avLst/>
          </a:prstGeom>
          <a:ln w="8890">
            <a:solidFill>
              <a:srgbClr val="D7DCE1"/>
            </a:solidFill>
          </a:ln>
        </p:spPr>
        <p:style>
          <a:lnRef idx="2">
            <a:schemeClr val="accent1"/>
          </a:lnRef>
          <a:fillRef idx="0">
            <a:schemeClr val="accent1"/>
          </a:fillRef>
          <a:effectRef idx="1">
            <a:schemeClr val="accent1"/>
          </a:effectRef>
          <a:fontRef idx="minor">
            <a:schemeClr val="tx1"/>
          </a:fontRef>
        </p:style>
      </p:cxnSp>
      <p:sp>
        <p:nvSpPr>
          <p:cNvPr id="169" name="TextBox 168"/>
          <p:cNvSpPr txBox="1"/>
          <p:nvPr/>
        </p:nvSpPr>
        <p:spPr>
          <a:xfrm>
            <a:off x="5731942" y="5948292"/>
            <a:ext cx="514243" cy="169277"/>
          </a:xfrm>
          <a:prstGeom prst="rect">
            <a:avLst/>
          </a:prstGeom>
          <a:noFill/>
        </p:spPr>
        <p:txBody>
          <a:bodyPr wrap="none" lIns="22860" tIns="22860" rIns="22860" bIns="22860" anchor="ctr">
            <a:spAutoFit/>
          </a:bodyPr>
          <a:lstStyle/>
          <a:p>
            <a:pPr algn="ctr"/>
            <a:r>
              <a:rPr sz="800" b="1" dirty="0">
                <a:solidFill>
                  <a:srgbClr val="082B54"/>
                </a:solidFill>
                <a:latin typeface="Arial" panose="020B0604020202020204" pitchFamily="34" charset="0"/>
                <a:cs typeface="Arial" panose="020B0604020202020204" pitchFamily="34" charset="0"/>
              </a:rPr>
              <a:t>Roadmap</a:t>
            </a:r>
          </a:p>
        </p:txBody>
      </p:sp>
      <p:cxnSp>
        <p:nvCxnSpPr>
          <p:cNvPr id="170" name="Connector 169"/>
          <p:cNvCxnSpPr>
            <a:cxnSpLocks/>
          </p:cNvCxnSpPr>
          <p:nvPr/>
        </p:nvCxnSpPr>
        <p:spPr>
          <a:xfrm>
            <a:off x="7277099" y="5593080"/>
            <a:ext cx="0" cy="486391"/>
          </a:xfrm>
          <a:prstGeom prst="line">
            <a:avLst/>
          </a:prstGeom>
          <a:ln w="8890">
            <a:solidFill>
              <a:srgbClr val="D7DCE1"/>
            </a:solidFill>
          </a:ln>
        </p:spPr>
        <p:style>
          <a:lnRef idx="2">
            <a:schemeClr val="accent1"/>
          </a:lnRef>
          <a:fillRef idx="0">
            <a:schemeClr val="accent1"/>
          </a:fillRef>
          <a:effectRef idx="1">
            <a:schemeClr val="accent1"/>
          </a:effectRef>
          <a:fontRef idx="minor">
            <a:schemeClr val="tx1"/>
          </a:fontRef>
        </p:style>
      </p:cxnSp>
      <p:sp>
        <p:nvSpPr>
          <p:cNvPr id="172" name="TextBox 171"/>
          <p:cNvSpPr txBox="1"/>
          <p:nvPr/>
        </p:nvSpPr>
        <p:spPr>
          <a:xfrm>
            <a:off x="6591300" y="5897766"/>
            <a:ext cx="600805" cy="292388"/>
          </a:xfrm>
          <a:prstGeom prst="rect">
            <a:avLst/>
          </a:prstGeom>
          <a:noFill/>
        </p:spPr>
        <p:txBody>
          <a:bodyPr wrap="none" lIns="22860" tIns="22860" rIns="22860" bIns="22860" anchor="ctr">
            <a:spAutoFit/>
          </a:bodyPr>
          <a:lstStyle/>
          <a:p>
            <a:pPr algn="ctr"/>
            <a:r>
              <a:rPr sz="800" b="1" dirty="0">
                <a:solidFill>
                  <a:srgbClr val="082B54"/>
                </a:solidFill>
                <a:latin typeface="Arial" panose="020B0604020202020204" pitchFamily="34" charset="0"/>
                <a:cs typeface="Arial" panose="020B0604020202020204" pitchFamily="34" charset="0"/>
              </a:rPr>
              <a:t>Jobs &amp;
Internships</a:t>
            </a:r>
          </a:p>
        </p:txBody>
      </p:sp>
      <p:cxnSp>
        <p:nvCxnSpPr>
          <p:cNvPr id="173" name="Connector 172"/>
          <p:cNvCxnSpPr/>
          <p:nvPr/>
        </p:nvCxnSpPr>
        <p:spPr>
          <a:xfrm>
            <a:off x="8176259" y="5593080"/>
            <a:ext cx="0" cy="396240"/>
          </a:xfrm>
          <a:prstGeom prst="line">
            <a:avLst/>
          </a:prstGeom>
          <a:ln w="8890">
            <a:solidFill>
              <a:srgbClr val="D7DCE1"/>
            </a:solidFill>
          </a:ln>
        </p:spPr>
        <p:style>
          <a:lnRef idx="2">
            <a:schemeClr val="accent1"/>
          </a:lnRef>
          <a:fillRef idx="0">
            <a:schemeClr val="accent1"/>
          </a:fillRef>
          <a:effectRef idx="1">
            <a:schemeClr val="accent1"/>
          </a:effectRef>
          <a:fontRef idx="minor">
            <a:schemeClr val="tx1"/>
          </a:fontRef>
        </p:style>
      </p:cxnSp>
      <p:sp>
        <p:nvSpPr>
          <p:cNvPr id="175" name="TextBox 174"/>
          <p:cNvSpPr txBox="1"/>
          <p:nvPr/>
        </p:nvSpPr>
        <p:spPr>
          <a:xfrm>
            <a:off x="7623453" y="5940855"/>
            <a:ext cx="430887" cy="169277"/>
          </a:xfrm>
          <a:prstGeom prst="rect">
            <a:avLst/>
          </a:prstGeom>
          <a:noFill/>
        </p:spPr>
        <p:txBody>
          <a:bodyPr wrap="none" lIns="22860" tIns="22860" rIns="22860" bIns="22860" anchor="ctr">
            <a:spAutoFit/>
          </a:bodyPr>
          <a:lstStyle/>
          <a:p>
            <a:pPr algn="ctr"/>
            <a:r>
              <a:rPr sz="800" b="1" dirty="0">
                <a:solidFill>
                  <a:srgbClr val="082B54"/>
                </a:solidFill>
                <a:latin typeface="Aptos"/>
              </a:rPr>
              <a:t>Resume</a:t>
            </a:r>
          </a:p>
        </p:txBody>
      </p:sp>
      <p:cxnSp>
        <p:nvCxnSpPr>
          <p:cNvPr id="176" name="Connector 175"/>
          <p:cNvCxnSpPr>
            <a:cxnSpLocks/>
          </p:cNvCxnSpPr>
          <p:nvPr/>
        </p:nvCxnSpPr>
        <p:spPr>
          <a:xfrm>
            <a:off x="9075419" y="5593080"/>
            <a:ext cx="8103" cy="501425"/>
          </a:xfrm>
          <a:prstGeom prst="line">
            <a:avLst/>
          </a:prstGeom>
          <a:ln w="8890">
            <a:solidFill>
              <a:srgbClr val="D7DCE1"/>
            </a:solidFill>
          </a:ln>
        </p:spPr>
        <p:style>
          <a:lnRef idx="2">
            <a:schemeClr val="accent1"/>
          </a:lnRef>
          <a:fillRef idx="0">
            <a:schemeClr val="accent1"/>
          </a:fillRef>
          <a:effectRef idx="1">
            <a:schemeClr val="accent1"/>
          </a:effectRef>
          <a:fontRef idx="minor">
            <a:schemeClr val="tx1"/>
          </a:fontRef>
        </p:style>
      </p:cxnSp>
      <p:sp>
        <p:nvSpPr>
          <p:cNvPr id="178" name="TextBox 177"/>
          <p:cNvSpPr txBox="1"/>
          <p:nvPr/>
        </p:nvSpPr>
        <p:spPr>
          <a:xfrm>
            <a:off x="8411629" y="5895283"/>
            <a:ext cx="536685" cy="292388"/>
          </a:xfrm>
          <a:prstGeom prst="rect">
            <a:avLst/>
          </a:prstGeom>
          <a:noFill/>
        </p:spPr>
        <p:txBody>
          <a:bodyPr wrap="none" lIns="22860" tIns="22860" rIns="22860" bIns="22860" anchor="ctr">
            <a:spAutoFit/>
          </a:bodyPr>
          <a:lstStyle/>
          <a:p>
            <a:pPr algn="ctr"/>
            <a:r>
              <a:rPr sz="800" b="1" dirty="0">
                <a:solidFill>
                  <a:srgbClr val="082B54"/>
                </a:solidFill>
                <a:latin typeface="Aptos"/>
              </a:rPr>
              <a:t>Mock
Interviews</a:t>
            </a:r>
          </a:p>
        </p:txBody>
      </p:sp>
      <p:cxnSp>
        <p:nvCxnSpPr>
          <p:cNvPr id="179" name="Connector 178"/>
          <p:cNvCxnSpPr>
            <a:cxnSpLocks/>
          </p:cNvCxnSpPr>
          <p:nvPr/>
        </p:nvCxnSpPr>
        <p:spPr>
          <a:xfrm>
            <a:off x="9974579" y="5593080"/>
            <a:ext cx="40" cy="524489"/>
          </a:xfrm>
          <a:prstGeom prst="line">
            <a:avLst/>
          </a:prstGeom>
          <a:ln w="8890">
            <a:solidFill>
              <a:srgbClr val="D7DCE1"/>
            </a:solidFill>
          </a:ln>
        </p:spPr>
        <p:style>
          <a:lnRef idx="2">
            <a:schemeClr val="accent1"/>
          </a:lnRef>
          <a:fillRef idx="0">
            <a:schemeClr val="accent1"/>
          </a:fillRef>
          <a:effectRef idx="1">
            <a:schemeClr val="accent1"/>
          </a:effectRef>
          <a:fontRef idx="minor">
            <a:schemeClr val="tx1"/>
          </a:fontRef>
        </p:style>
      </p:cxnSp>
      <p:sp>
        <p:nvSpPr>
          <p:cNvPr id="181" name="TextBox 180"/>
          <p:cNvSpPr txBox="1"/>
          <p:nvPr/>
        </p:nvSpPr>
        <p:spPr>
          <a:xfrm>
            <a:off x="9330690" y="5884827"/>
            <a:ext cx="496611" cy="292388"/>
          </a:xfrm>
          <a:prstGeom prst="rect">
            <a:avLst/>
          </a:prstGeom>
          <a:noFill/>
        </p:spPr>
        <p:txBody>
          <a:bodyPr wrap="none" lIns="22860" tIns="22860" rIns="22860" bIns="22860" anchor="ctr">
            <a:spAutoFit/>
          </a:bodyPr>
          <a:lstStyle/>
          <a:p>
            <a:pPr algn="ctr"/>
            <a:r>
              <a:rPr sz="800" b="1" dirty="0">
                <a:solidFill>
                  <a:srgbClr val="082B54"/>
                </a:solidFill>
                <a:latin typeface="Aptos"/>
              </a:rPr>
              <a:t>Career
Guidance</a:t>
            </a:r>
          </a:p>
        </p:txBody>
      </p:sp>
      <p:cxnSp>
        <p:nvCxnSpPr>
          <p:cNvPr id="182" name="Connector 181"/>
          <p:cNvCxnSpPr>
            <a:cxnSpLocks/>
          </p:cNvCxnSpPr>
          <p:nvPr/>
        </p:nvCxnSpPr>
        <p:spPr>
          <a:xfrm>
            <a:off x="10873739" y="5593080"/>
            <a:ext cx="0" cy="524489"/>
          </a:xfrm>
          <a:prstGeom prst="line">
            <a:avLst/>
          </a:prstGeom>
          <a:ln w="8890">
            <a:solidFill>
              <a:srgbClr val="D7DCE1"/>
            </a:solidFill>
          </a:ln>
        </p:spPr>
        <p:style>
          <a:lnRef idx="2">
            <a:schemeClr val="accent1"/>
          </a:lnRef>
          <a:fillRef idx="0">
            <a:schemeClr val="accent1"/>
          </a:fillRef>
          <a:effectRef idx="1">
            <a:schemeClr val="accent1"/>
          </a:effectRef>
          <a:fontRef idx="minor">
            <a:schemeClr val="tx1"/>
          </a:fontRef>
        </p:style>
      </p:cxnSp>
      <p:sp>
        <p:nvSpPr>
          <p:cNvPr id="184" name="TextBox 183"/>
          <p:cNvSpPr txBox="1"/>
          <p:nvPr/>
        </p:nvSpPr>
        <p:spPr>
          <a:xfrm>
            <a:off x="10173784" y="5989320"/>
            <a:ext cx="543098" cy="169277"/>
          </a:xfrm>
          <a:prstGeom prst="rect">
            <a:avLst/>
          </a:prstGeom>
          <a:noFill/>
        </p:spPr>
        <p:txBody>
          <a:bodyPr wrap="none" lIns="22860" tIns="22860" rIns="22860" bIns="22860" anchor="ctr">
            <a:spAutoFit/>
          </a:bodyPr>
          <a:lstStyle/>
          <a:p>
            <a:pPr algn="ctr"/>
            <a:r>
              <a:rPr sz="800" b="1" dirty="0">
                <a:solidFill>
                  <a:srgbClr val="082B54"/>
                </a:solidFill>
                <a:latin typeface="Aptos"/>
              </a:rPr>
              <a:t>AI Chatbot</a:t>
            </a:r>
          </a:p>
        </p:txBody>
      </p:sp>
      <p:cxnSp>
        <p:nvCxnSpPr>
          <p:cNvPr id="185" name="Connector 184"/>
          <p:cNvCxnSpPr>
            <a:cxnSpLocks/>
          </p:cNvCxnSpPr>
          <p:nvPr/>
        </p:nvCxnSpPr>
        <p:spPr>
          <a:xfrm>
            <a:off x="11772899" y="5593080"/>
            <a:ext cx="0" cy="524489"/>
          </a:xfrm>
          <a:prstGeom prst="line">
            <a:avLst/>
          </a:prstGeom>
          <a:ln w="8890">
            <a:solidFill>
              <a:srgbClr val="D7DCE1"/>
            </a:solidFill>
          </a:ln>
        </p:spPr>
        <p:style>
          <a:lnRef idx="2">
            <a:schemeClr val="accent1"/>
          </a:lnRef>
          <a:fillRef idx="0">
            <a:schemeClr val="accent1"/>
          </a:fillRef>
          <a:effectRef idx="1">
            <a:schemeClr val="accent1"/>
          </a:effectRef>
          <a:fontRef idx="minor">
            <a:schemeClr val="tx1"/>
          </a:fontRef>
        </p:style>
      </p:cxnSp>
      <p:sp>
        <p:nvSpPr>
          <p:cNvPr id="187" name="TextBox 186"/>
          <p:cNvSpPr txBox="1"/>
          <p:nvPr/>
        </p:nvSpPr>
        <p:spPr>
          <a:xfrm>
            <a:off x="11087675" y="5884827"/>
            <a:ext cx="570349" cy="292388"/>
          </a:xfrm>
          <a:prstGeom prst="rect">
            <a:avLst/>
          </a:prstGeom>
          <a:noFill/>
        </p:spPr>
        <p:txBody>
          <a:bodyPr wrap="none" lIns="22860" tIns="22860" rIns="22860" bIns="22860" anchor="ctr">
            <a:spAutoFit/>
          </a:bodyPr>
          <a:lstStyle/>
          <a:p>
            <a:pPr algn="ctr"/>
            <a:r>
              <a:rPr sz="800" b="1" dirty="0">
                <a:solidFill>
                  <a:srgbClr val="082B54"/>
                </a:solidFill>
                <a:latin typeface="Aptos"/>
              </a:rPr>
              <a:t>Analytics &amp;
Reports</a:t>
            </a:r>
          </a:p>
        </p:txBody>
      </p:sp>
      <p:sp>
        <p:nvSpPr>
          <p:cNvPr id="188" name="Rectangle 187"/>
          <p:cNvSpPr/>
          <p:nvPr/>
        </p:nvSpPr>
        <p:spPr>
          <a:xfrm>
            <a:off x="26670" y="6281630"/>
            <a:ext cx="9105900" cy="571500"/>
          </a:xfrm>
          <a:prstGeom prst="rect">
            <a:avLst/>
          </a:prstGeom>
          <a:solidFill>
            <a:srgbClr val="082B54"/>
          </a:solidFill>
          <a:ln>
            <a:solidFill>
              <a:srgbClr val="FEFE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dirty="0"/>
          </a:p>
        </p:txBody>
      </p:sp>
      <p:sp>
        <p:nvSpPr>
          <p:cNvPr id="189" name="Parallelogram 188"/>
          <p:cNvSpPr/>
          <p:nvPr/>
        </p:nvSpPr>
        <p:spPr>
          <a:xfrm>
            <a:off x="8948314" y="6324617"/>
            <a:ext cx="3390900" cy="571500"/>
          </a:xfrm>
          <a:prstGeom prst="parallelogram">
            <a:avLst/>
          </a:prstGeom>
          <a:solidFill>
            <a:srgbClr val="E8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dirty="0"/>
          </a:p>
        </p:txBody>
      </p:sp>
      <p:sp>
        <p:nvSpPr>
          <p:cNvPr id="191" name="TextBox 190"/>
          <p:cNvSpPr txBox="1"/>
          <p:nvPr/>
        </p:nvSpPr>
        <p:spPr>
          <a:xfrm>
            <a:off x="1008368" y="6431071"/>
            <a:ext cx="429285" cy="168059"/>
          </a:xfrm>
          <a:prstGeom prst="rect">
            <a:avLst/>
          </a:prstGeom>
          <a:noFill/>
        </p:spPr>
        <p:txBody>
          <a:bodyPr wrap="none" lIns="22860" tIns="22860" rIns="22860" bIns="22860" anchor="ctr">
            <a:spAutoFit/>
          </a:bodyPr>
          <a:lstStyle/>
          <a:p>
            <a:pPr algn="ctr"/>
            <a:r>
              <a:rPr sz="792" b="1">
                <a:solidFill>
                  <a:srgbClr val="FFFFFF"/>
                </a:solidFill>
                <a:latin typeface="Aptos"/>
              </a:rPr>
              <a:t>SECURE</a:t>
            </a:r>
          </a:p>
        </p:txBody>
      </p:sp>
      <p:cxnSp>
        <p:nvCxnSpPr>
          <p:cNvPr id="192" name="Connector 191"/>
          <p:cNvCxnSpPr/>
          <p:nvPr/>
        </p:nvCxnSpPr>
        <p:spPr>
          <a:xfrm>
            <a:off x="1866900" y="6377940"/>
            <a:ext cx="0" cy="350521"/>
          </a:xfrm>
          <a:prstGeom prst="line">
            <a:avLst/>
          </a:prstGeom>
          <a:ln w="10160">
            <a:solidFill>
              <a:srgbClr val="FFFFFF"/>
            </a:solidFill>
          </a:ln>
        </p:spPr>
        <p:style>
          <a:lnRef idx="2">
            <a:schemeClr val="accent1"/>
          </a:lnRef>
          <a:fillRef idx="0">
            <a:schemeClr val="accent1"/>
          </a:fillRef>
          <a:effectRef idx="1">
            <a:schemeClr val="accent1"/>
          </a:effectRef>
          <a:fontRef idx="minor">
            <a:schemeClr val="tx1"/>
          </a:fontRef>
        </p:style>
      </p:cxnSp>
      <p:sp>
        <p:nvSpPr>
          <p:cNvPr id="194" name="TextBox 193"/>
          <p:cNvSpPr txBox="1"/>
          <p:nvPr/>
        </p:nvSpPr>
        <p:spPr>
          <a:xfrm>
            <a:off x="2751021" y="6431071"/>
            <a:ext cx="527067" cy="168059"/>
          </a:xfrm>
          <a:prstGeom prst="rect">
            <a:avLst/>
          </a:prstGeom>
          <a:noFill/>
        </p:spPr>
        <p:txBody>
          <a:bodyPr wrap="none" lIns="22860" tIns="22860" rIns="22860" bIns="22860" anchor="ctr">
            <a:spAutoFit/>
          </a:bodyPr>
          <a:lstStyle/>
          <a:p>
            <a:pPr algn="ctr"/>
            <a:r>
              <a:rPr sz="792" b="1" dirty="0">
                <a:solidFill>
                  <a:srgbClr val="FFFFFF"/>
                </a:solidFill>
                <a:latin typeface="Aptos"/>
              </a:rPr>
              <a:t>SCALABLE</a:t>
            </a:r>
          </a:p>
        </p:txBody>
      </p:sp>
      <p:cxnSp>
        <p:nvCxnSpPr>
          <p:cNvPr id="195" name="Connector 194"/>
          <p:cNvCxnSpPr/>
          <p:nvPr/>
        </p:nvCxnSpPr>
        <p:spPr>
          <a:xfrm>
            <a:off x="3810000" y="6377940"/>
            <a:ext cx="0" cy="350521"/>
          </a:xfrm>
          <a:prstGeom prst="line">
            <a:avLst/>
          </a:prstGeom>
          <a:ln w="10160">
            <a:solidFill>
              <a:srgbClr val="FFFFFF"/>
            </a:solidFill>
          </a:ln>
        </p:spPr>
        <p:style>
          <a:lnRef idx="2">
            <a:schemeClr val="accent1"/>
          </a:lnRef>
          <a:fillRef idx="0">
            <a:schemeClr val="accent1"/>
          </a:fillRef>
          <a:effectRef idx="1">
            <a:schemeClr val="accent1"/>
          </a:effectRef>
          <a:fontRef idx="minor">
            <a:schemeClr val="tx1"/>
          </a:fontRef>
        </p:style>
      </p:cxnSp>
      <p:sp>
        <p:nvSpPr>
          <p:cNvPr id="197" name="TextBox 196"/>
          <p:cNvSpPr txBox="1"/>
          <p:nvPr/>
        </p:nvSpPr>
        <p:spPr>
          <a:xfrm>
            <a:off x="4785563" y="6431071"/>
            <a:ext cx="647293" cy="168059"/>
          </a:xfrm>
          <a:prstGeom prst="rect">
            <a:avLst/>
          </a:prstGeom>
          <a:noFill/>
        </p:spPr>
        <p:txBody>
          <a:bodyPr wrap="none" lIns="22860" tIns="22860" rIns="22860" bIns="22860" anchor="ctr">
            <a:spAutoFit/>
          </a:bodyPr>
          <a:lstStyle/>
          <a:p>
            <a:pPr algn="ctr"/>
            <a:r>
              <a:rPr sz="792" b="1">
                <a:solidFill>
                  <a:srgbClr val="FFFFFF"/>
                </a:solidFill>
                <a:latin typeface="Aptos"/>
              </a:rPr>
              <a:t>INTELLIGENT</a:t>
            </a:r>
          </a:p>
        </p:txBody>
      </p:sp>
      <p:cxnSp>
        <p:nvCxnSpPr>
          <p:cNvPr id="198" name="Connector 197"/>
          <p:cNvCxnSpPr/>
          <p:nvPr/>
        </p:nvCxnSpPr>
        <p:spPr>
          <a:xfrm>
            <a:off x="5753099" y="6377940"/>
            <a:ext cx="0" cy="350521"/>
          </a:xfrm>
          <a:prstGeom prst="line">
            <a:avLst/>
          </a:prstGeom>
          <a:ln w="10160">
            <a:solidFill>
              <a:srgbClr val="FFFFFF"/>
            </a:solidFill>
          </a:ln>
        </p:spPr>
        <p:style>
          <a:lnRef idx="2">
            <a:schemeClr val="accent1"/>
          </a:lnRef>
          <a:fillRef idx="0">
            <a:schemeClr val="accent1"/>
          </a:fillRef>
          <a:effectRef idx="1">
            <a:schemeClr val="accent1"/>
          </a:effectRef>
          <a:fontRef idx="minor">
            <a:schemeClr val="tx1"/>
          </a:fontRef>
        </p:style>
      </p:cxnSp>
      <p:sp>
        <p:nvSpPr>
          <p:cNvPr id="200" name="TextBox 199"/>
          <p:cNvSpPr txBox="1"/>
          <p:nvPr/>
        </p:nvSpPr>
        <p:spPr>
          <a:xfrm>
            <a:off x="6760724" y="6431071"/>
            <a:ext cx="583173" cy="168059"/>
          </a:xfrm>
          <a:prstGeom prst="rect">
            <a:avLst/>
          </a:prstGeom>
          <a:noFill/>
        </p:spPr>
        <p:txBody>
          <a:bodyPr wrap="none" lIns="22860" tIns="22860" rIns="22860" bIns="22860" anchor="ctr">
            <a:spAutoFit/>
          </a:bodyPr>
          <a:lstStyle/>
          <a:p>
            <a:pPr algn="ctr"/>
            <a:r>
              <a:rPr sz="792" b="1">
                <a:solidFill>
                  <a:srgbClr val="FFFFFF"/>
                </a:solidFill>
                <a:latin typeface="Aptos"/>
              </a:rPr>
              <a:t>IMPACTFUL</a:t>
            </a:r>
          </a:p>
        </p:txBody>
      </p:sp>
      <p:sp>
        <p:nvSpPr>
          <p:cNvPr id="201" name="TextBox 200"/>
          <p:cNvSpPr txBox="1"/>
          <p:nvPr/>
        </p:nvSpPr>
        <p:spPr>
          <a:xfrm>
            <a:off x="9974619" y="6415845"/>
            <a:ext cx="1272464" cy="289951"/>
          </a:xfrm>
          <a:prstGeom prst="rect">
            <a:avLst/>
          </a:prstGeom>
          <a:noFill/>
        </p:spPr>
        <p:txBody>
          <a:bodyPr wrap="none" lIns="22860" tIns="22860" rIns="22860" bIns="22860" anchor="ctr">
            <a:spAutoFit/>
          </a:bodyPr>
          <a:lstStyle/>
          <a:p>
            <a:pPr algn="ctr"/>
            <a:r>
              <a:rPr sz="792" i="1">
                <a:solidFill>
                  <a:srgbClr val="082B54"/>
                </a:solidFill>
                <a:latin typeface="Aptos"/>
              </a:rPr>
              <a:t>Building Future-Ready Skills
for a Stronger Tomorrow</a:t>
            </a:r>
          </a:p>
        </p:txBody>
      </p:sp>
      <p:sp>
        <p:nvSpPr>
          <p:cNvPr id="202" name="TextBox 201"/>
          <p:cNvSpPr txBox="1"/>
          <p:nvPr/>
        </p:nvSpPr>
        <p:spPr>
          <a:xfrm>
            <a:off x="152400" y="6823413"/>
            <a:ext cx="592791" cy="61555"/>
          </a:xfrm>
          <a:prstGeom prst="rect">
            <a:avLst/>
          </a:prstGeom>
          <a:noFill/>
        </p:spPr>
        <p:txBody>
          <a:bodyPr wrap="none" lIns="22860" tIns="22860" rIns="22860" bIns="22860" anchor="ctr">
            <a:spAutoFit/>
          </a:bodyPr>
          <a:lstStyle/>
          <a:p>
            <a:pPr algn="l"/>
            <a:r>
              <a:rPr sz="100">
                <a:solidFill>
                  <a:srgbClr val="FFFFFF"/>
                </a:solidFill>
                <a:latin typeface="Aptos"/>
              </a:rPr>
              <a:t>Editable PowerPoint template — text, boxes, lines, colors and layout elements are separate objects.</a:t>
            </a:r>
          </a:p>
        </p:txBody>
      </p:sp>
      <p:grpSp>
        <p:nvGrpSpPr>
          <p:cNvPr id="240" name="Group 239">
            <a:extLst>
              <a:ext uri="{FF2B5EF4-FFF2-40B4-BE49-F238E27FC236}">
                <a16:creationId xmlns:a16="http://schemas.microsoft.com/office/drawing/2014/main" id="{66B08184-29A5-F287-1F1B-57C333FCDE25}"/>
              </a:ext>
            </a:extLst>
          </p:cNvPr>
          <p:cNvGrpSpPr/>
          <p:nvPr/>
        </p:nvGrpSpPr>
        <p:grpSpPr>
          <a:xfrm>
            <a:off x="1793765" y="1377753"/>
            <a:ext cx="741233" cy="644019"/>
            <a:chOff x="1447800" y="1632159"/>
            <a:chExt cx="579455" cy="524301"/>
          </a:xfrm>
        </p:grpSpPr>
        <p:sp>
          <p:nvSpPr>
            <p:cNvPr id="27" name="Oval 26"/>
            <p:cNvSpPr/>
            <p:nvPr/>
          </p:nvSpPr>
          <p:spPr>
            <a:xfrm>
              <a:off x="1447800" y="1866900"/>
              <a:ext cx="289560" cy="289560"/>
            </a:xfrm>
            <a:prstGeom prst="ellipse">
              <a:avLst/>
            </a:prstGeom>
            <a:solidFill>
              <a:srgbClr val="3E914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28" name="TextBox 27"/>
            <p:cNvSpPr txBox="1"/>
            <p:nvPr/>
          </p:nvSpPr>
          <p:spPr>
            <a:xfrm>
              <a:off x="1504973" y="1921250"/>
              <a:ext cx="163911" cy="187922"/>
            </a:xfrm>
            <a:prstGeom prst="rect">
              <a:avLst/>
            </a:prstGeom>
            <a:noFill/>
          </p:spPr>
          <p:txBody>
            <a:bodyPr wrap="none" lIns="22860" tIns="22860" rIns="22860" bIns="22860" anchor="ctr">
              <a:spAutoFit/>
            </a:bodyPr>
            <a:lstStyle/>
            <a:p>
              <a:pPr algn="ctr"/>
              <a:r>
                <a:rPr sz="1200" b="1" dirty="0">
                  <a:solidFill>
                    <a:srgbClr val="FFFFFF"/>
                  </a:solidFill>
                  <a:latin typeface="Aptos"/>
                </a:rPr>
                <a:t>02</a:t>
              </a:r>
            </a:p>
          </p:txBody>
        </p:sp>
        <p:pic>
          <p:nvPicPr>
            <p:cNvPr id="280" name="Graphic 279">
              <a:extLst>
                <a:ext uri="{FF2B5EF4-FFF2-40B4-BE49-F238E27FC236}">
                  <a16:creationId xmlns:a16="http://schemas.microsoft.com/office/drawing/2014/main" id="{AA80FAA9-F177-307E-2E94-CC9008F18B9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32732" y="1632159"/>
              <a:ext cx="394523" cy="394523"/>
            </a:xfrm>
            <a:prstGeom prst="rect">
              <a:avLst/>
            </a:prstGeom>
          </p:spPr>
        </p:pic>
      </p:grpSp>
      <p:pic>
        <p:nvPicPr>
          <p:cNvPr id="284" name="Graphic 283">
            <a:extLst>
              <a:ext uri="{FF2B5EF4-FFF2-40B4-BE49-F238E27FC236}">
                <a16:creationId xmlns:a16="http://schemas.microsoft.com/office/drawing/2014/main" id="{3B63C316-24DD-992F-502F-9DCEF8B1F0B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434966" y="1544223"/>
            <a:ext cx="534922" cy="534922"/>
          </a:xfrm>
          <a:prstGeom prst="rect">
            <a:avLst/>
          </a:prstGeom>
        </p:spPr>
      </p:pic>
      <p:pic>
        <p:nvPicPr>
          <p:cNvPr id="286" name="Graphic 285">
            <a:extLst>
              <a:ext uri="{FF2B5EF4-FFF2-40B4-BE49-F238E27FC236}">
                <a16:creationId xmlns:a16="http://schemas.microsoft.com/office/drawing/2014/main" id="{633CAD02-03E9-6BD3-DF0C-20DE14085E7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310565" y="5569628"/>
            <a:ext cx="430054" cy="430054"/>
          </a:xfrm>
          <a:prstGeom prst="rect">
            <a:avLst/>
          </a:prstGeom>
        </p:spPr>
      </p:pic>
      <p:pic>
        <p:nvPicPr>
          <p:cNvPr id="290" name="Graphic 289">
            <a:extLst>
              <a:ext uri="{FF2B5EF4-FFF2-40B4-BE49-F238E27FC236}">
                <a16:creationId xmlns:a16="http://schemas.microsoft.com/office/drawing/2014/main" id="{7AF99467-E0B1-F50C-CBF3-D8846E43F0A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175858" y="3812876"/>
            <a:ext cx="400113" cy="400113"/>
          </a:xfrm>
          <a:prstGeom prst="rect">
            <a:avLst/>
          </a:prstGeom>
        </p:spPr>
      </p:pic>
      <p:grpSp>
        <p:nvGrpSpPr>
          <p:cNvPr id="274" name="Group 273">
            <a:extLst>
              <a:ext uri="{FF2B5EF4-FFF2-40B4-BE49-F238E27FC236}">
                <a16:creationId xmlns:a16="http://schemas.microsoft.com/office/drawing/2014/main" id="{8E4A54DC-0AF4-0D93-D93B-E22BC7B21036}"/>
              </a:ext>
            </a:extLst>
          </p:cNvPr>
          <p:cNvGrpSpPr/>
          <p:nvPr/>
        </p:nvGrpSpPr>
        <p:grpSpPr>
          <a:xfrm>
            <a:off x="10581247" y="3233857"/>
            <a:ext cx="710488" cy="622922"/>
            <a:chOff x="10872457" y="3466252"/>
            <a:chExt cx="731520" cy="594360"/>
          </a:xfrm>
        </p:grpSpPr>
        <p:sp>
          <p:nvSpPr>
            <p:cNvPr id="100" name="Rounded Rectangle 99"/>
            <p:cNvSpPr/>
            <p:nvPr/>
          </p:nvSpPr>
          <p:spPr>
            <a:xfrm>
              <a:off x="10872457" y="3466252"/>
              <a:ext cx="731520" cy="594360"/>
            </a:xfrm>
            <a:prstGeom prst="roundRect">
              <a:avLst/>
            </a:prstGeom>
            <a:solidFill>
              <a:srgbClr val="FFFFFF"/>
            </a:solidFill>
            <a:ln w="12700">
              <a:solidFill>
                <a:srgbClr val="3E91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dirty="0"/>
            </a:p>
          </p:txBody>
        </p:sp>
        <p:sp>
          <p:nvSpPr>
            <p:cNvPr id="102" name="TextBox 101"/>
            <p:cNvSpPr txBox="1"/>
            <p:nvPr/>
          </p:nvSpPr>
          <p:spPr>
            <a:xfrm>
              <a:off x="10964420" y="3768224"/>
              <a:ext cx="570349" cy="292388"/>
            </a:xfrm>
            <a:prstGeom prst="rect">
              <a:avLst/>
            </a:prstGeom>
            <a:noFill/>
          </p:spPr>
          <p:txBody>
            <a:bodyPr wrap="none" lIns="22860" tIns="22860" rIns="22860" bIns="22860" anchor="ctr">
              <a:spAutoFit/>
            </a:bodyPr>
            <a:lstStyle/>
            <a:p>
              <a:pPr algn="ctr"/>
              <a:r>
                <a:rPr sz="800" b="1" dirty="0">
                  <a:solidFill>
                    <a:srgbClr val="082B54"/>
                  </a:solidFill>
                  <a:latin typeface="Aptos"/>
                </a:rPr>
                <a:t>Analytics &amp;
Reporting</a:t>
              </a:r>
            </a:p>
          </p:txBody>
        </p:sp>
        <p:pic>
          <p:nvPicPr>
            <p:cNvPr id="292" name="Graphic 291">
              <a:extLst>
                <a:ext uri="{FF2B5EF4-FFF2-40B4-BE49-F238E27FC236}">
                  <a16:creationId xmlns:a16="http://schemas.microsoft.com/office/drawing/2014/main" id="{B970F65D-63A0-B7B0-29BB-F690CD9E15E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1086469" y="3471327"/>
              <a:ext cx="326245" cy="326245"/>
            </a:xfrm>
            <a:prstGeom prst="rect">
              <a:avLst/>
            </a:prstGeom>
          </p:spPr>
        </p:pic>
      </p:grpSp>
      <p:pic>
        <p:nvPicPr>
          <p:cNvPr id="294" name="Graphic 293">
            <a:extLst>
              <a:ext uri="{FF2B5EF4-FFF2-40B4-BE49-F238E27FC236}">
                <a16:creationId xmlns:a16="http://schemas.microsoft.com/office/drawing/2014/main" id="{0CB469F0-C6D3-021D-4669-565550D82F13}"/>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11607" y="3831662"/>
            <a:ext cx="355949" cy="355949"/>
          </a:xfrm>
          <a:prstGeom prst="rect">
            <a:avLst/>
          </a:prstGeom>
        </p:spPr>
      </p:pic>
      <p:pic>
        <p:nvPicPr>
          <p:cNvPr id="296" name="Graphic 295">
            <a:extLst>
              <a:ext uri="{FF2B5EF4-FFF2-40B4-BE49-F238E27FC236}">
                <a16:creationId xmlns:a16="http://schemas.microsoft.com/office/drawing/2014/main" id="{46EC10A7-D483-FBD3-160A-E47070D686B7}"/>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919792" y="3841286"/>
            <a:ext cx="327597" cy="327597"/>
          </a:xfrm>
          <a:prstGeom prst="rect">
            <a:avLst/>
          </a:prstGeom>
        </p:spPr>
      </p:pic>
      <p:pic>
        <p:nvPicPr>
          <p:cNvPr id="298" name="Graphic 297">
            <a:extLst>
              <a:ext uri="{FF2B5EF4-FFF2-40B4-BE49-F238E27FC236}">
                <a16:creationId xmlns:a16="http://schemas.microsoft.com/office/drawing/2014/main" id="{9227C18E-2DC3-5944-CDF5-C4081C6CA012}"/>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452734" y="3774085"/>
            <a:ext cx="378753" cy="378753"/>
          </a:xfrm>
          <a:prstGeom prst="rect">
            <a:avLst/>
          </a:prstGeom>
        </p:spPr>
      </p:pic>
      <p:pic>
        <p:nvPicPr>
          <p:cNvPr id="300" name="Graphic 299">
            <a:extLst>
              <a:ext uri="{FF2B5EF4-FFF2-40B4-BE49-F238E27FC236}">
                <a16:creationId xmlns:a16="http://schemas.microsoft.com/office/drawing/2014/main" id="{98C984CA-47A1-33CF-0FBC-23DF794BEA49}"/>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5613511" y="3850898"/>
            <a:ext cx="315785" cy="315785"/>
          </a:xfrm>
          <a:prstGeom prst="rect">
            <a:avLst/>
          </a:prstGeom>
        </p:spPr>
      </p:pic>
      <p:pic>
        <p:nvPicPr>
          <p:cNvPr id="302" name="Graphic 301">
            <a:extLst>
              <a:ext uri="{FF2B5EF4-FFF2-40B4-BE49-F238E27FC236}">
                <a16:creationId xmlns:a16="http://schemas.microsoft.com/office/drawing/2014/main" id="{B6F780EA-6808-6BBF-F198-E5A8D350E5F8}"/>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831719" y="3819630"/>
            <a:ext cx="282411" cy="282411"/>
          </a:xfrm>
          <a:prstGeom prst="rect">
            <a:avLst/>
          </a:prstGeom>
        </p:spPr>
      </p:pic>
      <p:pic>
        <p:nvPicPr>
          <p:cNvPr id="304" name="Graphic 303">
            <a:extLst>
              <a:ext uri="{FF2B5EF4-FFF2-40B4-BE49-F238E27FC236}">
                <a16:creationId xmlns:a16="http://schemas.microsoft.com/office/drawing/2014/main" id="{3397B8EC-F8F8-6661-FA5C-F81E8787BD40}"/>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9376951" y="5551711"/>
            <a:ext cx="372297" cy="372297"/>
          </a:xfrm>
          <a:prstGeom prst="rect">
            <a:avLst/>
          </a:prstGeom>
        </p:spPr>
      </p:pic>
      <p:pic>
        <p:nvPicPr>
          <p:cNvPr id="308" name="Graphic 307">
            <a:extLst>
              <a:ext uri="{FF2B5EF4-FFF2-40B4-BE49-F238E27FC236}">
                <a16:creationId xmlns:a16="http://schemas.microsoft.com/office/drawing/2014/main" id="{920660C1-8DF8-C734-FD9B-AAFB0CD19206}"/>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8426644" y="4779863"/>
            <a:ext cx="466061" cy="466061"/>
          </a:xfrm>
          <a:prstGeom prst="rect">
            <a:avLst/>
          </a:prstGeom>
        </p:spPr>
      </p:pic>
      <p:pic>
        <p:nvPicPr>
          <p:cNvPr id="310" name="Graphic 309">
            <a:extLst>
              <a:ext uri="{FF2B5EF4-FFF2-40B4-BE49-F238E27FC236}">
                <a16:creationId xmlns:a16="http://schemas.microsoft.com/office/drawing/2014/main" id="{E1EDF171-74E9-B4F9-6C71-D3D194A1583E}"/>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3946326" y="5540578"/>
            <a:ext cx="425044" cy="425044"/>
          </a:xfrm>
          <a:prstGeom prst="rect">
            <a:avLst/>
          </a:prstGeom>
        </p:spPr>
      </p:pic>
      <p:pic>
        <p:nvPicPr>
          <p:cNvPr id="320" name="Graphic 319">
            <a:extLst>
              <a:ext uri="{FF2B5EF4-FFF2-40B4-BE49-F238E27FC236}">
                <a16:creationId xmlns:a16="http://schemas.microsoft.com/office/drawing/2014/main" id="{E467465E-0F60-1273-21B5-CCDFF34891CF}"/>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10899541" y="1453414"/>
            <a:ext cx="535406" cy="535406"/>
          </a:xfrm>
          <a:prstGeom prst="rect">
            <a:avLst/>
          </a:prstGeom>
        </p:spPr>
      </p:pic>
      <p:pic>
        <p:nvPicPr>
          <p:cNvPr id="322" name="Graphic 321">
            <a:extLst>
              <a:ext uri="{FF2B5EF4-FFF2-40B4-BE49-F238E27FC236}">
                <a16:creationId xmlns:a16="http://schemas.microsoft.com/office/drawing/2014/main" id="{1B478096-EDF7-5B7F-DDE9-0A9BFD92BF23}"/>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9664794" y="1503623"/>
            <a:ext cx="609600" cy="609600"/>
          </a:xfrm>
          <a:prstGeom prst="rect">
            <a:avLst/>
          </a:prstGeom>
        </p:spPr>
      </p:pic>
      <p:pic>
        <p:nvPicPr>
          <p:cNvPr id="326" name="Graphic 325">
            <a:extLst>
              <a:ext uri="{FF2B5EF4-FFF2-40B4-BE49-F238E27FC236}">
                <a16:creationId xmlns:a16="http://schemas.microsoft.com/office/drawing/2014/main" id="{8BB2458E-38B3-9B88-BF28-CE80E84DBBD6}"/>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6687962" y="5554815"/>
            <a:ext cx="399249" cy="399249"/>
          </a:xfrm>
          <a:prstGeom prst="rect">
            <a:avLst/>
          </a:prstGeom>
        </p:spPr>
      </p:pic>
      <p:grpSp>
        <p:nvGrpSpPr>
          <p:cNvPr id="239" name="Group 238">
            <a:extLst>
              <a:ext uri="{FF2B5EF4-FFF2-40B4-BE49-F238E27FC236}">
                <a16:creationId xmlns:a16="http://schemas.microsoft.com/office/drawing/2014/main" id="{F5078505-9D75-CE57-7CCD-C9FC46E1C442}"/>
              </a:ext>
            </a:extLst>
          </p:cNvPr>
          <p:cNvGrpSpPr/>
          <p:nvPr/>
        </p:nvGrpSpPr>
        <p:grpSpPr>
          <a:xfrm>
            <a:off x="3083788" y="1308866"/>
            <a:ext cx="770276" cy="719732"/>
            <a:chOff x="2659380" y="1579923"/>
            <a:chExt cx="629441" cy="576537"/>
          </a:xfrm>
        </p:grpSpPr>
        <p:sp>
          <p:nvSpPr>
            <p:cNvPr id="35" name="Oval 34"/>
            <p:cNvSpPr/>
            <p:nvPr/>
          </p:nvSpPr>
          <p:spPr>
            <a:xfrm>
              <a:off x="2818442" y="1579923"/>
              <a:ext cx="470379" cy="434894"/>
            </a:xfrm>
            <a:prstGeom prst="ellipse">
              <a:avLst/>
            </a:prstGeom>
            <a:solidFill>
              <a:srgbClr val="6F46A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37" name="Oval 36"/>
            <p:cNvSpPr/>
            <p:nvPr/>
          </p:nvSpPr>
          <p:spPr>
            <a:xfrm>
              <a:off x="2659380" y="1866900"/>
              <a:ext cx="289560" cy="289560"/>
            </a:xfrm>
            <a:prstGeom prst="ellipse">
              <a:avLst/>
            </a:prstGeom>
            <a:solidFill>
              <a:srgbClr val="6F46A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38" name="TextBox 37"/>
            <p:cNvSpPr txBox="1"/>
            <p:nvPr/>
          </p:nvSpPr>
          <p:spPr>
            <a:xfrm>
              <a:off x="2718492" y="1924326"/>
              <a:ext cx="171338" cy="184907"/>
            </a:xfrm>
            <a:prstGeom prst="rect">
              <a:avLst/>
            </a:prstGeom>
            <a:noFill/>
          </p:spPr>
          <p:txBody>
            <a:bodyPr wrap="none" lIns="22860" tIns="22860" rIns="22860" bIns="22860" anchor="ctr">
              <a:spAutoFit/>
            </a:bodyPr>
            <a:lstStyle/>
            <a:p>
              <a:pPr algn="ctr"/>
              <a:r>
                <a:rPr sz="1200" b="1" dirty="0">
                  <a:solidFill>
                    <a:srgbClr val="FFFFFF"/>
                  </a:solidFill>
                  <a:latin typeface="Aptos"/>
                </a:rPr>
                <a:t>03</a:t>
              </a:r>
            </a:p>
          </p:txBody>
        </p:sp>
        <p:pic>
          <p:nvPicPr>
            <p:cNvPr id="21" name="Graphic 20">
              <a:extLst>
                <a:ext uri="{FF2B5EF4-FFF2-40B4-BE49-F238E27FC236}">
                  <a16:creationId xmlns:a16="http://schemas.microsoft.com/office/drawing/2014/main" id="{1E0CDFBD-E561-95A9-319C-23F7EE5F7AEC}"/>
                </a:ext>
              </a:extLst>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2850393" y="1619837"/>
              <a:ext cx="413102" cy="413102"/>
            </a:xfrm>
            <a:prstGeom prst="rect">
              <a:avLst/>
            </a:prstGeom>
          </p:spPr>
        </p:pic>
      </p:grpSp>
      <p:pic>
        <p:nvPicPr>
          <p:cNvPr id="23" name="Graphic 22">
            <a:extLst>
              <a:ext uri="{FF2B5EF4-FFF2-40B4-BE49-F238E27FC236}">
                <a16:creationId xmlns:a16="http://schemas.microsoft.com/office/drawing/2014/main" id="{5BE14BCB-5287-4A70-CAA4-6F59436836C7}"/>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6301890" y="6353175"/>
            <a:ext cx="375285" cy="375285"/>
          </a:xfrm>
          <a:prstGeom prst="rect">
            <a:avLst/>
          </a:prstGeom>
        </p:spPr>
      </p:pic>
      <p:pic>
        <p:nvPicPr>
          <p:cNvPr id="32" name="Graphic 31">
            <a:extLst>
              <a:ext uri="{FF2B5EF4-FFF2-40B4-BE49-F238E27FC236}">
                <a16:creationId xmlns:a16="http://schemas.microsoft.com/office/drawing/2014/main" id="{BB810097-7C0C-DCAB-A32C-9CA52C457AB4}"/>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4811249" y="5530357"/>
            <a:ext cx="499069" cy="499069"/>
          </a:xfrm>
          <a:prstGeom prst="rect">
            <a:avLst/>
          </a:prstGeom>
        </p:spPr>
      </p:pic>
      <p:pic>
        <p:nvPicPr>
          <p:cNvPr id="36" name="Graphic 35">
            <a:extLst>
              <a:ext uri="{FF2B5EF4-FFF2-40B4-BE49-F238E27FC236}">
                <a16:creationId xmlns:a16="http://schemas.microsoft.com/office/drawing/2014/main" id="{ECD6D062-E718-08EE-EE83-C6D291AC65CA}"/>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2367781" y="5567623"/>
            <a:ext cx="327660" cy="327660"/>
          </a:xfrm>
          <a:prstGeom prst="rect">
            <a:avLst/>
          </a:prstGeom>
        </p:spPr>
      </p:pic>
      <p:grpSp>
        <p:nvGrpSpPr>
          <p:cNvPr id="279" name="Group 278">
            <a:extLst>
              <a:ext uri="{FF2B5EF4-FFF2-40B4-BE49-F238E27FC236}">
                <a16:creationId xmlns:a16="http://schemas.microsoft.com/office/drawing/2014/main" id="{46D2A0C6-E55E-6B8D-FE33-7E1C746AF106}"/>
              </a:ext>
            </a:extLst>
          </p:cNvPr>
          <p:cNvGrpSpPr/>
          <p:nvPr/>
        </p:nvGrpSpPr>
        <p:grpSpPr>
          <a:xfrm>
            <a:off x="9591366" y="3958898"/>
            <a:ext cx="731520" cy="617183"/>
            <a:chOff x="7688580" y="3422480"/>
            <a:chExt cx="731520" cy="608478"/>
          </a:xfrm>
        </p:grpSpPr>
        <p:sp>
          <p:nvSpPr>
            <p:cNvPr id="88" name="Rounded Rectangle 87"/>
            <p:cNvSpPr/>
            <p:nvPr/>
          </p:nvSpPr>
          <p:spPr>
            <a:xfrm>
              <a:off x="7688580" y="3422480"/>
              <a:ext cx="731520" cy="594360"/>
            </a:xfrm>
            <a:prstGeom prst="roundRect">
              <a:avLst/>
            </a:prstGeom>
            <a:solidFill>
              <a:srgbClr val="FFFFFF"/>
            </a:solidFill>
            <a:ln w="12700">
              <a:solidFill>
                <a:srgbClr val="3E91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dirty="0"/>
            </a:p>
          </p:txBody>
        </p:sp>
        <p:sp>
          <p:nvSpPr>
            <p:cNvPr id="90" name="TextBox 89"/>
            <p:cNvSpPr txBox="1"/>
            <p:nvPr/>
          </p:nvSpPr>
          <p:spPr>
            <a:xfrm>
              <a:off x="7866237" y="3738570"/>
              <a:ext cx="389210" cy="292388"/>
            </a:xfrm>
            <a:prstGeom prst="rect">
              <a:avLst/>
            </a:prstGeom>
            <a:noFill/>
          </p:spPr>
          <p:txBody>
            <a:bodyPr wrap="none" lIns="22860" tIns="22860" rIns="22860" bIns="22860" anchor="ctr">
              <a:spAutoFit/>
            </a:bodyPr>
            <a:lstStyle/>
            <a:p>
              <a:pPr algn="ctr"/>
              <a:r>
                <a:rPr sz="800" b="1" dirty="0">
                  <a:solidFill>
                    <a:srgbClr val="082B54"/>
                  </a:solidFill>
                  <a:latin typeface="Arial" panose="020B0604020202020204" pitchFamily="34" charset="0"/>
                  <a:cs typeface="Arial" panose="020B0604020202020204" pitchFamily="34" charset="0"/>
                </a:rPr>
                <a:t>Skill</a:t>
              </a:r>
              <a:r>
                <a:rPr lang="en-IN" sz="800" b="1" dirty="0">
                  <a:solidFill>
                    <a:srgbClr val="082B54"/>
                  </a:solidFill>
                  <a:latin typeface="Arial" panose="020B0604020202020204" pitchFamily="34" charset="0"/>
                  <a:cs typeface="Arial" panose="020B0604020202020204" pitchFamily="34" charset="0"/>
                </a:rPr>
                <a:t>
Engine</a:t>
              </a:r>
            </a:p>
          </p:txBody>
        </p:sp>
        <p:pic>
          <p:nvPicPr>
            <p:cNvPr id="41" name="Graphic 40">
              <a:extLst>
                <a:ext uri="{FF2B5EF4-FFF2-40B4-BE49-F238E27FC236}">
                  <a16:creationId xmlns:a16="http://schemas.microsoft.com/office/drawing/2014/main" id="{7631E7E1-1E87-DABC-58D4-86EB80583EC5}"/>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933490" y="3436193"/>
              <a:ext cx="304800" cy="304800"/>
            </a:xfrm>
            <a:prstGeom prst="rect">
              <a:avLst/>
            </a:prstGeom>
          </p:spPr>
        </p:pic>
      </p:grpSp>
      <p:pic>
        <p:nvPicPr>
          <p:cNvPr id="50" name="Graphic 49">
            <a:extLst>
              <a:ext uri="{FF2B5EF4-FFF2-40B4-BE49-F238E27FC236}">
                <a16:creationId xmlns:a16="http://schemas.microsoft.com/office/drawing/2014/main" id="{5AF9C7A1-FE14-64BB-6A54-F2F4B2B3835B}"/>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8618398" y="2541236"/>
            <a:ext cx="299750" cy="299750"/>
          </a:xfrm>
          <a:prstGeom prst="rect">
            <a:avLst/>
          </a:prstGeom>
        </p:spPr>
      </p:pic>
      <p:grpSp>
        <p:nvGrpSpPr>
          <p:cNvPr id="278" name="Group 277">
            <a:extLst>
              <a:ext uri="{FF2B5EF4-FFF2-40B4-BE49-F238E27FC236}">
                <a16:creationId xmlns:a16="http://schemas.microsoft.com/office/drawing/2014/main" id="{E75557AD-1AA9-C898-1FA5-3450C0F88837}"/>
              </a:ext>
            </a:extLst>
          </p:cNvPr>
          <p:cNvGrpSpPr/>
          <p:nvPr/>
        </p:nvGrpSpPr>
        <p:grpSpPr>
          <a:xfrm>
            <a:off x="10629534" y="3931606"/>
            <a:ext cx="731520" cy="600860"/>
            <a:chOff x="8185918" y="3444177"/>
            <a:chExt cx="731520" cy="600860"/>
          </a:xfrm>
        </p:grpSpPr>
        <p:sp>
          <p:nvSpPr>
            <p:cNvPr id="91" name="Rounded Rectangle 90"/>
            <p:cNvSpPr/>
            <p:nvPr/>
          </p:nvSpPr>
          <p:spPr>
            <a:xfrm>
              <a:off x="8185918" y="3444177"/>
              <a:ext cx="731520" cy="594360"/>
            </a:xfrm>
            <a:prstGeom prst="roundRect">
              <a:avLst/>
            </a:prstGeom>
            <a:solidFill>
              <a:srgbClr val="FFFFFF"/>
            </a:solidFill>
            <a:ln w="12700">
              <a:solidFill>
                <a:srgbClr val="3E91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dirty="0"/>
            </a:p>
          </p:txBody>
        </p:sp>
        <p:sp>
          <p:nvSpPr>
            <p:cNvPr id="93" name="TextBox 92"/>
            <p:cNvSpPr txBox="1"/>
            <p:nvPr/>
          </p:nvSpPr>
          <p:spPr>
            <a:xfrm>
              <a:off x="8345490" y="3752649"/>
              <a:ext cx="514243" cy="292388"/>
            </a:xfrm>
            <a:prstGeom prst="rect">
              <a:avLst/>
            </a:prstGeom>
            <a:noFill/>
          </p:spPr>
          <p:txBody>
            <a:bodyPr wrap="none" lIns="22860" tIns="22860" rIns="22860" bIns="22860" anchor="ctr">
              <a:spAutoFit/>
            </a:bodyPr>
            <a:lstStyle/>
            <a:p>
              <a:pPr algn="ctr"/>
              <a:r>
                <a:rPr sz="800" b="1" dirty="0">
                  <a:solidFill>
                    <a:srgbClr val="082B54"/>
                  </a:solidFill>
                  <a:latin typeface="Arial" panose="020B0604020202020204" pitchFamily="34" charset="0"/>
                  <a:cs typeface="Arial" panose="020B0604020202020204" pitchFamily="34" charset="0"/>
                </a:rPr>
                <a:t>Roadmap</a:t>
              </a:r>
              <a:endParaRPr lang="en-IN" sz="800" b="1" dirty="0">
                <a:solidFill>
                  <a:srgbClr val="082B54"/>
                </a:solidFill>
                <a:latin typeface="Arial" panose="020B0604020202020204" pitchFamily="34" charset="0"/>
                <a:cs typeface="Arial" panose="020B0604020202020204" pitchFamily="34" charset="0"/>
              </a:endParaRPr>
            </a:p>
            <a:p>
              <a:pPr algn="ctr"/>
              <a:r>
                <a:rPr sz="800" b="1" dirty="0">
                  <a:solidFill>
                    <a:srgbClr val="082B54"/>
                  </a:solidFill>
                  <a:latin typeface="Arial" panose="020B0604020202020204" pitchFamily="34" charset="0"/>
                  <a:cs typeface="Arial" panose="020B0604020202020204" pitchFamily="34" charset="0"/>
                </a:rPr>
                <a:t>Planner</a:t>
              </a:r>
            </a:p>
          </p:txBody>
        </p:sp>
        <p:pic>
          <p:nvPicPr>
            <p:cNvPr id="61" name="Graphic 60">
              <a:extLst>
                <a:ext uri="{FF2B5EF4-FFF2-40B4-BE49-F238E27FC236}">
                  <a16:creationId xmlns:a16="http://schemas.microsoft.com/office/drawing/2014/main" id="{67660741-2413-B88F-C2C7-160854A9685A}"/>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8375172" y="3452811"/>
              <a:ext cx="304800" cy="304800"/>
            </a:xfrm>
            <a:prstGeom prst="rect">
              <a:avLst/>
            </a:prstGeom>
          </p:spPr>
        </p:pic>
      </p:grpSp>
      <p:pic>
        <p:nvPicPr>
          <p:cNvPr id="63" name="Graphic 62">
            <a:extLst>
              <a:ext uri="{FF2B5EF4-FFF2-40B4-BE49-F238E27FC236}">
                <a16:creationId xmlns:a16="http://schemas.microsoft.com/office/drawing/2014/main" id="{A1CD250B-28BF-214F-B759-48D0790099A0}"/>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7639049" y="5624886"/>
            <a:ext cx="340736" cy="340736"/>
          </a:xfrm>
          <a:prstGeom prst="rect">
            <a:avLst/>
          </a:prstGeom>
        </p:spPr>
      </p:pic>
      <p:pic>
        <p:nvPicPr>
          <p:cNvPr id="72" name="Graphic 71">
            <a:extLst>
              <a:ext uri="{FF2B5EF4-FFF2-40B4-BE49-F238E27FC236}">
                <a16:creationId xmlns:a16="http://schemas.microsoft.com/office/drawing/2014/main" id="{8F94A207-F857-680A-E302-905BA897EB94}"/>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flipV="1">
            <a:off x="3181284" y="5518986"/>
            <a:ext cx="352951" cy="352951"/>
          </a:xfrm>
          <a:prstGeom prst="rect">
            <a:avLst/>
          </a:prstGeom>
        </p:spPr>
      </p:pic>
      <p:pic>
        <p:nvPicPr>
          <p:cNvPr id="101" name="Graphic 100">
            <a:extLst>
              <a:ext uri="{FF2B5EF4-FFF2-40B4-BE49-F238E27FC236}">
                <a16:creationId xmlns:a16="http://schemas.microsoft.com/office/drawing/2014/main" id="{209F7A96-3765-1C80-F72E-974C9BA5EF06}"/>
              </a:ext>
            </a:extLst>
          </p:cNvPr>
          <p:cNvPicPr>
            <a:picLocks noChangeAspect="1"/>
          </p:cNvPicPr>
          <p:nvPr/>
        </p:nvPicPr>
        <p:blipFill>
          <a:blip r:embed="rId50">
            <a:extLst>
              <a:ext uri="{96DAC541-7B7A-43D3-8B79-37D633B846F1}">
                <asvg:svgBlip xmlns:asvg="http://schemas.microsoft.com/office/drawing/2016/SVG/main" r:embed="rId51"/>
              </a:ext>
            </a:extLst>
          </a:blip>
          <a:stretch>
            <a:fillRect/>
          </a:stretch>
        </p:blipFill>
        <p:spPr>
          <a:xfrm>
            <a:off x="406897" y="5546716"/>
            <a:ext cx="434340" cy="434340"/>
          </a:xfrm>
          <a:prstGeom prst="rect">
            <a:avLst/>
          </a:prstGeom>
        </p:spPr>
      </p:pic>
      <p:pic>
        <p:nvPicPr>
          <p:cNvPr id="105" name="Graphic 104">
            <a:extLst>
              <a:ext uri="{FF2B5EF4-FFF2-40B4-BE49-F238E27FC236}">
                <a16:creationId xmlns:a16="http://schemas.microsoft.com/office/drawing/2014/main" id="{4E710D79-85D3-3CF5-DA9E-006BECCFB120}"/>
              </a:ext>
            </a:extLst>
          </p:cNvPr>
          <p:cNvPicPr>
            <a:picLocks noChangeAspect="1"/>
          </p:cNvPicPr>
          <p:nvPr/>
        </p:nvPicPr>
        <p:blipFill>
          <a:blip r:embed="rId52">
            <a:extLst>
              <a:ext uri="{96DAC541-7B7A-43D3-8B79-37D633B846F1}">
                <asvg:svgBlip xmlns:asvg="http://schemas.microsoft.com/office/drawing/2016/SVG/main" r:embed="rId53"/>
              </a:ext>
            </a:extLst>
          </a:blip>
          <a:stretch>
            <a:fillRect/>
          </a:stretch>
        </p:blipFill>
        <p:spPr>
          <a:xfrm>
            <a:off x="8537105" y="5569628"/>
            <a:ext cx="355600" cy="355600"/>
          </a:xfrm>
          <a:prstGeom prst="rect">
            <a:avLst/>
          </a:prstGeom>
        </p:spPr>
      </p:pic>
      <p:grpSp>
        <p:nvGrpSpPr>
          <p:cNvPr id="281" name="Group 280">
            <a:extLst>
              <a:ext uri="{FF2B5EF4-FFF2-40B4-BE49-F238E27FC236}">
                <a16:creationId xmlns:a16="http://schemas.microsoft.com/office/drawing/2014/main" id="{E69F4D7C-0856-8CBE-146C-D48E57BB5169}"/>
              </a:ext>
            </a:extLst>
          </p:cNvPr>
          <p:cNvGrpSpPr/>
          <p:nvPr/>
        </p:nvGrpSpPr>
        <p:grpSpPr>
          <a:xfrm>
            <a:off x="8422376" y="3940240"/>
            <a:ext cx="731520" cy="606956"/>
            <a:chOff x="7048468" y="3425242"/>
            <a:chExt cx="731520" cy="606956"/>
          </a:xfrm>
        </p:grpSpPr>
        <p:sp>
          <p:nvSpPr>
            <p:cNvPr id="85" name="Rounded Rectangle 84"/>
            <p:cNvSpPr/>
            <p:nvPr/>
          </p:nvSpPr>
          <p:spPr>
            <a:xfrm>
              <a:off x="7048468" y="3437838"/>
              <a:ext cx="731520" cy="594360"/>
            </a:xfrm>
            <a:prstGeom prst="roundRect">
              <a:avLst/>
            </a:prstGeom>
            <a:solidFill>
              <a:srgbClr val="FFFFFF"/>
            </a:solidFill>
            <a:ln w="12700">
              <a:solidFill>
                <a:srgbClr val="3E91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dirty="0"/>
            </a:p>
          </p:txBody>
        </p:sp>
        <p:sp>
          <p:nvSpPr>
            <p:cNvPr id="87" name="TextBox 86"/>
            <p:cNvSpPr txBox="1"/>
            <p:nvPr/>
          </p:nvSpPr>
          <p:spPr>
            <a:xfrm>
              <a:off x="7092664" y="3729268"/>
              <a:ext cx="653705" cy="292388"/>
            </a:xfrm>
            <a:prstGeom prst="rect">
              <a:avLst/>
            </a:prstGeom>
            <a:noFill/>
          </p:spPr>
          <p:txBody>
            <a:bodyPr wrap="none" lIns="22860" tIns="22860" rIns="22860" bIns="22860" anchor="ctr">
              <a:spAutoFit/>
            </a:bodyPr>
            <a:lstStyle/>
            <a:p>
              <a:pPr algn="ctr"/>
              <a:r>
                <a:rPr sz="800" b="1" dirty="0">
                  <a:solidFill>
                    <a:srgbClr val="082B54"/>
                  </a:solidFill>
                  <a:latin typeface="Arial" panose="020B0604020202020204" pitchFamily="34" charset="0"/>
                  <a:cs typeface="Arial" panose="020B0604020202020204" pitchFamily="34" charset="0"/>
                </a:rPr>
                <a:t>AI
Assessment</a:t>
              </a:r>
            </a:p>
          </p:txBody>
        </p:sp>
        <p:pic>
          <p:nvPicPr>
            <p:cNvPr id="115" name="Graphic 114">
              <a:extLst>
                <a:ext uri="{FF2B5EF4-FFF2-40B4-BE49-F238E27FC236}">
                  <a16:creationId xmlns:a16="http://schemas.microsoft.com/office/drawing/2014/main" id="{D74D0E52-71EF-1C03-FBE0-043030CB44B3}"/>
                </a:ext>
              </a:extLst>
            </p:cNvPr>
            <p:cNvPicPr>
              <a:picLocks noChangeAspect="1"/>
            </p:cNvPicPr>
            <p:nvPr/>
          </p:nvPicPr>
          <p:blipFill>
            <a:blip r:embed="rId54">
              <a:extLst>
                <a:ext uri="{96DAC541-7B7A-43D3-8B79-37D633B846F1}">
                  <asvg:svgBlip xmlns:asvg="http://schemas.microsoft.com/office/drawing/2016/SVG/main" r:embed="rId55"/>
                </a:ext>
              </a:extLst>
            </a:blip>
            <a:stretch>
              <a:fillRect/>
            </a:stretch>
          </p:blipFill>
          <p:spPr>
            <a:xfrm>
              <a:off x="7244490" y="3425242"/>
              <a:ext cx="385139" cy="385139"/>
            </a:xfrm>
            <a:prstGeom prst="rect">
              <a:avLst/>
            </a:prstGeom>
          </p:spPr>
        </p:pic>
      </p:grpSp>
      <p:pic>
        <p:nvPicPr>
          <p:cNvPr id="206" name="Graphic 205">
            <a:extLst>
              <a:ext uri="{FF2B5EF4-FFF2-40B4-BE49-F238E27FC236}">
                <a16:creationId xmlns:a16="http://schemas.microsoft.com/office/drawing/2014/main" id="{8F731306-0E66-CD49-55EB-F70988CF7537}"/>
              </a:ext>
            </a:extLst>
          </p:cNvPr>
          <p:cNvPicPr>
            <a:picLocks noChangeAspect="1"/>
          </p:cNvPicPr>
          <p:nvPr/>
        </p:nvPicPr>
        <p:blipFill>
          <a:blip r:embed="rId56">
            <a:extLst>
              <a:ext uri="{96DAC541-7B7A-43D3-8B79-37D633B846F1}">
                <asvg:svgBlip xmlns:asvg="http://schemas.microsoft.com/office/drawing/2016/SVG/main" r:embed="rId57"/>
              </a:ext>
            </a:extLst>
          </a:blip>
          <a:stretch>
            <a:fillRect/>
          </a:stretch>
        </p:blipFill>
        <p:spPr>
          <a:xfrm>
            <a:off x="1394686" y="5593080"/>
            <a:ext cx="373380" cy="373380"/>
          </a:xfrm>
          <a:prstGeom prst="rect">
            <a:avLst/>
          </a:prstGeom>
        </p:spPr>
      </p:pic>
      <p:pic>
        <p:nvPicPr>
          <p:cNvPr id="208" name="Graphic 207">
            <a:extLst>
              <a:ext uri="{FF2B5EF4-FFF2-40B4-BE49-F238E27FC236}">
                <a16:creationId xmlns:a16="http://schemas.microsoft.com/office/drawing/2014/main" id="{C17C7B6E-93E4-94D1-0C82-2552BA283F3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1209727" y="5585296"/>
            <a:ext cx="326245" cy="326245"/>
          </a:xfrm>
          <a:prstGeom prst="rect">
            <a:avLst/>
          </a:prstGeom>
        </p:spPr>
      </p:pic>
      <p:pic>
        <p:nvPicPr>
          <p:cNvPr id="209" name="Graphic 208">
            <a:extLst>
              <a:ext uri="{FF2B5EF4-FFF2-40B4-BE49-F238E27FC236}">
                <a16:creationId xmlns:a16="http://schemas.microsoft.com/office/drawing/2014/main" id="{93CB2B95-BD10-1B27-73E4-95D952571B2E}"/>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5809404" y="5625085"/>
            <a:ext cx="304800" cy="304800"/>
          </a:xfrm>
          <a:prstGeom prst="rect">
            <a:avLst/>
          </a:prstGeom>
        </p:spPr>
      </p:pic>
      <p:grpSp>
        <p:nvGrpSpPr>
          <p:cNvPr id="241" name="Group 240">
            <a:extLst>
              <a:ext uri="{FF2B5EF4-FFF2-40B4-BE49-F238E27FC236}">
                <a16:creationId xmlns:a16="http://schemas.microsoft.com/office/drawing/2014/main" id="{F438C40B-773A-4150-FAA8-50C2398C7FCD}"/>
              </a:ext>
            </a:extLst>
          </p:cNvPr>
          <p:cNvGrpSpPr/>
          <p:nvPr/>
        </p:nvGrpSpPr>
        <p:grpSpPr>
          <a:xfrm>
            <a:off x="596314" y="1337626"/>
            <a:ext cx="843039" cy="742634"/>
            <a:chOff x="277311" y="1486502"/>
            <a:chExt cx="628210" cy="593758"/>
          </a:xfrm>
        </p:grpSpPr>
        <p:sp>
          <p:nvSpPr>
            <p:cNvPr id="16" name="Oval 15"/>
            <p:cNvSpPr/>
            <p:nvPr/>
          </p:nvSpPr>
          <p:spPr>
            <a:xfrm>
              <a:off x="366189" y="1486502"/>
              <a:ext cx="539332" cy="466160"/>
            </a:xfrm>
            <a:prstGeom prst="ellipse">
              <a:avLst/>
            </a:prstGeom>
            <a:solidFill>
              <a:srgbClr val="246C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dirty="0"/>
            </a:p>
          </p:txBody>
        </p:sp>
        <p:sp>
          <p:nvSpPr>
            <p:cNvPr id="18" name="Oval 17"/>
            <p:cNvSpPr/>
            <p:nvPr/>
          </p:nvSpPr>
          <p:spPr>
            <a:xfrm>
              <a:off x="277311" y="1790700"/>
              <a:ext cx="289560" cy="289560"/>
            </a:xfrm>
            <a:prstGeom prst="ellipse">
              <a:avLst/>
            </a:prstGeom>
            <a:solidFill>
              <a:srgbClr val="246CB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dirty="0"/>
            </a:p>
          </p:txBody>
        </p:sp>
        <p:pic>
          <p:nvPicPr>
            <p:cNvPr id="224" name="Graphic 223">
              <a:extLst>
                <a:ext uri="{FF2B5EF4-FFF2-40B4-BE49-F238E27FC236}">
                  <a16:creationId xmlns:a16="http://schemas.microsoft.com/office/drawing/2014/main" id="{C7C49831-D2F2-349F-3995-94055E7458FC}"/>
                </a:ext>
              </a:extLst>
            </p:cNvPr>
            <p:cNvPicPr>
              <a:picLocks noChangeAspect="1"/>
            </p:cNvPicPr>
            <p:nvPr/>
          </p:nvPicPr>
          <p:blipFill>
            <a:blip r:embed="rId58">
              <a:extLst>
                <a:ext uri="{96DAC541-7B7A-43D3-8B79-37D633B846F1}">
                  <asvg:svgBlip xmlns:asvg="http://schemas.microsoft.com/office/drawing/2016/SVG/main" r:embed="rId59"/>
                </a:ext>
              </a:extLst>
            </a:blip>
            <a:stretch>
              <a:fillRect/>
            </a:stretch>
          </p:blipFill>
          <p:spPr>
            <a:xfrm>
              <a:off x="459451" y="1550786"/>
              <a:ext cx="367814" cy="367814"/>
            </a:xfrm>
            <a:prstGeom prst="rect">
              <a:avLst/>
            </a:prstGeom>
          </p:spPr>
        </p:pic>
      </p:grpSp>
      <p:pic>
        <p:nvPicPr>
          <p:cNvPr id="228" name="Graphic 227">
            <a:extLst>
              <a:ext uri="{FF2B5EF4-FFF2-40B4-BE49-F238E27FC236}">
                <a16:creationId xmlns:a16="http://schemas.microsoft.com/office/drawing/2014/main" id="{83A6A741-A700-5930-CD38-8A0EB9BE31F5}"/>
              </a:ext>
            </a:extLst>
          </p:cNvPr>
          <p:cNvPicPr>
            <a:picLocks noChangeAspect="1"/>
          </p:cNvPicPr>
          <p:nvPr/>
        </p:nvPicPr>
        <p:blipFill>
          <a:blip r:embed="rId60">
            <a:extLst>
              <a:ext uri="{96DAC541-7B7A-43D3-8B79-37D633B846F1}">
                <asvg:svgBlip xmlns:asvg="http://schemas.microsoft.com/office/drawing/2016/SVG/main" r:embed="rId61"/>
              </a:ext>
            </a:extLst>
          </a:blip>
          <a:stretch>
            <a:fillRect/>
          </a:stretch>
        </p:blipFill>
        <p:spPr>
          <a:xfrm>
            <a:off x="425515" y="6384221"/>
            <a:ext cx="355600" cy="355600"/>
          </a:xfrm>
          <a:prstGeom prst="rect">
            <a:avLst/>
          </a:prstGeom>
        </p:spPr>
      </p:pic>
      <p:pic>
        <p:nvPicPr>
          <p:cNvPr id="230" name="Graphic 229">
            <a:extLst>
              <a:ext uri="{FF2B5EF4-FFF2-40B4-BE49-F238E27FC236}">
                <a16:creationId xmlns:a16="http://schemas.microsoft.com/office/drawing/2014/main" id="{30B7B0AA-F345-3378-7C4E-08E3FCF60506}"/>
              </a:ext>
            </a:extLst>
          </p:cNvPr>
          <p:cNvPicPr>
            <a:picLocks noChangeAspect="1"/>
          </p:cNvPicPr>
          <p:nvPr/>
        </p:nvPicPr>
        <p:blipFill>
          <a:blip r:embed="rId62">
            <a:extLst>
              <a:ext uri="{96DAC541-7B7A-43D3-8B79-37D633B846F1}">
                <asvg:svgBlip xmlns:asvg="http://schemas.microsoft.com/office/drawing/2016/SVG/main" r:embed="rId63"/>
              </a:ext>
            </a:extLst>
          </a:blip>
          <a:stretch>
            <a:fillRect/>
          </a:stretch>
        </p:blipFill>
        <p:spPr>
          <a:xfrm>
            <a:off x="2239451" y="6324617"/>
            <a:ext cx="336603" cy="336603"/>
          </a:xfrm>
          <a:prstGeom prst="rect">
            <a:avLst/>
          </a:prstGeom>
        </p:spPr>
      </p:pic>
      <p:pic>
        <p:nvPicPr>
          <p:cNvPr id="232" name="Graphic 231">
            <a:extLst>
              <a:ext uri="{FF2B5EF4-FFF2-40B4-BE49-F238E27FC236}">
                <a16:creationId xmlns:a16="http://schemas.microsoft.com/office/drawing/2014/main" id="{B6D40E08-E5C3-CD37-706E-18BE3A6B4C18}"/>
              </a:ext>
            </a:extLst>
          </p:cNvPr>
          <p:cNvPicPr>
            <a:picLocks noChangeAspect="1"/>
          </p:cNvPicPr>
          <p:nvPr/>
        </p:nvPicPr>
        <p:blipFill>
          <a:blip r:embed="rId64">
            <a:extLst>
              <a:ext uri="{96DAC541-7B7A-43D3-8B79-37D633B846F1}">
                <asvg:svgBlip xmlns:asvg="http://schemas.microsoft.com/office/drawing/2016/SVG/main" r:embed="rId65"/>
              </a:ext>
            </a:extLst>
          </a:blip>
          <a:stretch>
            <a:fillRect/>
          </a:stretch>
        </p:blipFill>
        <p:spPr>
          <a:xfrm>
            <a:off x="4087997" y="6312418"/>
            <a:ext cx="454985" cy="454985"/>
          </a:xfrm>
          <a:prstGeom prst="rect">
            <a:avLst/>
          </a:prstGeom>
        </p:spPr>
      </p:pic>
      <p:grpSp>
        <p:nvGrpSpPr>
          <p:cNvPr id="276" name="Group 275">
            <a:extLst>
              <a:ext uri="{FF2B5EF4-FFF2-40B4-BE49-F238E27FC236}">
                <a16:creationId xmlns:a16="http://schemas.microsoft.com/office/drawing/2014/main" id="{0D06F4EC-330F-40C0-E007-B3D7500BFB2B}"/>
              </a:ext>
            </a:extLst>
          </p:cNvPr>
          <p:cNvGrpSpPr/>
          <p:nvPr/>
        </p:nvGrpSpPr>
        <p:grpSpPr>
          <a:xfrm>
            <a:off x="9546410" y="3257467"/>
            <a:ext cx="731520" cy="643722"/>
            <a:chOff x="9826634" y="3402432"/>
            <a:chExt cx="731520" cy="643722"/>
          </a:xfrm>
        </p:grpSpPr>
        <p:sp>
          <p:nvSpPr>
            <p:cNvPr id="97" name="Rounded Rectangle 96"/>
            <p:cNvSpPr/>
            <p:nvPr/>
          </p:nvSpPr>
          <p:spPr>
            <a:xfrm>
              <a:off x="9826634" y="3405210"/>
              <a:ext cx="731520" cy="640944"/>
            </a:xfrm>
            <a:prstGeom prst="roundRect">
              <a:avLst/>
            </a:prstGeom>
            <a:solidFill>
              <a:srgbClr val="FFFFFF"/>
            </a:solidFill>
            <a:ln w="12700">
              <a:solidFill>
                <a:srgbClr val="3E91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dirty="0"/>
            </a:p>
          </p:txBody>
        </p:sp>
        <p:sp>
          <p:nvSpPr>
            <p:cNvPr id="99" name="TextBox 98"/>
            <p:cNvSpPr txBox="1"/>
            <p:nvPr/>
          </p:nvSpPr>
          <p:spPr>
            <a:xfrm>
              <a:off x="9926120" y="3730956"/>
              <a:ext cx="493405" cy="292388"/>
            </a:xfrm>
            <a:prstGeom prst="rect">
              <a:avLst/>
            </a:prstGeom>
            <a:noFill/>
          </p:spPr>
          <p:txBody>
            <a:bodyPr wrap="none" lIns="22860" tIns="22860" rIns="22860" bIns="22860" anchor="ctr">
              <a:spAutoFit/>
            </a:bodyPr>
            <a:lstStyle/>
            <a:p>
              <a:pPr algn="ctr"/>
              <a:r>
                <a:rPr sz="800" b="1" dirty="0">
                  <a:solidFill>
                    <a:srgbClr val="082B54"/>
                  </a:solidFill>
                  <a:latin typeface="Arial" panose="020B0604020202020204" pitchFamily="34" charset="0"/>
                  <a:cs typeface="Arial" panose="020B0604020202020204" pitchFamily="34" charset="0"/>
                </a:rPr>
                <a:t>Resume </a:t>
              </a:r>
              <a:endParaRPr lang="en-IN" sz="800" b="1" dirty="0">
                <a:solidFill>
                  <a:srgbClr val="082B54"/>
                </a:solidFill>
                <a:latin typeface="Arial" panose="020B0604020202020204" pitchFamily="34" charset="0"/>
                <a:cs typeface="Arial" panose="020B0604020202020204" pitchFamily="34" charset="0"/>
              </a:endParaRPr>
            </a:p>
            <a:p>
              <a:pPr algn="ctr"/>
              <a:r>
                <a:rPr sz="800" b="1" dirty="0">
                  <a:solidFill>
                    <a:srgbClr val="082B54"/>
                  </a:solidFill>
                  <a:latin typeface="Arial" panose="020B0604020202020204" pitchFamily="34" charset="0"/>
                  <a:cs typeface="Arial" panose="020B0604020202020204" pitchFamily="34" charset="0"/>
                </a:rPr>
                <a:t>Interview</a:t>
              </a:r>
            </a:p>
          </p:txBody>
        </p:sp>
        <p:pic>
          <p:nvPicPr>
            <p:cNvPr id="234" name="Graphic 233">
              <a:extLst>
                <a:ext uri="{FF2B5EF4-FFF2-40B4-BE49-F238E27FC236}">
                  <a16:creationId xmlns:a16="http://schemas.microsoft.com/office/drawing/2014/main" id="{FB9FC664-25F0-0163-56D3-142F1CCA308A}"/>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flipV="1">
              <a:off x="10019394" y="3402432"/>
              <a:ext cx="352951" cy="352951"/>
            </a:xfrm>
            <a:prstGeom prst="rect">
              <a:avLst/>
            </a:prstGeom>
          </p:spPr>
        </p:pic>
      </p:grpSp>
      <p:cxnSp>
        <p:nvCxnSpPr>
          <p:cNvPr id="235" name="Connector 148">
            <a:extLst>
              <a:ext uri="{FF2B5EF4-FFF2-40B4-BE49-F238E27FC236}">
                <a16:creationId xmlns:a16="http://schemas.microsoft.com/office/drawing/2014/main" id="{124E6DA2-48C0-3FEE-1B9B-F9A42E38B1F4}"/>
              </a:ext>
            </a:extLst>
          </p:cNvPr>
          <p:cNvCxnSpPr>
            <a:cxnSpLocks/>
          </p:cNvCxnSpPr>
          <p:nvPr/>
        </p:nvCxnSpPr>
        <p:spPr>
          <a:xfrm flipH="1">
            <a:off x="1451507" y="1915935"/>
            <a:ext cx="13616" cy="1205665"/>
          </a:xfrm>
          <a:prstGeom prst="line">
            <a:avLst/>
          </a:prstGeom>
          <a:ln w="8890">
            <a:solidFill>
              <a:srgbClr val="D7DCE1"/>
            </a:solidFill>
          </a:ln>
        </p:spPr>
        <p:style>
          <a:lnRef idx="2">
            <a:schemeClr val="accent1"/>
          </a:lnRef>
          <a:fillRef idx="0">
            <a:schemeClr val="accent1"/>
          </a:fillRef>
          <a:effectRef idx="1">
            <a:schemeClr val="accent1"/>
          </a:effectRef>
          <a:fontRef idx="minor">
            <a:schemeClr val="tx1"/>
          </a:fontRef>
        </p:style>
      </p:cxnSp>
      <p:cxnSp>
        <p:nvCxnSpPr>
          <p:cNvPr id="242" name="Connector 148">
            <a:extLst>
              <a:ext uri="{FF2B5EF4-FFF2-40B4-BE49-F238E27FC236}">
                <a16:creationId xmlns:a16="http://schemas.microsoft.com/office/drawing/2014/main" id="{3CA1B4AD-97CF-E883-D48B-DC60C61D7B1B}"/>
              </a:ext>
            </a:extLst>
          </p:cNvPr>
          <p:cNvCxnSpPr>
            <a:cxnSpLocks/>
          </p:cNvCxnSpPr>
          <p:nvPr/>
        </p:nvCxnSpPr>
        <p:spPr>
          <a:xfrm>
            <a:off x="2715189" y="1977380"/>
            <a:ext cx="0" cy="1178296"/>
          </a:xfrm>
          <a:prstGeom prst="line">
            <a:avLst/>
          </a:prstGeom>
          <a:ln w="8890">
            <a:solidFill>
              <a:srgbClr val="D7DCE1"/>
            </a:solidFill>
          </a:ln>
        </p:spPr>
        <p:style>
          <a:lnRef idx="2">
            <a:schemeClr val="accent1"/>
          </a:lnRef>
          <a:fillRef idx="0">
            <a:schemeClr val="accent1"/>
          </a:fillRef>
          <a:effectRef idx="1">
            <a:schemeClr val="accent1"/>
          </a:effectRef>
          <a:fontRef idx="minor">
            <a:schemeClr val="tx1"/>
          </a:fontRef>
        </p:style>
      </p:cxnSp>
      <p:cxnSp>
        <p:nvCxnSpPr>
          <p:cNvPr id="243" name="Connector 148">
            <a:extLst>
              <a:ext uri="{FF2B5EF4-FFF2-40B4-BE49-F238E27FC236}">
                <a16:creationId xmlns:a16="http://schemas.microsoft.com/office/drawing/2014/main" id="{B170DEC4-3D30-7DFC-948B-21AC0C56DE5C}"/>
              </a:ext>
            </a:extLst>
          </p:cNvPr>
          <p:cNvCxnSpPr>
            <a:cxnSpLocks/>
          </p:cNvCxnSpPr>
          <p:nvPr/>
        </p:nvCxnSpPr>
        <p:spPr>
          <a:xfrm>
            <a:off x="3970598" y="1963096"/>
            <a:ext cx="0" cy="1206048"/>
          </a:xfrm>
          <a:prstGeom prst="line">
            <a:avLst/>
          </a:prstGeom>
          <a:ln w="8890">
            <a:solidFill>
              <a:srgbClr val="D7DCE1"/>
            </a:solidFill>
          </a:ln>
        </p:spPr>
        <p:style>
          <a:lnRef idx="2">
            <a:schemeClr val="accent1"/>
          </a:lnRef>
          <a:fillRef idx="0">
            <a:schemeClr val="accent1"/>
          </a:fillRef>
          <a:effectRef idx="1">
            <a:schemeClr val="accent1"/>
          </a:effectRef>
          <a:fontRef idx="minor">
            <a:schemeClr val="tx1"/>
          </a:fontRef>
        </p:style>
      </p:cxnSp>
      <p:cxnSp>
        <p:nvCxnSpPr>
          <p:cNvPr id="244" name="Connector 148">
            <a:extLst>
              <a:ext uri="{FF2B5EF4-FFF2-40B4-BE49-F238E27FC236}">
                <a16:creationId xmlns:a16="http://schemas.microsoft.com/office/drawing/2014/main" id="{DD9AF608-64EE-128A-2155-B31B6F10F059}"/>
              </a:ext>
            </a:extLst>
          </p:cNvPr>
          <p:cNvCxnSpPr>
            <a:cxnSpLocks/>
          </p:cNvCxnSpPr>
          <p:nvPr/>
        </p:nvCxnSpPr>
        <p:spPr>
          <a:xfrm>
            <a:off x="5512370" y="1936601"/>
            <a:ext cx="0" cy="1204261"/>
          </a:xfrm>
          <a:prstGeom prst="line">
            <a:avLst/>
          </a:prstGeom>
          <a:ln w="8890">
            <a:solidFill>
              <a:srgbClr val="D7DCE1"/>
            </a:solidFill>
          </a:ln>
        </p:spPr>
        <p:style>
          <a:lnRef idx="2">
            <a:schemeClr val="accent1"/>
          </a:lnRef>
          <a:fillRef idx="0">
            <a:schemeClr val="accent1"/>
          </a:fillRef>
          <a:effectRef idx="1">
            <a:schemeClr val="accent1"/>
          </a:effectRef>
          <a:fontRef idx="minor">
            <a:schemeClr val="tx1"/>
          </a:fontRef>
        </p:style>
      </p:cxnSp>
      <p:sp>
        <p:nvSpPr>
          <p:cNvPr id="253" name="Rectangle 252">
            <a:extLst>
              <a:ext uri="{FF2B5EF4-FFF2-40B4-BE49-F238E27FC236}">
                <a16:creationId xmlns:a16="http://schemas.microsoft.com/office/drawing/2014/main" id="{0F4148D5-6269-1AB2-01BF-DB560CCC4C4A}"/>
              </a:ext>
            </a:extLst>
          </p:cNvPr>
          <p:cNvSpPr/>
          <p:nvPr/>
        </p:nvSpPr>
        <p:spPr>
          <a:xfrm>
            <a:off x="5501654" y="5479650"/>
            <a:ext cx="1884674" cy="175946"/>
          </a:xfrm>
          <a:prstGeom prst="rect">
            <a:avLst/>
          </a:prstGeom>
          <a:solidFill>
            <a:srgbClr val="FDFD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48" name="TextBox 147"/>
          <p:cNvSpPr txBox="1"/>
          <p:nvPr/>
        </p:nvSpPr>
        <p:spPr>
          <a:xfrm>
            <a:off x="5681409" y="5403198"/>
            <a:ext cx="1520930" cy="200055"/>
          </a:xfrm>
          <a:prstGeom prst="rect">
            <a:avLst/>
          </a:prstGeom>
          <a:noFill/>
        </p:spPr>
        <p:txBody>
          <a:bodyPr wrap="none" lIns="22860" tIns="22860" rIns="22860" bIns="22860" anchor="ctr">
            <a:spAutoFit/>
          </a:bodyPr>
          <a:lstStyle/>
          <a:p>
            <a:pPr algn="ctr"/>
            <a:r>
              <a:rPr sz="1000" b="1" dirty="0">
                <a:solidFill>
                  <a:srgbClr val="082B54"/>
                </a:solidFill>
                <a:latin typeface="Aptos"/>
              </a:rPr>
              <a:t>KEY FEATURES COVERED</a:t>
            </a:r>
          </a:p>
        </p:txBody>
      </p:sp>
      <p:grpSp>
        <p:nvGrpSpPr>
          <p:cNvPr id="277" name="Group 276">
            <a:extLst>
              <a:ext uri="{FF2B5EF4-FFF2-40B4-BE49-F238E27FC236}">
                <a16:creationId xmlns:a16="http://schemas.microsoft.com/office/drawing/2014/main" id="{F2228EB7-2990-3F84-8A40-4128483F293C}"/>
              </a:ext>
            </a:extLst>
          </p:cNvPr>
          <p:cNvGrpSpPr/>
          <p:nvPr/>
        </p:nvGrpSpPr>
        <p:grpSpPr>
          <a:xfrm>
            <a:off x="8368637" y="3230229"/>
            <a:ext cx="841257" cy="649247"/>
            <a:chOff x="8255789" y="3440488"/>
            <a:chExt cx="858581" cy="602307"/>
          </a:xfrm>
        </p:grpSpPr>
        <p:sp>
          <p:nvSpPr>
            <p:cNvPr id="94" name="Rounded Rectangle 93"/>
            <p:cNvSpPr/>
            <p:nvPr/>
          </p:nvSpPr>
          <p:spPr>
            <a:xfrm>
              <a:off x="8309225" y="3443850"/>
              <a:ext cx="731520" cy="594360"/>
            </a:xfrm>
            <a:prstGeom prst="roundRect">
              <a:avLst/>
            </a:prstGeom>
            <a:solidFill>
              <a:srgbClr val="FFFFFF"/>
            </a:solidFill>
            <a:ln w="12700">
              <a:solidFill>
                <a:srgbClr val="3E91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dirty="0"/>
            </a:p>
          </p:txBody>
        </p:sp>
        <p:pic>
          <p:nvPicPr>
            <p:cNvPr id="233" name="Graphic 232">
              <a:extLst>
                <a:ext uri="{FF2B5EF4-FFF2-40B4-BE49-F238E27FC236}">
                  <a16:creationId xmlns:a16="http://schemas.microsoft.com/office/drawing/2014/main" id="{65381C3B-963F-3B79-F718-ACF1B39974A8}"/>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8511624" y="3440488"/>
              <a:ext cx="344609" cy="344609"/>
            </a:xfrm>
            <a:prstGeom prst="rect">
              <a:avLst/>
            </a:prstGeom>
          </p:spPr>
        </p:pic>
        <p:sp>
          <p:nvSpPr>
            <p:cNvPr id="254" name="TextBox 253">
              <a:extLst>
                <a:ext uri="{FF2B5EF4-FFF2-40B4-BE49-F238E27FC236}">
                  <a16:creationId xmlns:a16="http://schemas.microsoft.com/office/drawing/2014/main" id="{DA1C295D-5068-A1DD-2EE3-54E69F378691}"/>
                </a:ext>
              </a:extLst>
            </p:cNvPr>
            <p:cNvSpPr txBox="1"/>
            <p:nvPr/>
          </p:nvSpPr>
          <p:spPr>
            <a:xfrm>
              <a:off x="8255789" y="3704241"/>
              <a:ext cx="858581" cy="338554"/>
            </a:xfrm>
            <a:prstGeom prst="rect">
              <a:avLst/>
            </a:prstGeom>
            <a:noFill/>
          </p:spPr>
          <p:txBody>
            <a:bodyPr wrap="square" rtlCol="0">
              <a:spAutoFit/>
            </a:bodyPr>
            <a:lstStyle/>
            <a:p>
              <a:r>
                <a:rPr lang="en-IN" sz="800" b="1" dirty="0">
                  <a:latin typeface="Arial" panose="020B0604020202020204" pitchFamily="34" charset="0"/>
                  <a:cs typeface="Arial" panose="020B0604020202020204" pitchFamily="34" charset="0"/>
                </a:rPr>
                <a:t>     Jobs</a:t>
              </a:r>
            </a:p>
            <a:p>
              <a:r>
                <a:rPr lang="en-IN" sz="800" b="1" dirty="0">
                  <a:latin typeface="Arial" panose="020B0604020202020204" pitchFamily="34" charset="0"/>
                  <a:cs typeface="Arial" panose="020B0604020202020204" pitchFamily="34" charset="0"/>
                </a:rPr>
                <a:t> Internships</a:t>
              </a:r>
            </a:p>
          </p:txBody>
        </p:sp>
      </p:grpSp>
      <p:sp>
        <p:nvSpPr>
          <p:cNvPr id="256" name="TextBox 255">
            <a:extLst>
              <a:ext uri="{FF2B5EF4-FFF2-40B4-BE49-F238E27FC236}">
                <a16:creationId xmlns:a16="http://schemas.microsoft.com/office/drawing/2014/main" id="{4097086B-3129-AF3E-CE9C-44E80479079D}"/>
              </a:ext>
            </a:extLst>
          </p:cNvPr>
          <p:cNvSpPr txBox="1"/>
          <p:nvPr/>
        </p:nvSpPr>
        <p:spPr>
          <a:xfrm>
            <a:off x="250365" y="2272668"/>
            <a:ext cx="1475305" cy="923330"/>
          </a:xfrm>
          <a:prstGeom prst="rect">
            <a:avLst/>
          </a:prstGeom>
          <a:noFill/>
        </p:spPr>
        <p:txBody>
          <a:bodyPr wrap="square" rtlCol="0">
            <a:spAutoFit/>
          </a:bodyPr>
          <a:lstStyle/>
          <a:p>
            <a:pPr marL="171450" indent="-171450">
              <a:buFont typeface="Arial" panose="020B0604020202020204" pitchFamily="34" charset="0"/>
              <a:buChar char="•"/>
            </a:pPr>
            <a:r>
              <a:rPr lang="en-IN" sz="900" dirty="0">
                <a:latin typeface="Arial" panose="020B0604020202020204" pitchFamily="34" charset="0"/>
                <a:cs typeface="Arial" panose="020B0604020202020204" pitchFamily="34" charset="0"/>
              </a:rPr>
              <a:t>Academic Profile</a:t>
            </a:r>
          </a:p>
          <a:p>
            <a:pPr marL="171450" indent="-171450">
              <a:buFont typeface="Arial" panose="020B0604020202020204" pitchFamily="34" charset="0"/>
              <a:buChar char="•"/>
            </a:pPr>
            <a:r>
              <a:rPr lang="en-IN" sz="900" dirty="0">
                <a:latin typeface="Arial" panose="020B0604020202020204" pitchFamily="34" charset="0"/>
                <a:cs typeface="Arial" panose="020B0604020202020204" pitchFamily="34" charset="0"/>
              </a:rPr>
              <a:t>Career Goal </a:t>
            </a:r>
          </a:p>
          <a:p>
            <a:pPr marL="171450" indent="-171450">
              <a:buFont typeface="Arial" panose="020B0604020202020204" pitchFamily="34" charset="0"/>
              <a:buChar char="•"/>
            </a:pPr>
            <a:r>
              <a:rPr lang="en-IN" sz="900" dirty="0">
                <a:latin typeface="Arial" panose="020B0604020202020204" pitchFamily="34" charset="0"/>
                <a:cs typeface="Arial" panose="020B0604020202020204" pitchFamily="34" charset="0"/>
              </a:rPr>
              <a:t>Self declared </a:t>
            </a:r>
          </a:p>
          <a:p>
            <a:r>
              <a:rPr lang="en-IN" sz="900" dirty="0">
                <a:latin typeface="Arial" panose="020B0604020202020204" pitchFamily="34" charset="0"/>
                <a:cs typeface="Arial" panose="020B0604020202020204" pitchFamily="34" charset="0"/>
              </a:rPr>
              <a:t>     skills </a:t>
            </a:r>
          </a:p>
          <a:p>
            <a:pPr marL="171450" indent="-171450">
              <a:buFont typeface="Arial" panose="020B0604020202020204" pitchFamily="34" charset="0"/>
              <a:buChar char="•"/>
            </a:pPr>
            <a:r>
              <a:rPr lang="en-IN" sz="900" dirty="0">
                <a:latin typeface="Arial" panose="020B0604020202020204" pitchFamily="34" charset="0"/>
                <a:cs typeface="Arial" panose="020B0604020202020204" pitchFamily="34" charset="0"/>
              </a:rPr>
              <a:t>Onboarding completion</a:t>
            </a:r>
          </a:p>
        </p:txBody>
      </p:sp>
      <p:pic>
        <p:nvPicPr>
          <p:cNvPr id="257" name="Picture 256" descr="a_clean_vector_logo_graphic_on_a_white_background.png">
            <a:extLst>
              <a:ext uri="{FF2B5EF4-FFF2-40B4-BE49-F238E27FC236}">
                <a16:creationId xmlns:a16="http://schemas.microsoft.com/office/drawing/2014/main" id="{508DB266-EC9E-6B28-1F89-597536F777BB}"/>
              </a:ext>
            </a:extLst>
          </p:cNvPr>
          <p:cNvPicPr>
            <a:picLocks noChangeAspect="1"/>
          </p:cNvPicPr>
          <p:nvPr/>
        </p:nvPicPr>
        <p:blipFill>
          <a:blip r:embed="rId66"/>
          <a:stretch>
            <a:fillRect/>
          </a:stretch>
        </p:blipFill>
        <p:spPr>
          <a:xfrm>
            <a:off x="10487829" y="13716"/>
            <a:ext cx="1691640" cy="950976"/>
          </a:xfrm>
          <a:prstGeom prst="rect">
            <a:avLst/>
          </a:prstGeom>
        </p:spPr>
      </p:pic>
      <p:sp>
        <p:nvSpPr>
          <p:cNvPr id="259" name="TextBox 258">
            <a:extLst>
              <a:ext uri="{FF2B5EF4-FFF2-40B4-BE49-F238E27FC236}">
                <a16:creationId xmlns:a16="http://schemas.microsoft.com/office/drawing/2014/main" id="{BCDCDC33-F509-A0E1-2EDA-3D4C56D122AD}"/>
              </a:ext>
            </a:extLst>
          </p:cNvPr>
          <p:cNvSpPr txBox="1"/>
          <p:nvPr/>
        </p:nvSpPr>
        <p:spPr>
          <a:xfrm>
            <a:off x="1394686" y="2289381"/>
            <a:ext cx="1475305" cy="861774"/>
          </a:xfrm>
          <a:prstGeom prst="rect">
            <a:avLst/>
          </a:prstGeom>
          <a:noFill/>
        </p:spPr>
        <p:txBody>
          <a:bodyPr wrap="square" rtlCol="0">
            <a:spAutoFit/>
          </a:bodyPr>
          <a:lstStyle/>
          <a:p>
            <a:pPr marL="171450" indent="-171450">
              <a:buFont typeface="Arial" panose="020B0604020202020204" pitchFamily="34" charset="0"/>
              <a:buChar char="•"/>
            </a:pPr>
            <a:r>
              <a:rPr lang="en-IN" sz="1000" dirty="0">
                <a:latin typeface="Arial" panose="020B0604020202020204" pitchFamily="34" charset="0"/>
                <a:cs typeface="Arial" panose="020B0604020202020204" pitchFamily="34" charset="0"/>
              </a:rPr>
              <a:t>20-30 question </a:t>
            </a:r>
          </a:p>
          <a:p>
            <a:pPr marL="171450" indent="-171450">
              <a:buFont typeface="Arial" panose="020B0604020202020204" pitchFamily="34" charset="0"/>
              <a:buChar char="•"/>
            </a:pPr>
            <a:r>
              <a:rPr lang="en-IN" sz="1000" dirty="0">
                <a:latin typeface="Arial" panose="020B0604020202020204" pitchFamily="34" charset="0"/>
                <a:cs typeface="Arial" panose="020B0604020202020204" pitchFamily="34" charset="0"/>
              </a:rPr>
              <a:t>Adaptive difficulty</a:t>
            </a:r>
          </a:p>
          <a:p>
            <a:pPr marL="171450" indent="-171450">
              <a:buFont typeface="Arial" panose="020B0604020202020204" pitchFamily="34" charset="0"/>
              <a:buChar char="•"/>
            </a:pPr>
            <a:r>
              <a:rPr lang="en-IN" sz="1000" dirty="0">
                <a:latin typeface="Arial" panose="020B0604020202020204" pitchFamily="34" charset="0"/>
                <a:cs typeface="Arial" panose="020B0604020202020204" pitchFamily="34" charset="0"/>
              </a:rPr>
              <a:t>Server side score</a:t>
            </a:r>
          </a:p>
          <a:p>
            <a:pPr marL="171450" indent="-171450">
              <a:buFont typeface="Arial" panose="020B0604020202020204" pitchFamily="34" charset="0"/>
              <a:buChar char="•"/>
            </a:pPr>
            <a:r>
              <a:rPr lang="en-IN" sz="1000" dirty="0">
                <a:latin typeface="Arial" panose="020B0604020202020204" pitchFamily="34" charset="0"/>
                <a:cs typeface="Arial" panose="020B0604020202020204" pitchFamily="34" charset="0"/>
              </a:rPr>
              <a:t>Topic / skill</a:t>
            </a:r>
          </a:p>
          <a:p>
            <a:r>
              <a:rPr lang="en-IN" sz="1000" dirty="0">
                <a:latin typeface="Arial" panose="020B0604020202020204" pitchFamily="34" charset="0"/>
                <a:cs typeface="Arial" panose="020B0604020202020204" pitchFamily="34" charset="0"/>
              </a:rPr>
              <a:t>      based</a:t>
            </a:r>
          </a:p>
        </p:txBody>
      </p:sp>
      <p:sp>
        <p:nvSpPr>
          <p:cNvPr id="262" name="TextBox 261">
            <a:extLst>
              <a:ext uri="{FF2B5EF4-FFF2-40B4-BE49-F238E27FC236}">
                <a16:creationId xmlns:a16="http://schemas.microsoft.com/office/drawing/2014/main" id="{FCD39913-AFA7-DFCB-14BD-8B4298B9BC1A}"/>
              </a:ext>
            </a:extLst>
          </p:cNvPr>
          <p:cNvSpPr txBox="1"/>
          <p:nvPr/>
        </p:nvSpPr>
        <p:spPr>
          <a:xfrm>
            <a:off x="2678287" y="2255430"/>
            <a:ext cx="1431768" cy="1169551"/>
          </a:xfrm>
          <a:prstGeom prst="rect">
            <a:avLst/>
          </a:prstGeom>
          <a:noFill/>
        </p:spPr>
        <p:txBody>
          <a:bodyPr wrap="square" rtlCol="0">
            <a:spAutoFit/>
          </a:bodyPr>
          <a:lstStyle/>
          <a:p>
            <a:pPr marL="171450" indent="-171450">
              <a:buFont typeface="Arial" panose="020B0604020202020204" pitchFamily="34" charset="0"/>
              <a:buChar char="•"/>
            </a:pPr>
            <a:r>
              <a:rPr lang="en-IN" sz="1000" dirty="0"/>
              <a:t> Proficiency &amp;    confidence</a:t>
            </a:r>
          </a:p>
          <a:p>
            <a:pPr marL="171450" indent="-171450">
              <a:buFont typeface="Arial" panose="020B0604020202020204" pitchFamily="34" charset="0"/>
              <a:buChar char="•"/>
            </a:pPr>
            <a:r>
              <a:rPr lang="en-IN" sz="1000" dirty="0"/>
              <a:t>Skill gap analysis</a:t>
            </a:r>
          </a:p>
          <a:p>
            <a:pPr marL="171450" indent="-171450">
              <a:buFont typeface="Arial" panose="020B0604020202020204" pitchFamily="34" charset="0"/>
              <a:buChar char="•"/>
            </a:pPr>
            <a:r>
              <a:rPr lang="en-IN" sz="1000" dirty="0"/>
              <a:t>Target requirement</a:t>
            </a:r>
          </a:p>
          <a:p>
            <a:pPr marL="171450" indent="-171450">
              <a:buFont typeface="Arial" panose="020B0604020202020204" pitchFamily="34" charset="0"/>
              <a:buChar char="•"/>
            </a:pPr>
            <a:r>
              <a:rPr lang="en-IN" sz="1000" dirty="0"/>
              <a:t>Career readiness </a:t>
            </a:r>
          </a:p>
          <a:p>
            <a:r>
              <a:rPr lang="en-IN" sz="1000" dirty="0"/>
              <a:t>      score </a:t>
            </a:r>
          </a:p>
          <a:p>
            <a:endParaRPr lang="en-IN" sz="1000" dirty="0"/>
          </a:p>
        </p:txBody>
      </p:sp>
      <p:sp>
        <p:nvSpPr>
          <p:cNvPr id="264" name="TextBox 263">
            <a:extLst>
              <a:ext uri="{FF2B5EF4-FFF2-40B4-BE49-F238E27FC236}">
                <a16:creationId xmlns:a16="http://schemas.microsoft.com/office/drawing/2014/main" id="{AF3F6216-8115-9EB3-D29B-C469BF375A0B}"/>
              </a:ext>
            </a:extLst>
          </p:cNvPr>
          <p:cNvSpPr txBox="1"/>
          <p:nvPr/>
        </p:nvSpPr>
        <p:spPr>
          <a:xfrm>
            <a:off x="4093206" y="2255430"/>
            <a:ext cx="1301754" cy="900246"/>
          </a:xfrm>
          <a:prstGeom prst="rect">
            <a:avLst/>
          </a:prstGeom>
          <a:noFill/>
        </p:spPr>
        <p:txBody>
          <a:bodyPr wrap="square" rtlCol="0">
            <a:spAutoFit/>
          </a:bodyPr>
          <a:lstStyle/>
          <a:p>
            <a:pPr marL="171450" indent="-171450">
              <a:buFont typeface="Arial" panose="020B0604020202020204" pitchFamily="34" charset="0"/>
              <a:buChar char="•"/>
            </a:pPr>
            <a:r>
              <a:rPr lang="en-IN" sz="1050" dirty="0"/>
              <a:t>Learning resources</a:t>
            </a:r>
          </a:p>
          <a:p>
            <a:pPr marL="171450" indent="-171450">
              <a:buFont typeface="Arial" panose="020B0604020202020204" pitchFamily="34" charset="0"/>
              <a:buChar char="•"/>
            </a:pPr>
            <a:r>
              <a:rPr lang="en-IN" sz="1050" dirty="0"/>
              <a:t>Tests &amp; Practices</a:t>
            </a:r>
          </a:p>
          <a:p>
            <a:pPr marL="171450" indent="-171450">
              <a:buFont typeface="Arial" panose="020B0604020202020204" pitchFamily="34" charset="0"/>
              <a:buChar char="•"/>
            </a:pPr>
            <a:r>
              <a:rPr lang="en-IN" sz="1050" dirty="0"/>
              <a:t>Daily Planner </a:t>
            </a:r>
          </a:p>
          <a:p>
            <a:pPr marL="171450" indent="-171450">
              <a:buFont typeface="Arial" panose="020B0604020202020204" pitchFamily="34" charset="0"/>
              <a:buChar char="•"/>
            </a:pPr>
            <a:r>
              <a:rPr lang="en-IN" sz="1050" dirty="0"/>
              <a:t>Streak &amp; XP</a:t>
            </a:r>
          </a:p>
        </p:txBody>
      </p:sp>
      <p:grpSp>
        <p:nvGrpSpPr>
          <p:cNvPr id="3" name="Group 2">
            <a:extLst>
              <a:ext uri="{FF2B5EF4-FFF2-40B4-BE49-F238E27FC236}">
                <a16:creationId xmlns:a16="http://schemas.microsoft.com/office/drawing/2014/main" id="{0B323AE6-23DA-B82B-2B01-6D11F80CA47C}"/>
              </a:ext>
            </a:extLst>
          </p:cNvPr>
          <p:cNvGrpSpPr/>
          <p:nvPr/>
        </p:nvGrpSpPr>
        <p:grpSpPr>
          <a:xfrm>
            <a:off x="5501654" y="2142463"/>
            <a:ext cx="1992008" cy="1297070"/>
            <a:chOff x="5501654" y="2142463"/>
            <a:chExt cx="1992008" cy="1297070"/>
          </a:xfrm>
        </p:grpSpPr>
        <p:sp>
          <p:nvSpPr>
            <p:cNvPr id="59" name="TextBox 58"/>
            <p:cNvSpPr txBox="1"/>
            <p:nvPr/>
          </p:nvSpPr>
          <p:spPr>
            <a:xfrm>
              <a:off x="5647008" y="2142463"/>
              <a:ext cx="1368553" cy="184666"/>
            </a:xfrm>
            <a:prstGeom prst="rect">
              <a:avLst/>
            </a:prstGeom>
            <a:noFill/>
          </p:spPr>
          <p:txBody>
            <a:bodyPr wrap="square" lIns="22860" tIns="22860" rIns="22860" bIns="22860" anchor="ctr">
              <a:spAutoFit/>
            </a:bodyPr>
            <a:lstStyle/>
            <a:p>
              <a:pPr algn="l"/>
              <a:r>
                <a:rPr sz="900" b="1" dirty="0">
                  <a:solidFill>
                    <a:srgbClr val="E54749"/>
                  </a:solidFill>
                  <a:latin typeface="Aptos"/>
                </a:rPr>
                <a:t>CAREER OUTCOMS</a:t>
              </a:r>
            </a:p>
          </p:txBody>
        </p:sp>
        <p:sp>
          <p:nvSpPr>
            <p:cNvPr id="267" name="TextBox 266">
              <a:extLst>
                <a:ext uri="{FF2B5EF4-FFF2-40B4-BE49-F238E27FC236}">
                  <a16:creationId xmlns:a16="http://schemas.microsoft.com/office/drawing/2014/main" id="{02C5A7E1-577E-CE78-F216-916DCF37C66D}"/>
                </a:ext>
              </a:extLst>
            </p:cNvPr>
            <p:cNvSpPr txBox="1"/>
            <p:nvPr/>
          </p:nvSpPr>
          <p:spPr>
            <a:xfrm>
              <a:off x="5501654" y="2331537"/>
              <a:ext cx="1992008" cy="1107996"/>
            </a:xfrm>
            <a:prstGeom prst="rect">
              <a:avLst/>
            </a:prstGeom>
            <a:noFill/>
          </p:spPr>
          <p:txBody>
            <a:bodyPr wrap="square" rtlCol="0">
              <a:spAutoFit/>
            </a:bodyPr>
            <a:lstStyle/>
            <a:p>
              <a:pPr marL="171450" indent="-171450">
                <a:buFont typeface="Arial" panose="020B0604020202020204" pitchFamily="34" charset="0"/>
                <a:buChar char="•"/>
              </a:pPr>
              <a:r>
                <a:rPr lang="en-IN" sz="1100" dirty="0"/>
                <a:t>Jobs &amp; Internship</a:t>
              </a:r>
            </a:p>
            <a:p>
              <a:pPr marL="171450" indent="-171450">
                <a:buFont typeface="Arial" panose="020B0604020202020204" pitchFamily="34" charset="0"/>
                <a:buChar char="•"/>
              </a:pPr>
              <a:r>
                <a:rPr lang="en-IN" sz="1100" dirty="0"/>
                <a:t>Resume &amp; internship</a:t>
              </a:r>
            </a:p>
            <a:p>
              <a:pPr marL="171450" indent="-171450">
                <a:buFont typeface="Arial" panose="020B0604020202020204" pitchFamily="34" charset="0"/>
                <a:buChar char="•"/>
              </a:pPr>
              <a:r>
                <a:rPr lang="en-IN" sz="1100" dirty="0"/>
                <a:t>Mock Interviews</a:t>
              </a:r>
            </a:p>
            <a:p>
              <a:pPr marL="171450" indent="-171450">
                <a:buFont typeface="Arial" panose="020B0604020202020204" pitchFamily="34" charset="0"/>
                <a:buChar char="•"/>
              </a:pPr>
              <a:r>
                <a:rPr lang="en-IN" sz="1100" dirty="0"/>
                <a:t>Career Guidance</a:t>
              </a:r>
            </a:p>
            <a:p>
              <a:pPr marL="171450" indent="-171450">
                <a:buFont typeface="Arial" panose="020B0604020202020204" pitchFamily="34" charset="0"/>
                <a:buChar char="•"/>
              </a:pPr>
              <a:endParaRPr lang="en-IN" sz="1100" dirty="0"/>
            </a:p>
            <a:p>
              <a:pPr marL="171450" indent="-171450">
                <a:buFont typeface="Arial" panose="020B0604020202020204" pitchFamily="34" charset="0"/>
                <a:buChar char="•"/>
              </a:pPr>
              <a:endParaRPr lang="en-IN" sz="1100" dirty="0"/>
            </a:p>
          </p:txBody>
        </p:sp>
      </p:grpSp>
      <p:sp>
        <p:nvSpPr>
          <p:cNvPr id="271" name="TextBox 270">
            <a:extLst>
              <a:ext uri="{FF2B5EF4-FFF2-40B4-BE49-F238E27FC236}">
                <a16:creationId xmlns:a16="http://schemas.microsoft.com/office/drawing/2014/main" id="{7C50926E-7FA1-5472-2516-01875DFE7893}"/>
              </a:ext>
            </a:extLst>
          </p:cNvPr>
          <p:cNvSpPr txBox="1"/>
          <p:nvPr/>
        </p:nvSpPr>
        <p:spPr>
          <a:xfrm>
            <a:off x="284909" y="4159884"/>
            <a:ext cx="987091" cy="1061829"/>
          </a:xfrm>
          <a:prstGeom prst="rect">
            <a:avLst/>
          </a:prstGeom>
          <a:noFill/>
        </p:spPr>
        <p:txBody>
          <a:bodyPr wrap="square" rtlCol="0">
            <a:spAutoFit/>
          </a:bodyPr>
          <a:lstStyle/>
          <a:p>
            <a:pPr marL="171450" indent="-171450">
              <a:buFont typeface="Arial" panose="020B0604020202020204" pitchFamily="34" charset="0"/>
              <a:buChar char="•"/>
            </a:pPr>
            <a:r>
              <a:rPr lang="en-IN" sz="900" dirty="0">
                <a:latin typeface="Arial" panose="020B0604020202020204" pitchFamily="34" charset="0"/>
                <a:cs typeface="Arial" panose="020B0604020202020204" pitchFamily="34" charset="0"/>
              </a:rPr>
              <a:t>Secure API</a:t>
            </a:r>
          </a:p>
          <a:p>
            <a:pPr marL="171450" indent="-171450">
              <a:buFont typeface="Arial" panose="020B0604020202020204" pitchFamily="34" charset="0"/>
              <a:buChar char="•"/>
            </a:pPr>
            <a:r>
              <a:rPr lang="en-IN" sz="900" dirty="0">
                <a:latin typeface="Arial" panose="020B0604020202020204" pitchFamily="34" charset="0"/>
                <a:cs typeface="Arial" panose="020B0604020202020204" pitchFamily="34" charset="0"/>
              </a:rPr>
              <a:t>Modular </a:t>
            </a:r>
          </a:p>
          <a:p>
            <a:r>
              <a:rPr lang="en-IN" sz="900" dirty="0">
                <a:latin typeface="Arial" panose="020B0604020202020204" pitchFamily="34" charset="0"/>
                <a:cs typeface="Arial" panose="020B0604020202020204" pitchFamily="34" charset="0"/>
              </a:rPr>
              <a:t>     Architecture</a:t>
            </a:r>
          </a:p>
          <a:p>
            <a:pPr marL="171450" indent="-171450">
              <a:buFont typeface="Arial" panose="020B0604020202020204" pitchFamily="34" charset="0"/>
              <a:buChar char="•"/>
            </a:pPr>
            <a:r>
              <a:rPr lang="en-IN" sz="900" dirty="0">
                <a:latin typeface="Arial" panose="020B0604020202020204" pitchFamily="34" charset="0"/>
                <a:cs typeface="Arial" panose="020B0604020202020204" pitchFamily="34" charset="0"/>
              </a:rPr>
              <a:t>Business </a:t>
            </a:r>
          </a:p>
          <a:p>
            <a:r>
              <a:rPr lang="en-IN" sz="900" dirty="0">
                <a:latin typeface="Arial" panose="020B0604020202020204" pitchFamily="34" charset="0"/>
                <a:cs typeface="Arial" panose="020B0604020202020204" pitchFamily="34" charset="0"/>
              </a:rPr>
              <a:t>     logic layer</a:t>
            </a:r>
          </a:p>
          <a:p>
            <a:pPr marL="171450" indent="-171450">
              <a:buFont typeface="Arial" panose="020B0604020202020204" pitchFamily="34" charset="0"/>
              <a:buChar char="•"/>
            </a:pPr>
            <a:r>
              <a:rPr lang="en-IN" sz="900" dirty="0">
                <a:latin typeface="Arial" panose="020B0604020202020204" pitchFamily="34" charset="0"/>
                <a:cs typeface="Arial" panose="020B0604020202020204" pitchFamily="34" charset="0"/>
              </a:rPr>
              <a:t>Clear code</a:t>
            </a:r>
          </a:p>
          <a:p>
            <a:endParaRPr lang="en-IN" sz="900" dirty="0"/>
          </a:p>
        </p:txBody>
      </p:sp>
      <p:sp>
        <p:nvSpPr>
          <p:cNvPr id="273" name="TextBox 272">
            <a:extLst>
              <a:ext uri="{FF2B5EF4-FFF2-40B4-BE49-F238E27FC236}">
                <a16:creationId xmlns:a16="http://schemas.microsoft.com/office/drawing/2014/main" id="{5FADCC29-F327-7401-2420-FCA0882C4C5A}"/>
              </a:ext>
            </a:extLst>
          </p:cNvPr>
          <p:cNvSpPr txBox="1"/>
          <p:nvPr/>
        </p:nvSpPr>
        <p:spPr>
          <a:xfrm>
            <a:off x="1478712" y="4099271"/>
            <a:ext cx="1073205" cy="1200329"/>
          </a:xfrm>
          <a:prstGeom prst="rect">
            <a:avLst/>
          </a:prstGeom>
          <a:noFill/>
        </p:spPr>
        <p:txBody>
          <a:bodyPr wrap="square" rtlCol="0">
            <a:spAutoFit/>
          </a:bodyPr>
          <a:lstStyle/>
          <a:p>
            <a:pPr marL="171450" indent="-171450">
              <a:buFont typeface="Arial" panose="020B0604020202020204" pitchFamily="34" charset="0"/>
              <a:buChar char="•"/>
            </a:pPr>
            <a:r>
              <a:rPr lang="en-US" sz="900" dirty="0"/>
              <a:t>RBAC Authorization·</a:t>
            </a:r>
          </a:p>
          <a:p>
            <a:pPr marL="171450" indent="-171450">
              <a:buFont typeface="Arial" panose="020B0604020202020204" pitchFamily="34" charset="0"/>
              <a:buChar char="•"/>
            </a:pPr>
            <a:r>
              <a:rPr lang="en-US" sz="900" dirty="0"/>
              <a:t>.JWT / Session Management·</a:t>
            </a:r>
          </a:p>
          <a:p>
            <a:pPr marL="171450" indent="-171450">
              <a:buFont typeface="Arial" panose="020B0604020202020204" pitchFamily="34" charset="0"/>
              <a:buChar char="•"/>
            </a:pPr>
            <a:r>
              <a:rPr lang="en-US" sz="900" dirty="0"/>
              <a:t> Rate Limiting.</a:t>
            </a:r>
          </a:p>
          <a:p>
            <a:pPr marL="171450" indent="-171450">
              <a:buFont typeface="Arial" panose="020B0604020202020204" pitchFamily="34" charset="0"/>
              <a:buChar char="•"/>
            </a:pPr>
            <a:r>
              <a:rPr lang="en-US" sz="900" dirty="0"/>
              <a:t> Brute Force Protection·</a:t>
            </a:r>
          </a:p>
          <a:p>
            <a:pPr marL="171450" indent="-171450">
              <a:buFont typeface="Arial" panose="020B0604020202020204" pitchFamily="34" charset="0"/>
              <a:buChar char="•"/>
            </a:pPr>
            <a:r>
              <a:rPr lang="en-US" sz="900" dirty="0"/>
              <a:t>Data Validation</a:t>
            </a:r>
            <a:endParaRPr lang="en-IN" sz="900" dirty="0"/>
          </a:p>
        </p:txBody>
      </p:sp>
      <p:sp>
        <p:nvSpPr>
          <p:cNvPr id="10" name="TextBox 9">
            <a:extLst>
              <a:ext uri="{FF2B5EF4-FFF2-40B4-BE49-F238E27FC236}">
                <a16:creationId xmlns:a16="http://schemas.microsoft.com/office/drawing/2014/main" id="{A0B1CCE0-4397-9839-18B8-F446C4008B90}"/>
              </a:ext>
            </a:extLst>
          </p:cNvPr>
          <p:cNvSpPr txBox="1"/>
          <p:nvPr/>
        </p:nvSpPr>
        <p:spPr>
          <a:xfrm>
            <a:off x="2828538" y="4213372"/>
            <a:ext cx="1153321" cy="1223412"/>
          </a:xfrm>
          <a:prstGeom prst="rect">
            <a:avLst/>
          </a:prstGeom>
          <a:noFill/>
        </p:spPr>
        <p:txBody>
          <a:bodyPr wrap="square" rtlCol="0">
            <a:spAutoFit/>
          </a:bodyPr>
          <a:lstStyle/>
          <a:p>
            <a:pPr marL="171450" indent="-171450">
              <a:buFont typeface="Arial" panose="020B0604020202020204" pitchFamily="34" charset="0"/>
              <a:buChar char="•"/>
            </a:pPr>
            <a:r>
              <a:rPr lang="en-IN" sz="1050" dirty="0"/>
              <a:t>AI question</a:t>
            </a:r>
          </a:p>
          <a:p>
            <a:r>
              <a:rPr lang="en-IN" sz="1050" dirty="0"/>
              <a:t>     generation</a:t>
            </a:r>
          </a:p>
          <a:p>
            <a:pPr marL="171450" indent="-171450">
              <a:buFont typeface="Arial" panose="020B0604020202020204" pitchFamily="34" charset="0"/>
              <a:buChar char="•"/>
            </a:pPr>
            <a:r>
              <a:rPr lang="en-IN" sz="1050" dirty="0"/>
              <a:t>Adaptive</a:t>
            </a:r>
          </a:p>
          <a:p>
            <a:r>
              <a:rPr lang="en-IN" sz="1050" dirty="0"/>
              <a:t>      Difficulty</a:t>
            </a:r>
          </a:p>
          <a:p>
            <a:pPr marL="171450" indent="-171450">
              <a:buFont typeface="Arial" panose="020B0604020202020204" pitchFamily="34" charset="0"/>
              <a:buChar char="•"/>
            </a:pPr>
            <a:r>
              <a:rPr lang="en-IN" sz="1050" dirty="0"/>
              <a:t>Server Side</a:t>
            </a:r>
          </a:p>
          <a:p>
            <a:r>
              <a:rPr lang="en-IN" sz="1050" dirty="0"/>
              <a:t>     Evaluation</a:t>
            </a:r>
          </a:p>
          <a:p>
            <a:endParaRPr lang="en-IN" sz="1050" dirty="0"/>
          </a:p>
        </p:txBody>
      </p:sp>
      <p:sp>
        <p:nvSpPr>
          <p:cNvPr id="11" name="TextBox 10">
            <a:extLst>
              <a:ext uri="{FF2B5EF4-FFF2-40B4-BE49-F238E27FC236}">
                <a16:creationId xmlns:a16="http://schemas.microsoft.com/office/drawing/2014/main" id="{D72CAD3C-CDF3-2D64-CFD9-F76063FBB1CA}"/>
              </a:ext>
            </a:extLst>
          </p:cNvPr>
          <p:cNvSpPr txBox="1"/>
          <p:nvPr/>
        </p:nvSpPr>
        <p:spPr>
          <a:xfrm>
            <a:off x="4072195" y="3860927"/>
            <a:ext cx="1464548" cy="369332"/>
          </a:xfrm>
          <a:prstGeom prst="rect">
            <a:avLst/>
          </a:prstGeom>
          <a:noFill/>
        </p:spPr>
        <p:txBody>
          <a:bodyPr wrap="square" rtlCol="0">
            <a:spAutoFit/>
          </a:bodyPr>
          <a:lstStyle/>
          <a:p>
            <a:pPr marL="285750" indent="-285750">
              <a:buFont typeface="Arial" panose="020B0604020202020204" pitchFamily="34" charset="0"/>
              <a:buChar char="•"/>
            </a:pPr>
            <a:endParaRPr lang="en-IN" dirty="0"/>
          </a:p>
        </p:txBody>
      </p:sp>
      <p:sp>
        <p:nvSpPr>
          <p:cNvPr id="22" name="TextBox 21">
            <a:extLst>
              <a:ext uri="{FF2B5EF4-FFF2-40B4-BE49-F238E27FC236}">
                <a16:creationId xmlns:a16="http://schemas.microsoft.com/office/drawing/2014/main" id="{03199145-36BA-4798-C33E-636F5ABC9740}"/>
              </a:ext>
            </a:extLst>
          </p:cNvPr>
          <p:cNvSpPr txBox="1"/>
          <p:nvPr/>
        </p:nvSpPr>
        <p:spPr>
          <a:xfrm>
            <a:off x="4044733" y="4096980"/>
            <a:ext cx="1342311" cy="1323439"/>
          </a:xfrm>
          <a:prstGeom prst="rect">
            <a:avLst/>
          </a:prstGeom>
          <a:noFill/>
        </p:spPr>
        <p:txBody>
          <a:bodyPr wrap="square" rtlCol="0">
            <a:spAutoFit/>
          </a:bodyPr>
          <a:lstStyle/>
          <a:p>
            <a:pPr marL="171450" indent="-171450">
              <a:buFont typeface="Arial" panose="020B0604020202020204" pitchFamily="34" charset="0"/>
              <a:buChar char="•"/>
            </a:pPr>
            <a:r>
              <a:rPr lang="en-IN" sz="1000" dirty="0"/>
              <a:t>Proficiency calculations</a:t>
            </a:r>
          </a:p>
          <a:p>
            <a:pPr marL="171450" indent="-171450">
              <a:buFont typeface="Arial" panose="020B0604020202020204" pitchFamily="34" charset="0"/>
              <a:buChar char="•"/>
            </a:pPr>
            <a:r>
              <a:rPr lang="en-IN" sz="1000" dirty="0"/>
              <a:t>Gap Analysis</a:t>
            </a:r>
          </a:p>
          <a:p>
            <a:pPr marL="171450" indent="-171450">
              <a:buFont typeface="Arial" panose="020B0604020202020204" pitchFamily="34" charset="0"/>
              <a:buChar char="•"/>
            </a:pPr>
            <a:r>
              <a:rPr lang="en-IN" sz="1000" dirty="0"/>
              <a:t>Target </a:t>
            </a:r>
          </a:p>
          <a:p>
            <a:r>
              <a:rPr lang="en-IN" sz="1000" dirty="0"/>
              <a:t>      Requirements</a:t>
            </a:r>
          </a:p>
          <a:p>
            <a:pPr marL="171450" indent="-171450">
              <a:buFont typeface="Arial" panose="020B0604020202020204" pitchFamily="34" charset="0"/>
              <a:buChar char="•"/>
            </a:pPr>
            <a:r>
              <a:rPr lang="en-IN" sz="1000" dirty="0"/>
              <a:t>Evidence</a:t>
            </a:r>
          </a:p>
          <a:p>
            <a:r>
              <a:rPr lang="en-IN" sz="1000" dirty="0"/>
              <a:t>      processing</a:t>
            </a:r>
          </a:p>
          <a:p>
            <a:endParaRPr lang="en-IN" sz="1000" dirty="0"/>
          </a:p>
        </p:txBody>
      </p:sp>
      <p:sp>
        <p:nvSpPr>
          <p:cNvPr id="26" name="TextBox 25">
            <a:extLst>
              <a:ext uri="{FF2B5EF4-FFF2-40B4-BE49-F238E27FC236}">
                <a16:creationId xmlns:a16="http://schemas.microsoft.com/office/drawing/2014/main" id="{AEE9387E-378B-F5F3-7C07-A06D2E73F114}"/>
              </a:ext>
            </a:extLst>
          </p:cNvPr>
          <p:cNvSpPr txBox="1"/>
          <p:nvPr/>
        </p:nvSpPr>
        <p:spPr>
          <a:xfrm>
            <a:off x="5225762" y="4165737"/>
            <a:ext cx="1472872" cy="707886"/>
          </a:xfrm>
          <a:prstGeom prst="rect">
            <a:avLst/>
          </a:prstGeom>
          <a:noFill/>
        </p:spPr>
        <p:txBody>
          <a:bodyPr wrap="square" rtlCol="0">
            <a:spAutoFit/>
          </a:bodyPr>
          <a:lstStyle/>
          <a:p>
            <a:pPr marL="171450" indent="-171450">
              <a:buFont typeface="Arial" panose="020B0604020202020204" pitchFamily="34" charset="0"/>
              <a:buChar char="•"/>
            </a:pPr>
            <a:r>
              <a:rPr lang="en-IN" sz="1000" dirty="0"/>
              <a:t>Relational DB</a:t>
            </a:r>
          </a:p>
          <a:p>
            <a:pPr marL="171450" indent="-171450">
              <a:buFont typeface="Arial" panose="020B0604020202020204" pitchFamily="34" charset="0"/>
              <a:buChar char="•"/>
            </a:pPr>
            <a:r>
              <a:rPr lang="en-IN" sz="1000" dirty="0"/>
              <a:t>Document Store</a:t>
            </a:r>
          </a:p>
          <a:p>
            <a:pPr marL="171450" indent="-171450">
              <a:buFont typeface="Arial" panose="020B0604020202020204" pitchFamily="34" charset="0"/>
              <a:buChar char="•"/>
            </a:pPr>
            <a:r>
              <a:rPr lang="en-IN" sz="1000" dirty="0"/>
              <a:t>File Storage </a:t>
            </a:r>
          </a:p>
          <a:p>
            <a:pPr marL="171450" indent="-171450">
              <a:buFont typeface="Arial" panose="020B0604020202020204" pitchFamily="34" charset="0"/>
              <a:buChar char="•"/>
            </a:pPr>
            <a:r>
              <a:rPr lang="en-IN" sz="1000" dirty="0"/>
              <a:t>Analytics DB</a:t>
            </a:r>
          </a:p>
        </p:txBody>
      </p:sp>
      <p:sp>
        <p:nvSpPr>
          <p:cNvPr id="33" name="TextBox 32">
            <a:extLst>
              <a:ext uri="{FF2B5EF4-FFF2-40B4-BE49-F238E27FC236}">
                <a16:creationId xmlns:a16="http://schemas.microsoft.com/office/drawing/2014/main" id="{EB1DFD98-F34E-108F-6D9A-8B1762786342}"/>
              </a:ext>
            </a:extLst>
          </p:cNvPr>
          <p:cNvSpPr txBox="1"/>
          <p:nvPr/>
        </p:nvSpPr>
        <p:spPr>
          <a:xfrm>
            <a:off x="6428531" y="4075486"/>
            <a:ext cx="1738127" cy="1169551"/>
          </a:xfrm>
          <a:prstGeom prst="rect">
            <a:avLst/>
          </a:prstGeom>
          <a:noFill/>
        </p:spPr>
        <p:txBody>
          <a:bodyPr wrap="square" rtlCol="0">
            <a:spAutoFit/>
          </a:bodyPr>
          <a:lstStyle/>
          <a:p>
            <a:pPr marL="171450" indent="-171450">
              <a:buFont typeface="Arial" panose="020B0604020202020204" pitchFamily="34" charset="0"/>
              <a:buChar char="•"/>
            </a:pPr>
            <a:r>
              <a:rPr lang="en-IN" sz="1000" dirty="0"/>
              <a:t>Unit &amp;</a:t>
            </a:r>
          </a:p>
          <a:p>
            <a:r>
              <a:rPr lang="en-IN" sz="1000" dirty="0"/>
              <a:t>      Integration</a:t>
            </a:r>
          </a:p>
          <a:p>
            <a:pPr marL="171450" indent="-171450">
              <a:buFont typeface="Arial" panose="020B0604020202020204" pitchFamily="34" charset="0"/>
              <a:buChar char="•"/>
            </a:pPr>
            <a:r>
              <a:rPr lang="en-IN" sz="1000" dirty="0"/>
              <a:t> Load &amp; </a:t>
            </a:r>
          </a:p>
          <a:p>
            <a:r>
              <a:rPr lang="en-IN" sz="1000" dirty="0"/>
              <a:t>       Performance</a:t>
            </a:r>
          </a:p>
          <a:p>
            <a:pPr marL="171450" indent="-171450">
              <a:buFont typeface="Arial" panose="020B0604020202020204" pitchFamily="34" charset="0"/>
              <a:buChar char="•"/>
            </a:pPr>
            <a:r>
              <a:rPr lang="en-IN" sz="1000" dirty="0"/>
              <a:t>Security Testing</a:t>
            </a:r>
          </a:p>
          <a:p>
            <a:pPr marL="171450" indent="-171450">
              <a:buFont typeface="Arial" panose="020B0604020202020204" pitchFamily="34" charset="0"/>
              <a:buChar char="•"/>
            </a:pPr>
            <a:r>
              <a:rPr lang="en-IN" sz="1000" dirty="0"/>
              <a:t>Monitoring &amp; </a:t>
            </a:r>
          </a:p>
          <a:p>
            <a:r>
              <a:rPr lang="en-IN" sz="1000" dirty="0"/>
              <a:t>      Analytics</a:t>
            </a:r>
          </a:p>
        </p:txBody>
      </p:sp>
      <p:sp>
        <p:nvSpPr>
          <p:cNvPr id="40" name="TextBox 39">
            <a:extLst>
              <a:ext uri="{FF2B5EF4-FFF2-40B4-BE49-F238E27FC236}">
                <a16:creationId xmlns:a16="http://schemas.microsoft.com/office/drawing/2014/main" id="{A76B880C-E73F-C692-5597-D4B74E7D5D37}"/>
              </a:ext>
            </a:extLst>
          </p:cNvPr>
          <p:cNvSpPr txBox="1"/>
          <p:nvPr/>
        </p:nvSpPr>
        <p:spPr>
          <a:xfrm>
            <a:off x="9003537" y="2487313"/>
            <a:ext cx="2388589" cy="253916"/>
          </a:xfrm>
          <a:prstGeom prst="rect">
            <a:avLst/>
          </a:prstGeom>
          <a:noFill/>
        </p:spPr>
        <p:txBody>
          <a:bodyPr wrap="square" rtlCol="0">
            <a:spAutoFit/>
          </a:bodyPr>
          <a:lstStyle/>
          <a:p>
            <a:r>
              <a:rPr lang="en-IN" sz="1050" b="1" dirty="0">
                <a:solidFill>
                  <a:srgbClr val="002060"/>
                </a:solidFill>
              </a:rPr>
              <a:t>SECURE API GATEWAY</a:t>
            </a:r>
          </a:p>
        </p:txBody>
      </p:sp>
      <p:sp>
        <p:nvSpPr>
          <p:cNvPr id="46" name="TextBox 45">
            <a:extLst>
              <a:ext uri="{FF2B5EF4-FFF2-40B4-BE49-F238E27FC236}">
                <a16:creationId xmlns:a16="http://schemas.microsoft.com/office/drawing/2014/main" id="{EA179524-7D0C-B1D8-8BA8-423F94EE010A}"/>
              </a:ext>
            </a:extLst>
          </p:cNvPr>
          <p:cNvSpPr txBox="1"/>
          <p:nvPr/>
        </p:nvSpPr>
        <p:spPr>
          <a:xfrm>
            <a:off x="8875850" y="2648228"/>
            <a:ext cx="4191904" cy="246221"/>
          </a:xfrm>
          <a:prstGeom prst="rect">
            <a:avLst/>
          </a:prstGeom>
          <a:noFill/>
        </p:spPr>
        <p:txBody>
          <a:bodyPr wrap="square" rtlCol="0">
            <a:spAutoFit/>
          </a:bodyPr>
          <a:lstStyle/>
          <a:p>
            <a:r>
              <a:rPr lang="en-IN" sz="1000" dirty="0">
                <a:solidFill>
                  <a:srgbClr val="002060"/>
                </a:solidFill>
              </a:rPr>
              <a:t>(Auth * </a:t>
            </a:r>
            <a:r>
              <a:rPr lang="en-IN" sz="1000" dirty="0" err="1">
                <a:solidFill>
                  <a:srgbClr val="002060"/>
                </a:solidFill>
              </a:rPr>
              <a:t>AuthZ</a:t>
            </a:r>
            <a:r>
              <a:rPr lang="en-IN" sz="1000" dirty="0">
                <a:solidFill>
                  <a:srgbClr val="002060"/>
                </a:solidFill>
              </a:rPr>
              <a:t> * Rate Limiting *Validation)</a:t>
            </a:r>
          </a:p>
        </p:txBody>
      </p:sp>
      <p:sp>
        <p:nvSpPr>
          <p:cNvPr id="51" name="TextBox 50">
            <a:extLst>
              <a:ext uri="{FF2B5EF4-FFF2-40B4-BE49-F238E27FC236}">
                <a16:creationId xmlns:a16="http://schemas.microsoft.com/office/drawing/2014/main" id="{788A8BAF-1B84-8BFC-36FC-72ABFC369D2B}"/>
              </a:ext>
            </a:extLst>
          </p:cNvPr>
          <p:cNvSpPr txBox="1"/>
          <p:nvPr/>
        </p:nvSpPr>
        <p:spPr>
          <a:xfrm>
            <a:off x="8860733" y="4771512"/>
            <a:ext cx="1692433" cy="307777"/>
          </a:xfrm>
          <a:prstGeom prst="rect">
            <a:avLst/>
          </a:prstGeom>
          <a:noFill/>
        </p:spPr>
        <p:txBody>
          <a:bodyPr wrap="square" rtlCol="0">
            <a:spAutoFit/>
          </a:bodyPr>
          <a:lstStyle/>
          <a:p>
            <a:r>
              <a:rPr lang="en-IN" sz="1400" b="1" dirty="0"/>
              <a:t>DATA </a:t>
            </a:r>
            <a:r>
              <a:rPr lang="en-IN" sz="1400" b="1" dirty="0">
                <a:solidFill>
                  <a:srgbClr val="002060"/>
                </a:solidFill>
              </a:rPr>
              <a:t>LAYER</a:t>
            </a:r>
          </a:p>
        </p:txBody>
      </p:sp>
      <p:sp>
        <p:nvSpPr>
          <p:cNvPr id="52" name="TextBox 51">
            <a:extLst>
              <a:ext uri="{FF2B5EF4-FFF2-40B4-BE49-F238E27FC236}">
                <a16:creationId xmlns:a16="http://schemas.microsoft.com/office/drawing/2014/main" id="{8A791D16-634F-9D82-7AE6-44136275646B}"/>
              </a:ext>
            </a:extLst>
          </p:cNvPr>
          <p:cNvSpPr txBox="1"/>
          <p:nvPr/>
        </p:nvSpPr>
        <p:spPr>
          <a:xfrm>
            <a:off x="8838461" y="4981806"/>
            <a:ext cx="3430507" cy="246221"/>
          </a:xfrm>
          <a:prstGeom prst="rect">
            <a:avLst/>
          </a:prstGeom>
          <a:noFill/>
        </p:spPr>
        <p:txBody>
          <a:bodyPr wrap="square" rtlCol="0">
            <a:spAutoFit/>
          </a:bodyPr>
          <a:lstStyle/>
          <a:p>
            <a:r>
              <a:rPr lang="en-IN" sz="1000" dirty="0"/>
              <a:t>(Relational + Document Database)</a:t>
            </a:r>
          </a:p>
        </p:txBody>
      </p:sp>
      <p:sp>
        <p:nvSpPr>
          <p:cNvPr id="53" name="TextBox 52">
            <a:extLst>
              <a:ext uri="{FF2B5EF4-FFF2-40B4-BE49-F238E27FC236}">
                <a16:creationId xmlns:a16="http://schemas.microsoft.com/office/drawing/2014/main" id="{FED0D246-A58D-CBC6-D0E5-D79643177157}"/>
              </a:ext>
            </a:extLst>
          </p:cNvPr>
          <p:cNvSpPr txBox="1"/>
          <p:nvPr/>
        </p:nvSpPr>
        <p:spPr>
          <a:xfrm>
            <a:off x="113536" y="97513"/>
            <a:ext cx="2705342" cy="261610"/>
          </a:xfrm>
          <a:prstGeom prst="rect">
            <a:avLst/>
          </a:prstGeom>
          <a:noFill/>
        </p:spPr>
        <p:txBody>
          <a:bodyPr wrap="square" rtlCol="0">
            <a:spAutoFit/>
          </a:bodyPr>
          <a:lstStyle/>
          <a:p>
            <a:r>
              <a:rPr lang="en-IN" sz="1100" b="1" dirty="0">
                <a:solidFill>
                  <a:srgbClr val="002060"/>
                </a:solidFill>
                <a:latin typeface="Arial" panose="020B0604020202020204" pitchFamily="34" charset="0"/>
                <a:cs typeface="Arial" panose="020B0604020202020204" pitchFamily="34" charset="0"/>
              </a:rPr>
              <a:t>THE TRICKSTERS !| SIH 26044</a:t>
            </a:r>
          </a:p>
        </p:txBody>
      </p:sp>
      <p:sp>
        <p:nvSpPr>
          <p:cNvPr id="56" name="TextBox 55">
            <a:extLst>
              <a:ext uri="{FF2B5EF4-FFF2-40B4-BE49-F238E27FC236}">
                <a16:creationId xmlns:a16="http://schemas.microsoft.com/office/drawing/2014/main" id="{E1A14734-0117-1A10-FD9C-08499AD33462}"/>
              </a:ext>
            </a:extLst>
          </p:cNvPr>
          <p:cNvSpPr txBox="1"/>
          <p:nvPr/>
        </p:nvSpPr>
        <p:spPr>
          <a:xfrm>
            <a:off x="628257" y="1765485"/>
            <a:ext cx="914400" cy="276999"/>
          </a:xfrm>
          <a:prstGeom prst="rect">
            <a:avLst/>
          </a:prstGeom>
          <a:noFill/>
        </p:spPr>
        <p:txBody>
          <a:bodyPr wrap="square" rtlCol="0">
            <a:spAutoFit/>
          </a:bodyPr>
          <a:lstStyle/>
          <a:p>
            <a:r>
              <a:rPr lang="en-IN" sz="1200" b="1" dirty="0">
                <a:solidFill>
                  <a:schemeClr val="bg1"/>
                </a:solidFill>
              </a:rPr>
              <a:t>01</a:t>
            </a:r>
          </a:p>
        </p:txBody>
      </p:sp>
      <p:pic>
        <p:nvPicPr>
          <p:cNvPr id="75" name="Picture 74" descr="A white line drawing of a person climbing up a ladder&#10;&#10;AI-generated content may be incorrect.">
            <a:extLst>
              <a:ext uri="{FF2B5EF4-FFF2-40B4-BE49-F238E27FC236}">
                <a16:creationId xmlns:a16="http://schemas.microsoft.com/office/drawing/2014/main" id="{D7B342A1-5536-C756-9DF8-96E2BCBFE4E9}"/>
              </a:ext>
            </a:extLst>
          </p:cNvPr>
          <p:cNvPicPr>
            <a:picLocks noChangeAspect="1"/>
          </p:cNvPicPr>
          <p:nvPr/>
        </p:nvPicPr>
        <p:blipFill>
          <a:blip r:embed="rId67"/>
          <a:stretch>
            <a:fillRect/>
          </a:stretch>
        </p:blipFill>
        <p:spPr>
          <a:xfrm>
            <a:off x="6114204" y="1337626"/>
            <a:ext cx="344094" cy="344094"/>
          </a:xfrm>
          <a:prstGeom prst="rect">
            <a:avLst/>
          </a:prstGeom>
        </p:spPr>
      </p:pic>
      <p:pic>
        <p:nvPicPr>
          <p:cNvPr id="82" name="Picture 81" descr="A white line drawing of a road&#10;&#10;AI-generated content may be incorrect.">
            <a:extLst>
              <a:ext uri="{FF2B5EF4-FFF2-40B4-BE49-F238E27FC236}">
                <a16:creationId xmlns:a16="http://schemas.microsoft.com/office/drawing/2014/main" id="{0273836C-B098-707A-F137-17A83070F3B6}"/>
              </a:ext>
            </a:extLst>
          </p:cNvPr>
          <p:cNvPicPr>
            <a:picLocks noChangeAspect="1"/>
          </p:cNvPicPr>
          <p:nvPr/>
        </p:nvPicPr>
        <p:blipFill>
          <a:blip r:embed="rId68"/>
          <a:stretch>
            <a:fillRect/>
          </a:stretch>
        </p:blipFill>
        <p:spPr>
          <a:xfrm>
            <a:off x="4683809" y="1370432"/>
            <a:ext cx="424774" cy="424774"/>
          </a:xfrm>
          <a:prstGeom prst="rect">
            <a:avLst/>
          </a:prstGeom>
        </p:spPr>
      </p:pic>
      <p:sp>
        <p:nvSpPr>
          <p:cNvPr id="17" name="TextBox 16">
            <a:extLst>
              <a:ext uri="{FF2B5EF4-FFF2-40B4-BE49-F238E27FC236}">
                <a16:creationId xmlns:a16="http://schemas.microsoft.com/office/drawing/2014/main" id="{3F78DE4E-4070-84B6-67D5-DA5B3E120A29}"/>
              </a:ext>
            </a:extLst>
          </p:cNvPr>
          <p:cNvSpPr txBox="1"/>
          <p:nvPr/>
        </p:nvSpPr>
        <p:spPr>
          <a:xfrm>
            <a:off x="425054" y="3671192"/>
            <a:ext cx="1561320" cy="215444"/>
          </a:xfrm>
          <a:prstGeom prst="rect">
            <a:avLst/>
          </a:prstGeom>
          <a:noFill/>
        </p:spPr>
        <p:txBody>
          <a:bodyPr wrap="square" rtlCol="0">
            <a:spAutoFit/>
          </a:bodyPr>
          <a:lstStyle/>
          <a:p>
            <a:r>
              <a:rPr lang="en-IN" sz="800" b="1" dirty="0">
                <a:latin typeface="Aptos" panose="020B0004020202020204" pitchFamily="34" charset="0"/>
              </a:rPr>
              <a:t>BACKEND</a:t>
            </a:r>
          </a:p>
        </p:txBody>
      </p:sp>
    </p:spTree>
    <p:extLst>
      <p:ext uri="{BB962C8B-B14F-4D97-AF65-F5344CB8AC3E}">
        <p14:creationId xmlns:p14="http://schemas.microsoft.com/office/powerpoint/2010/main" val="27670071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5317" y="139917"/>
            <a:ext cx="2286000" cy="261610"/>
          </a:xfrm>
          <a:prstGeom prst="rect">
            <a:avLst/>
          </a:prstGeom>
          <a:noFill/>
        </p:spPr>
        <p:txBody>
          <a:bodyPr wrap="square" anchor="ctr">
            <a:spAutoFit/>
          </a:bodyPr>
          <a:lstStyle/>
          <a:p>
            <a:pPr algn="l"/>
            <a:r>
              <a:rPr sz="1100" b="1" dirty="0">
                <a:solidFill>
                  <a:srgbClr val="082B5B"/>
                </a:solidFill>
                <a:latin typeface="Aptos"/>
              </a:rPr>
              <a:t>THE TRICKSTERS</a:t>
            </a:r>
            <a:r>
              <a:rPr lang="en-IN" sz="1100" b="1" dirty="0">
                <a:solidFill>
                  <a:srgbClr val="082B5B"/>
                </a:solidFill>
                <a:latin typeface="Aptos"/>
              </a:rPr>
              <a:t> !</a:t>
            </a:r>
            <a:r>
              <a:rPr sz="1100" b="1" dirty="0">
                <a:solidFill>
                  <a:srgbClr val="082B5B"/>
                </a:solidFill>
                <a:latin typeface="Aptos"/>
              </a:rPr>
              <a:t> | 26044</a:t>
            </a:r>
          </a:p>
        </p:txBody>
      </p:sp>
      <p:sp>
        <p:nvSpPr>
          <p:cNvPr id="3" name="TextBox 2"/>
          <p:cNvSpPr txBox="1"/>
          <p:nvPr/>
        </p:nvSpPr>
        <p:spPr>
          <a:xfrm>
            <a:off x="2359661" y="271230"/>
            <a:ext cx="7589520" cy="530352"/>
          </a:xfrm>
          <a:prstGeom prst="rect">
            <a:avLst/>
          </a:prstGeom>
          <a:noFill/>
        </p:spPr>
        <p:txBody>
          <a:bodyPr wrap="square" anchor="ctr">
            <a:spAutoFit/>
          </a:bodyPr>
          <a:lstStyle/>
          <a:p>
            <a:pPr algn="ctr"/>
            <a:r>
              <a:rPr sz="2900" b="1" dirty="0">
                <a:solidFill>
                  <a:srgbClr val="082B5B"/>
                </a:solidFill>
                <a:latin typeface="Georgia"/>
              </a:rPr>
              <a:t>FEASIBILITY AND VIABILITY</a:t>
            </a:r>
          </a:p>
        </p:txBody>
      </p:sp>
      <p:cxnSp>
        <p:nvCxnSpPr>
          <p:cNvPr id="6" name="Connector 5"/>
          <p:cNvCxnSpPr/>
          <p:nvPr/>
        </p:nvCxnSpPr>
        <p:spPr>
          <a:xfrm>
            <a:off x="5081" y="1023959"/>
            <a:ext cx="11795760" cy="0"/>
          </a:xfrm>
          <a:prstGeom prst="line">
            <a:avLst/>
          </a:prstGeom>
          <a:ln w="15240">
            <a:solidFill>
              <a:srgbClr val="91232F"/>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8138160" y="617220"/>
            <a:ext cx="73152" cy="73152"/>
          </a:xfrm>
          <a:prstGeom prst="ellipse">
            <a:avLst/>
          </a:prstGeom>
          <a:solidFill>
            <a:srgbClr val="9123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34" name="Group 133">
            <a:extLst>
              <a:ext uri="{FF2B5EF4-FFF2-40B4-BE49-F238E27FC236}">
                <a16:creationId xmlns:a16="http://schemas.microsoft.com/office/drawing/2014/main" id="{13B33CC4-4C80-FF33-D780-F2EBD975E746}"/>
              </a:ext>
            </a:extLst>
          </p:cNvPr>
          <p:cNvGrpSpPr/>
          <p:nvPr/>
        </p:nvGrpSpPr>
        <p:grpSpPr>
          <a:xfrm>
            <a:off x="641774" y="1221953"/>
            <a:ext cx="2588516" cy="503081"/>
            <a:chOff x="593551" y="534562"/>
            <a:chExt cx="2194560" cy="629067"/>
          </a:xfrm>
          <a:solidFill>
            <a:srgbClr val="FF5050"/>
          </a:solidFill>
        </p:grpSpPr>
        <p:sp>
          <p:nvSpPr>
            <p:cNvPr id="133" name="Chevron 107">
              <a:extLst>
                <a:ext uri="{FF2B5EF4-FFF2-40B4-BE49-F238E27FC236}">
                  <a16:creationId xmlns:a16="http://schemas.microsoft.com/office/drawing/2014/main" id="{6AB7B249-6BD9-53F9-2C55-3E89BC02F96E}"/>
                </a:ext>
              </a:extLst>
            </p:cNvPr>
            <p:cNvSpPr/>
            <p:nvPr/>
          </p:nvSpPr>
          <p:spPr>
            <a:xfrm>
              <a:off x="593551" y="534562"/>
              <a:ext cx="2194560" cy="629067"/>
            </a:xfrm>
            <a:prstGeom prst="chevron">
              <a:avLst/>
            </a:prstGeom>
            <a:gr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dirty="0"/>
            </a:p>
          </p:txBody>
        </p:sp>
        <p:sp>
          <p:nvSpPr>
            <p:cNvPr id="11" name="TextBox 10"/>
            <p:cNvSpPr txBox="1"/>
            <p:nvPr/>
          </p:nvSpPr>
          <p:spPr>
            <a:xfrm>
              <a:off x="936414" y="645056"/>
              <a:ext cx="1683692" cy="442581"/>
            </a:xfrm>
            <a:prstGeom prst="rect">
              <a:avLst/>
            </a:prstGeom>
            <a:grpFill/>
          </p:spPr>
          <p:txBody>
            <a:bodyPr wrap="square" anchor="ctr">
              <a:spAutoFit/>
            </a:bodyPr>
            <a:lstStyle/>
            <a:p>
              <a:pPr algn="ctr"/>
              <a:r>
                <a:rPr sz="1700" b="1" dirty="0">
                  <a:solidFill>
                    <a:schemeClr val="bg1"/>
                  </a:solidFill>
                  <a:latin typeface="Georgia"/>
                </a:rPr>
                <a:t>FEASIBILITY</a:t>
              </a:r>
            </a:p>
          </p:txBody>
        </p:sp>
      </p:grpSp>
      <p:cxnSp>
        <p:nvCxnSpPr>
          <p:cNvPr id="84" name="Connector 83"/>
          <p:cNvCxnSpPr/>
          <p:nvPr/>
        </p:nvCxnSpPr>
        <p:spPr>
          <a:xfrm>
            <a:off x="3922776" y="1575218"/>
            <a:ext cx="0" cy="5010912"/>
          </a:xfrm>
          <a:prstGeom prst="line">
            <a:avLst/>
          </a:prstGeom>
          <a:ln w="12700">
            <a:solidFill>
              <a:srgbClr val="91232F"/>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7948507" y="1634015"/>
            <a:ext cx="0" cy="5010912"/>
          </a:xfrm>
          <a:prstGeom prst="line">
            <a:avLst/>
          </a:prstGeom>
          <a:ln w="12700">
            <a:solidFill>
              <a:srgbClr val="91232F"/>
            </a:solidFill>
          </a:ln>
        </p:spPr>
        <p:style>
          <a:lnRef idx="2">
            <a:schemeClr val="accent1"/>
          </a:lnRef>
          <a:fillRef idx="0">
            <a:schemeClr val="accent1"/>
          </a:fillRef>
          <a:effectRef idx="1">
            <a:schemeClr val="accent1"/>
          </a:effectRef>
          <a:fontRef idx="minor">
            <a:schemeClr val="tx1"/>
          </a:fontRef>
        </p:style>
      </p:cxnSp>
      <p:grpSp>
        <p:nvGrpSpPr>
          <p:cNvPr id="180" name="Group 179">
            <a:extLst>
              <a:ext uri="{FF2B5EF4-FFF2-40B4-BE49-F238E27FC236}">
                <a16:creationId xmlns:a16="http://schemas.microsoft.com/office/drawing/2014/main" id="{17145828-0393-AC1C-054C-A6F23FA9FB62}"/>
              </a:ext>
            </a:extLst>
          </p:cNvPr>
          <p:cNvGrpSpPr/>
          <p:nvPr/>
        </p:nvGrpSpPr>
        <p:grpSpPr>
          <a:xfrm>
            <a:off x="24468" y="2112684"/>
            <a:ext cx="3743960" cy="4425441"/>
            <a:chOff x="105663" y="1364320"/>
            <a:chExt cx="3743960" cy="4425441"/>
          </a:xfrm>
        </p:grpSpPr>
        <p:grpSp>
          <p:nvGrpSpPr>
            <p:cNvPr id="109" name="Group 108">
              <a:extLst>
                <a:ext uri="{FF2B5EF4-FFF2-40B4-BE49-F238E27FC236}">
                  <a16:creationId xmlns:a16="http://schemas.microsoft.com/office/drawing/2014/main" id="{BC81A758-8832-6FCD-189D-0DC4708FB8CF}"/>
                </a:ext>
              </a:extLst>
            </p:cNvPr>
            <p:cNvGrpSpPr/>
            <p:nvPr/>
          </p:nvGrpSpPr>
          <p:grpSpPr>
            <a:xfrm>
              <a:off x="105663" y="1364320"/>
              <a:ext cx="3743960" cy="4425441"/>
              <a:chOff x="105663" y="1376259"/>
              <a:chExt cx="3743960" cy="4425441"/>
            </a:xfrm>
            <a:solidFill>
              <a:srgbClr val="FFEEEE"/>
            </a:solidFill>
          </p:grpSpPr>
          <p:sp>
            <p:nvSpPr>
              <p:cNvPr id="39" name="Rounded Rectangle 38"/>
              <p:cNvSpPr/>
              <p:nvPr/>
            </p:nvSpPr>
            <p:spPr>
              <a:xfrm>
                <a:off x="146303" y="4785362"/>
                <a:ext cx="3703320" cy="1016338"/>
              </a:xfrm>
              <a:prstGeom prst="roundRect">
                <a:avLst/>
              </a:prstGeom>
              <a:grpFill/>
              <a:ln w="10160">
                <a:solidFill>
                  <a:srgbClr val="FF5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2" name="TextBox 41"/>
              <p:cNvSpPr txBox="1"/>
              <p:nvPr/>
            </p:nvSpPr>
            <p:spPr>
              <a:xfrm>
                <a:off x="995596" y="4840545"/>
                <a:ext cx="2807208" cy="201168"/>
              </a:xfrm>
              <a:prstGeom prst="rect">
                <a:avLst/>
              </a:prstGeom>
              <a:grpFill/>
              <a:ln>
                <a:noFill/>
              </a:ln>
            </p:spPr>
            <p:txBody>
              <a:bodyPr wrap="square" anchor="ctr">
                <a:spAutoFit/>
              </a:bodyPr>
              <a:lstStyle/>
              <a:p>
                <a:pPr algn="l"/>
                <a:r>
                  <a:rPr sz="1150" b="1" dirty="0">
                    <a:solidFill>
                      <a:srgbClr val="082B5B"/>
                    </a:solidFill>
                    <a:latin typeface="Georgia"/>
                  </a:rPr>
                  <a:t>Operational Feasibility</a:t>
                </a:r>
              </a:p>
            </p:txBody>
          </p:sp>
          <p:sp>
            <p:nvSpPr>
              <p:cNvPr id="43" name="TextBox 42"/>
              <p:cNvSpPr txBox="1"/>
              <p:nvPr/>
            </p:nvSpPr>
            <p:spPr>
              <a:xfrm>
                <a:off x="997871" y="5041713"/>
                <a:ext cx="2025396" cy="707886"/>
              </a:xfrm>
              <a:prstGeom prst="rect">
                <a:avLst/>
              </a:prstGeom>
              <a:grpFill/>
              <a:ln>
                <a:noFill/>
              </a:ln>
            </p:spPr>
            <p:txBody>
              <a:bodyPr wrap="square" anchor="t">
                <a:spAutoFit/>
              </a:bodyPr>
              <a:lstStyle/>
              <a:p>
                <a:r>
                  <a:rPr lang="en-IN" sz="1000" dirty="0">
                    <a:solidFill>
                      <a:srgbClr val="082B5B"/>
                    </a:solidFill>
                    <a:latin typeface="Aptos"/>
                  </a:rPr>
                  <a:t>Role-based access, validation, audit log sand modular services support reliable institutional adoption.</a:t>
                </a:r>
                <a:endParaRPr sz="1000" b="0" dirty="0">
                  <a:solidFill>
                    <a:srgbClr val="082B5B"/>
                  </a:solidFill>
                  <a:latin typeface="Aptos"/>
                </a:endParaRPr>
              </a:p>
            </p:txBody>
          </p:sp>
          <p:sp>
            <p:nvSpPr>
              <p:cNvPr id="129" name="Rounded Rectangle 38">
                <a:extLst>
                  <a:ext uri="{FF2B5EF4-FFF2-40B4-BE49-F238E27FC236}">
                    <a16:creationId xmlns:a16="http://schemas.microsoft.com/office/drawing/2014/main" id="{E9BAABB9-1F8B-717C-73B2-5A78BB906CA0}"/>
                  </a:ext>
                </a:extLst>
              </p:cNvPr>
              <p:cNvSpPr/>
              <p:nvPr/>
            </p:nvSpPr>
            <p:spPr>
              <a:xfrm>
                <a:off x="105663" y="1376259"/>
                <a:ext cx="3703320" cy="1016338"/>
              </a:xfrm>
              <a:prstGeom prst="roundRect">
                <a:avLst/>
              </a:prstGeom>
              <a:solidFill>
                <a:srgbClr val="FFEEEE"/>
              </a:solidFill>
              <a:ln w="10160">
                <a:solidFill>
                  <a:srgbClr val="FF5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0" name="Rounded Rectangle 39">
                <a:extLst>
                  <a:ext uri="{FF2B5EF4-FFF2-40B4-BE49-F238E27FC236}">
                    <a16:creationId xmlns:a16="http://schemas.microsoft.com/office/drawing/2014/main" id="{52A25295-65E2-9004-6A7F-29087903A25C}"/>
                  </a:ext>
                </a:extLst>
              </p:cNvPr>
              <p:cNvSpPr/>
              <p:nvPr/>
            </p:nvSpPr>
            <p:spPr>
              <a:xfrm>
                <a:off x="301751" y="1745389"/>
                <a:ext cx="566928" cy="420624"/>
              </a:xfrm>
              <a:prstGeom prst="roundRect">
                <a:avLst/>
              </a:prstGeom>
              <a:grpFill/>
              <a:ln>
                <a:solidFill>
                  <a:srgbClr val="FF5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TextBox 130">
                <a:extLst>
                  <a:ext uri="{FF2B5EF4-FFF2-40B4-BE49-F238E27FC236}">
                    <a16:creationId xmlns:a16="http://schemas.microsoft.com/office/drawing/2014/main" id="{32BBC548-00D4-099C-FA8E-D29EB85DE340}"/>
                  </a:ext>
                </a:extLst>
              </p:cNvPr>
              <p:cNvSpPr txBox="1"/>
              <p:nvPr/>
            </p:nvSpPr>
            <p:spPr>
              <a:xfrm>
                <a:off x="885761" y="1407921"/>
                <a:ext cx="2807208" cy="269304"/>
              </a:xfrm>
              <a:prstGeom prst="rect">
                <a:avLst/>
              </a:prstGeom>
              <a:grpFill/>
              <a:ln>
                <a:noFill/>
              </a:ln>
            </p:spPr>
            <p:txBody>
              <a:bodyPr wrap="square" anchor="ctr">
                <a:spAutoFit/>
              </a:bodyPr>
              <a:lstStyle/>
              <a:p>
                <a:pPr algn="l"/>
                <a:r>
                  <a:rPr lang="en-IN" sz="1150" b="1" dirty="0">
                    <a:solidFill>
                      <a:srgbClr val="082B5B"/>
                    </a:solidFill>
                    <a:latin typeface="Georgia"/>
                  </a:rPr>
                  <a:t>Infrastructure</a:t>
                </a:r>
                <a:r>
                  <a:rPr sz="1150" b="1" dirty="0">
                    <a:solidFill>
                      <a:srgbClr val="082B5B"/>
                    </a:solidFill>
                    <a:latin typeface="Georgia"/>
                  </a:rPr>
                  <a:t> Feasibility</a:t>
                </a:r>
              </a:p>
            </p:txBody>
          </p:sp>
          <p:sp>
            <p:nvSpPr>
              <p:cNvPr id="132" name="TextBox 131">
                <a:extLst>
                  <a:ext uri="{FF2B5EF4-FFF2-40B4-BE49-F238E27FC236}">
                    <a16:creationId xmlns:a16="http://schemas.microsoft.com/office/drawing/2014/main" id="{8215F92E-F22B-A4F6-BCB6-2260B53724E4}"/>
                  </a:ext>
                </a:extLst>
              </p:cNvPr>
              <p:cNvSpPr txBox="1"/>
              <p:nvPr/>
            </p:nvSpPr>
            <p:spPr>
              <a:xfrm>
                <a:off x="929554" y="1667388"/>
                <a:ext cx="2500579" cy="553998"/>
              </a:xfrm>
              <a:prstGeom prst="rect">
                <a:avLst/>
              </a:prstGeom>
              <a:grpFill/>
              <a:ln>
                <a:noFill/>
              </a:ln>
            </p:spPr>
            <p:txBody>
              <a:bodyPr wrap="square" anchor="t">
                <a:spAutoFit/>
              </a:bodyPr>
              <a:lstStyle/>
              <a:p>
                <a:r>
                  <a:rPr lang="en-US" sz="1000" dirty="0">
                    <a:solidFill>
                      <a:srgbClr val="082B5B"/>
                    </a:solidFill>
                    <a:latin typeface="Aptos"/>
                  </a:rPr>
                  <a:t>Cloud-ready architecture supports scalable Al assessment, secure </a:t>
                </a:r>
                <a:r>
                  <a:rPr lang="en-US" sz="1000" dirty="0" err="1">
                    <a:solidFill>
                      <a:srgbClr val="082B5B"/>
                    </a:solidFill>
                    <a:latin typeface="Aptos"/>
                  </a:rPr>
                  <a:t>APIs,database</a:t>
                </a:r>
                <a:r>
                  <a:rPr lang="en-US" sz="1000" dirty="0">
                    <a:solidFill>
                      <a:srgbClr val="082B5B"/>
                    </a:solidFill>
                    <a:latin typeface="Aptos"/>
                  </a:rPr>
                  <a:t> and analytics workloads.</a:t>
                </a:r>
                <a:endParaRPr sz="1000" b="0" dirty="0">
                  <a:solidFill>
                    <a:srgbClr val="082B5B"/>
                  </a:solidFill>
                  <a:latin typeface="Aptos"/>
                </a:endParaRPr>
              </a:p>
            </p:txBody>
          </p:sp>
        </p:grpSp>
        <p:grpSp>
          <p:nvGrpSpPr>
            <p:cNvPr id="110" name="Group 109">
              <a:extLst>
                <a:ext uri="{FF2B5EF4-FFF2-40B4-BE49-F238E27FC236}">
                  <a16:creationId xmlns:a16="http://schemas.microsoft.com/office/drawing/2014/main" id="{0913FFD5-15F1-A221-445B-F6A3EE59C0CF}"/>
                </a:ext>
              </a:extLst>
            </p:cNvPr>
            <p:cNvGrpSpPr/>
            <p:nvPr/>
          </p:nvGrpSpPr>
          <p:grpSpPr>
            <a:xfrm>
              <a:off x="146303" y="2486491"/>
              <a:ext cx="3703320" cy="1016338"/>
              <a:chOff x="137160" y="4790102"/>
              <a:chExt cx="3703320" cy="1016338"/>
            </a:xfrm>
            <a:solidFill>
              <a:srgbClr val="FFEEEE"/>
            </a:solidFill>
          </p:grpSpPr>
          <p:sp>
            <p:nvSpPr>
              <p:cNvPr id="111" name="Rounded Rectangle 38">
                <a:extLst>
                  <a:ext uri="{FF2B5EF4-FFF2-40B4-BE49-F238E27FC236}">
                    <a16:creationId xmlns:a16="http://schemas.microsoft.com/office/drawing/2014/main" id="{869A634B-4F70-80C2-D6D1-9C1C2FC6417E}"/>
                  </a:ext>
                </a:extLst>
              </p:cNvPr>
              <p:cNvSpPr/>
              <p:nvPr/>
            </p:nvSpPr>
            <p:spPr>
              <a:xfrm>
                <a:off x="137160" y="4790102"/>
                <a:ext cx="3703320" cy="1016338"/>
              </a:xfrm>
              <a:prstGeom prst="roundRect">
                <a:avLst/>
              </a:prstGeom>
              <a:grpFill/>
              <a:ln w="1016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Rounded Rectangle 39">
                <a:extLst>
                  <a:ext uri="{FF2B5EF4-FFF2-40B4-BE49-F238E27FC236}">
                    <a16:creationId xmlns:a16="http://schemas.microsoft.com/office/drawing/2014/main" id="{C6F5B9A0-17B3-9A7F-28B9-85B08554A78D}"/>
                  </a:ext>
                </a:extLst>
              </p:cNvPr>
              <p:cNvSpPr/>
              <p:nvPr/>
            </p:nvSpPr>
            <p:spPr>
              <a:xfrm>
                <a:off x="294640" y="5106417"/>
                <a:ext cx="566928" cy="420624"/>
              </a:xfrm>
              <a:prstGeom prst="roundRect">
                <a:avLst/>
              </a:prstGeom>
              <a:grp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a:extLst>
                  <a:ext uri="{FF2B5EF4-FFF2-40B4-BE49-F238E27FC236}">
                    <a16:creationId xmlns:a16="http://schemas.microsoft.com/office/drawing/2014/main" id="{069850D3-EFF5-7C05-DE6F-651E8577D80C}"/>
                  </a:ext>
                </a:extLst>
              </p:cNvPr>
              <p:cNvSpPr txBox="1"/>
              <p:nvPr/>
            </p:nvSpPr>
            <p:spPr>
              <a:xfrm>
                <a:off x="889063" y="4862613"/>
                <a:ext cx="2807208" cy="269304"/>
              </a:xfrm>
              <a:prstGeom prst="rect">
                <a:avLst/>
              </a:prstGeom>
              <a:grpFill/>
              <a:ln>
                <a:noFill/>
              </a:ln>
            </p:spPr>
            <p:txBody>
              <a:bodyPr wrap="square" anchor="ctr">
                <a:spAutoFit/>
              </a:bodyPr>
              <a:lstStyle/>
              <a:p>
                <a:pPr algn="l"/>
                <a:r>
                  <a:rPr lang="en-IN" sz="1150" b="1" dirty="0">
                    <a:solidFill>
                      <a:srgbClr val="082B5B"/>
                    </a:solidFill>
                    <a:latin typeface="Georgia"/>
                  </a:rPr>
                  <a:t>Technical </a:t>
                </a:r>
                <a:r>
                  <a:rPr sz="1150" b="1" dirty="0">
                    <a:solidFill>
                      <a:srgbClr val="082B5B"/>
                    </a:solidFill>
                    <a:latin typeface="Georgia"/>
                  </a:rPr>
                  <a:t>Feasibility</a:t>
                </a:r>
              </a:p>
            </p:txBody>
          </p:sp>
          <p:sp>
            <p:nvSpPr>
              <p:cNvPr id="114" name="TextBox 113">
                <a:extLst>
                  <a:ext uri="{FF2B5EF4-FFF2-40B4-BE49-F238E27FC236}">
                    <a16:creationId xmlns:a16="http://schemas.microsoft.com/office/drawing/2014/main" id="{C3DEEA88-E34F-A721-993F-2F97634B9554}"/>
                  </a:ext>
                </a:extLst>
              </p:cNvPr>
              <p:cNvSpPr txBox="1"/>
              <p:nvPr/>
            </p:nvSpPr>
            <p:spPr>
              <a:xfrm>
                <a:off x="889063" y="5084859"/>
                <a:ext cx="2782317" cy="707886"/>
              </a:xfrm>
              <a:prstGeom prst="rect">
                <a:avLst/>
              </a:prstGeom>
              <a:grpFill/>
              <a:ln>
                <a:noFill/>
              </a:ln>
            </p:spPr>
            <p:txBody>
              <a:bodyPr wrap="square" anchor="t">
                <a:spAutoFit/>
              </a:bodyPr>
              <a:lstStyle/>
              <a:p>
                <a:r>
                  <a:rPr lang="en-IN" sz="1000" dirty="0">
                    <a:solidFill>
                      <a:srgbClr val="082B5B"/>
                    </a:solidFill>
                    <a:latin typeface="Aptos"/>
                  </a:rPr>
                  <a:t>Python/Al stack, adaptive </a:t>
                </a:r>
                <a:r>
                  <a:rPr lang="en-IN" sz="1000" dirty="0" err="1">
                    <a:solidFill>
                      <a:srgbClr val="082B5B"/>
                    </a:solidFill>
                    <a:latin typeface="Aptos"/>
                  </a:rPr>
                  <a:t>assessment,deterministic</a:t>
                </a:r>
                <a:r>
                  <a:rPr lang="en-IN" sz="1000" dirty="0">
                    <a:solidFill>
                      <a:srgbClr val="082B5B"/>
                    </a:solidFill>
                    <a:latin typeface="Aptos"/>
                  </a:rPr>
                  <a:t> scoring and skill-gap analytics are implementable with mature technologies.</a:t>
                </a:r>
                <a:endParaRPr sz="1000" b="0" dirty="0">
                  <a:solidFill>
                    <a:srgbClr val="082B5B"/>
                  </a:solidFill>
                  <a:latin typeface="Aptos"/>
                </a:endParaRPr>
              </a:p>
            </p:txBody>
          </p:sp>
        </p:grpSp>
        <p:grpSp>
          <p:nvGrpSpPr>
            <p:cNvPr id="115" name="Group 114">
              <a:extLst>
                <a:ext uri="{FF2B5EF4-FFF2-40B4-BE49-F238E27FC236}">
                  <a16:creationId xmlns:a16="http://schemas.microsoft.com/office/drawing/2014/main" id="{456DE463-6B54-BF58-9541-3AC5612171CF}"/>
                </a:ext>
              </a:extLst>
            </p:cNvPr>
            <p:cNvGrpSpPr/>
            <p:nvPr/>
          </p:nvGrpSpPr>
          <p:grpSpPr>
            <a:xfrm>
              <a:off x="141733" y="3630168"/>
              <a:ext cx="3703320" cy="1016338"/>
              <a:chOff x="137160" y="4790102"/>
              <a:chExt cx="3703320" cy="1016338"/>
            </a:xfrm>
            <a:solidFill>
              <a:srgbClr val="FFEEEE"/>
            </a:solidFill>
          </p:grpSpPr>
          <p:sp>
            <p:nvSpPr>
              <p:cNvPr id="116" name="Rounded Rectangle 38">
                <a:extLst>
                  <a:ext uri="{FF2B5EF4-FFF2-40B4-BE49-F238E27FC236}">
                    <a16:creationId xmlns:a16="http://schemas.microsoft.com/office/drawing/2014/main" id="{6F785FF5-6A16-D5C5-18C0-C43F77D7916D}"/>
                  </a:ext>
                </a:extLst>
              </p:cNvPr>
              <p:cNvSpPr/>
              <p:nvPr/>
            </p:nvSpPr>
            <p:spPr>
              <a:xfrm>
                <a:off x="137160" y="4790102"/>
                <a:ext cx="3703320" cy="1016338"/>
              </a:xfrm>
              <a:prstGeom prst="roundRect">
                <a:avLst/>
              </a:prstGeom>
              <a:grpFill/>
              <a:ln w="10160">
                <a:solidFill>
                  <a:srgbClr val="FF5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a:extLst>
                  <a:ext uri="{FF2B5EF4-FFF2-40B4-BE49-F238E27FC236}">
                    <a16:creationId xmlns:a16="http://schemas.microsoft.com/office/drawing/2014/main" id="{29F4B9E8-F323-0B5B-46BE-B721FAD716D4}"/>
                  </a:ext>
                </a:extLst>
              </p:cNvPr>
              <p:cNvSpPr txBox="1"/>
              <p:nvPr/>
            </p:nvSpPr>
            <p:spPr>
              <a:xfrm>
                <a:off x="976844" y="4804668"/>
                <a:ext cx="2807208" cy="269304"/>
              </a:xfrm>
              <a:prstGeom prst="rect">
                <a:avLst/>
              </a:prstGeom>
              <a:grpFill/>
              <a:ln>
                <a:noFill/>
              </a:ln>
            </p:spPr>
            <p:txBody>
              <a:bodyPr wrap="square" anchor="ctr">
                <a:spAutoFit/>
              </a:bodyPr>
              <a:lstStyle/>
              <a:p>
                <a:pPr algn="l"/>
                <a:r>
                  <a:rPr lang="en-IN" sz="1150" b="1" dirty="0">
                    <a:solidFill>
                      <a:srgbClr val="082B5B"/>
                    </a:solidFill>
                    <a:latin typeface="Georgia"/>
                  </a:rPr>
                  <a:t>Cost </a:t>
                </a:r>
                <a:r>
                  <a:rPr sz="1150" b="1" dirty="0">
                    <a:solidFill>
                      <a:srgbClr val="082B5B"/>
                    </a:solidFill>
                    <a:latin typeface="Georgia"/>
                  </a:rPr>
                  <a:t>Feasibility</a:t>
                </a:r>
              </a:p>
            </p:txBody>
          </p:sp>
          <p:sp>
            <p:nvSpPr>
              <p:cNvPr id="119" name="TextBox 118">
                <a:extLst>
                  <a:ext uri="{FF2B5EF4-FFF2-40B4-BE49-F238E27FC236}">
                    <a16:creationId xmlns:a16="http://schemas.microsoft.com/office/drawing/2014/main" id="{CB22D4CB-3BE3-9401-DE38-FC132A9F3DD7}"/>
                  </a:ext>
                </a:extLst>
              </p:cNvPr>
              <p:cNvSpPr txBox="1"/>
              <p:nvPr/>
            </p:nvSpPr>
            <p:spPr>
              <a:xfrm>
                <a:off x="976844" y="5059692"/>
                <a:ext cx="2025396" cy="707886"/>
              </a:xfrm>
              <a:prstGeom prst="rect">
                <a:avLst/>
              </a:prstGeom>
              <a:grpFill/>
              <a:ln>
                <a:noFill/>
              </a:ln>
            </p:spPr>
            <p:txBody>
              <a:bodyPr wrap="square" anchor="t">
                <a:spAutoFit/>
              </a:bodyPr>
              <a:lstStyle/>
              <a:p>
                <a:r>
                  <a:rPr lang="en-US" sz="1000" dirty="0">
                    <a:solidFill>
                      <a:srgbClr val="082B5B"/>
                    </a:solidFill>
                    <a:latin typeface="Aptos"/>
                  </a:rPr>
                  <a:t>Modular cloud deployment and open-source technologies keep development and operating costs manageable.</a:t>
                </a:r>
                <a:endParaRPr sz="1000" b="0" dirty="0">
                  <a:solidFill>
                    <a:srgbClr val="082B5B"/>
                  </a:solidFill>
                  <a:latin typeface="Aptos"/>
                </a:endParaRPr>
              </a:p>
            </p:txBody>
          </p:sp>
        </p:grpSp>
      </p:grpSp>
      <p:grpSp>
        <p:nvGrpSpPr>
          <p:cNvPr id="135" name="Group 134">
            <a:extLst>
              <a:ext uri="{FF2B5EF4-FFF2-40B4-BE49-F238E27FC236}">
                <a16:creationId xmlns:a16="http://schemas.microsoft.com/office/drawing/2014/main" id="{ADB96ED9-4206-F366-525B-9B7FF8EC8A2E}"/>
              </a:ext>
            </a:extLst>
          </p:cNvPr>
          <p:cNvGrpSpPr/>
          <p:nvPr/>
        </p:nvGrpSpPr>
        <p:grpSpPr>
          <a:xfrm>
            <a:off x="4496605" y="1246252"/>
            <a:ext cx="2588516" cy="503081"/>
            <a:chOff x="588745" y="1166763"/>
            <a:chExt cx="2194560" cy="629067"/>
          </a:xfrm>
          <a:solidFill>
            <a:srgbClr val="00B050"/>
          </a:solidFill>
        </p:grpSpPr>
        <p:sp>
          <p:nvSpPr>
            <p:cNvPr id="136" name="Chevron 107">
              <a:extLst>
                <a:ext uri="{FF2B5EF4-FFF2-40B4-BE49-F238E27FC236}">
                  <a16:creationId xmlns:a16="http://schemas.microsoft.com/office/drawing/2014/main" id="{AA74C11D-5ACE-9E11-E2BA-8B5F1B648B55}"/>
                </a:ext>
              </a:extLst>
            </p:cNvPr>
            <p:cNvSpPr/>
            <p:nvPr/>
          </p:nvSpPr>
          <p:spPr>
            <a:xfrm>
              <a:off x="588745" y="1166763"/>
              <a:ext cx="2194560" cy="629067"/>
            </a:xfrm>
            <a:prstGeom prst="chevron">
              <a:avLst/>
            </a:prstGeom>
            <a:grp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dirty="0"/>
            </a:p>
          </p:txBody>
        </p:sp>
        <p:sp>
          <p:nvSpPr>
            <p:cNvPr id="137" name="TextBox 136">
              <a:extLst>
                <a:ext uri="{FF2B5EF4-FFF2-40B4-BE49-F238E27FC236}">
                  <a16:creationId xmlns:a16="http://schemas.microsoft.com/office/drawing/2014/main" id="{427A157A-0174-A9A7-B5FB-814287DA6384}"/>
                </a:ext>
              </a:extLst>
            </p:cNvPr>
            <p:cNvSpPr txBox="1"/>
            <p:nvPr/>
          </p:nvSpPr>
          <p:spPr>
            <a:xfrm>
              <a:off x="903072" y="1237748"/>
              <a:ext cx="1683692" cy="442581"/>
            </a:xfrm>
            <a:prstGeom prst="rect">
              <a:avLst/>
            </a:prstGeom>
            <a:grpFill/>
            <a:ln>
              <a:solidFill>
                <a:srgbClr val="00B050"/>
              </a:solidFill>
            </a:ln>
          </p:spPr>
          <p:txBody>
            <a:bodyPr wrap="square" anchor="ctr">
              <a:spAutoFit/>
            </a:bodyPr>
            <a:lstStyle/>
            <a:p>
              <a:pPr algn="ctr"/>
              <a:r>
                <a:rPr lang="en-IN" sz="1700" b="1" dirty="0">
                  <a:solidFill>
                    <a:schemeClr val="bg1"/>
                  </a:solidFill>
                  <a:latin typeface="Georgia"/>
                </a:rPr>
                <a:t>VIABILITY</a:t>
              </a:r>
              <a:endParaRPr sz="1700" b="1" dirty="0">
                <a:solidFill>
                  <a:schemeClr val="bg1"/>
                </a:solidFill>
                <a:latin typeface="Georgia"/>
              </a:endParaRPr>
            </a:p>
          </p:txBody>
        </p:sp>
      </p:grpSp>
      <p:grpSp>
        <p:nvGrpSpPr>
          <p:cNvPr id="182" name="Group 181">
            <a:extLst>
              <a:ext uri="{FF2B5EF4-FFF2-40B4-BE49-F238E27FC236}">
                <a16:creationId xmlns:a16="http://schemas.microsoft.com/office/drawing/2014/main" id="{A620EB7C-0E9D-F296-95B3-5430B06D044B}"/>
              </a:ext>
            </a:extLst>
          </p:cNvPr>
          <p:cNvGrpSpPr/>
          <p:nvPr/>
        </p:nvGrpSpPr>
        <p:grpSpPr>
          <a:xfrm>
            <a:off x="4043467" y="2170376"/>
            <a:ext cx="3771858" cy="4405123"/>
            <a:chOff x="4055957" y="1364741"/>
            <a:chExt cx="3771858" cy="4405123"/>
          </a:xfrm>
          <a:solidFill>
            <a:srgbClr val="EBF9EE"/>
          </a:solidFill>
        </p:grpSpPr>
        <p:grpSp>
          <p:nvGrpSpPr>
            <p:cNvPr id="138" name="Group 137">
              <a:extLst>
                <a:ext uri="{FF2B5EF4-FFF2-40B4-BE49-F238E27FC236}">
                  <a16:creationId xmlns:a16="http://schemas.microsoft.com/office/drawing/2014/main" id="{E80BD563-F6D7-7090-DE4A-D773C82E804C}"/>
                </a:ext>
              </a:extLst>
            </p:cNvPr>
            <p:cNvGrpSpPr/>
            <p:nvPr/>
          </p:nvGrpSpPr>
          <p:grpSpPr>
            <a:xfrm>
              <a:off x="4055957" y="1364741"/>
              <a:ext cx="3743960" cy="4405123"/>
              <a:chOff x="105663" y="1396577"/>
              <a:chExt cx="3743960" cy="4405123"/>
            </a:xfrm>
            <a:grpFill/>
          </p:grpSpPr>
          <p:sp>
            <p:nvSpPr>
              <p:cNvPr id="139" name="Rounded Rectangle 38">
                <a:extLst>
                  <a:ext uri="{FF2B5EF4-FFF2-40B4-BE49-F238E27FC236}">
                    <a16:creationId xmlns:a16="http://schemas.microsoft.com/office/drawing/2014/main" id="{88114935-CDC9-115D-BB0E-1B7CE6DC815A}"/>
                  </a:ext>
                </a:extLst>
              </p:cNvPr>
              <p:cNvSpPr/>
              <p:nvPr/>
            </p:nvSpPr>
            <p:spPr>
              <a:xfrm>
                <a:off x="146303" y="4785362"/>
                <a:ext cx="3703320" cy="1016338"/>
              </a:xfrm>
              <a:prstGeom prst="roundRect">
                <a:avLst/>
              </a:prstGeom>
              <a:grpFill/>
              <a:ln w="1016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41" name="TextBox 140">
                <a:extLst>
                  <a:ext uri="{FF2B5EF4-FFF2-40B4-BE49-F238E27FC236}">
                    <a16:creationId xmlns:a16="http://schemas.microsoft.com/office/drawing/2014/main" id="{20589092-B8D1-73CD-930E-A3F974DF3108}"/>
                  </a:ext>
                </a:extLst>
              </p:cNvPr>
              <p:cNvSpPr txBox="1"/>
              <p:nvPr/>
            </p:nvSpPr>
            <p:spPr>
              <a:xfrm>
                <a:off x="1014517" y="4809467"/>
                <a:ext cx="2807208" cy="269304"/>
              </a:xfrm>
              <a:prstGeom prst="rect">
                <a:avLst/>
              </a:prstGeom>
              <a:grpFill/>
              <a:ln>
                <a:noFill/>
              </a:ln>
            </p:spPr>
            <p:txBody>
              <a:bodyPr wrap="square" anchor="ctr">
                <a:spAutoFit/>
              </a:bodyPr>
              <a:lstStyle/>
              <a:p>
                <a:pPr algn="l"/>
                <a:r>
                  <a:rPr lang="en-IN" sz="1150" b="1" dirty="0">
                    <a:solidFill>
                      <a:srgbClr val="082B5B"/>
                    </a:solidFill>
                    <a:latin typeface="Georgia"/>
                  </a:rPr>
                  <a:t>Long-Term Sustainability</a:t>
                </a:r>
                <a:endParaRPr sz="1150" b="1" dirty="0">
                  <a:solidFill>
                    <a:srgbClr val="082B5B"/>
                  </a:solidFill>
                  <a:latin typeface="Georgia"/>
                </a:endParaRPr>
              </a:p>
            </p:txBody>
          </p:sp>
          <p:sp>
            <p:nvSpPr>
              <p:cNvPr id="142" name="TextBox 141">
                <a:extLst>
                  <a:ext uri="{FF2B5EF4-FFF2-40B4-BE49-F238E27FC236}">
                    <a16:creationId xmlns:a16="http://schemas.microsoft.com/office/drawing/2014/main" id="{74B38F53-234A-7FEA-BECB-204BD7C1AD11}"/>
                  </a:ext>
                </a:extLst>
              </p:cNvPr>
              <p:cNvSpPr txBox="1"/>
              <p:nvPr/>
            </p:nvSpPr>
            <p:spPr>
              <a:xfrm>
                <a:off x="1009300" y="5060242"/>
                <a:ext cx="2688335" cy="553998"/>
              </a:xfrm>
              <a:prstGeom prst="rect">
                <a:avLst/>
              </a:prstGeom>
              <a:grpFill/>
              <a:ln>
                <a:noFill/>
              </a:ln>
            </p:spPr>
            <p:txBody>
              <a:bodyPr wrap="square" anchor="t">
                <a:spAutoFit/>
              </a:bodyPr>
              <a:lstStyle/>
              <a:p>
                <a:r>
                  <a:rPr lang="en-US" sz="1000" dirty="0">
                    <a:solidFill>
                      <a:srgbClr val="082B5B"/>
                    </a:solidFill>
                    <a:latin typeface="Aptos"/>
                  </a:rPr>
                  <a:t>Analytics, Al guidance, dashboards and career services create recurring institutional value.</a:t>
                </a:r>
                <a:endParaRPr sz="1000" b="0" dirty="0">
                  <a:solidFill>
                    <a:srgbClr val="082B5B"/>
                  </a:solidFill>
                  <a:latin typeface="Aptos"/>
                </a:endParaRPr>
              </a:p>
            </p:txBody>
          </p:sp>
          <p:sp>
            <p:nvSpPr>
              <p:cNvPr id="143" name="Rounded Rectangle 38">
                <a:extLst>
                  <a:ext uri="{FF2B5EF4-FFF2-40B4-BE49-F238E27FC236}">
                    <a16:creationId xmlns:a16="http://schemas.microsoft.com/office/drawing/2014/main" id="{6D2A41D0-FF07-632F-5A06-785E6BDDD1CA}"/>
                  </a:ext>
                </a:extLst>
              </p:cNvPr>
              <p:cNvSpPr/>
              <p:nvPr/>
            </p:nvSpPr>
            <p:spPr>
              <a:xfrm>
                <a:off x="105663" y="1396577"/>
                <a:ext cx="3703320" cy="1016338"/>
              </a:xfrm>
              <a:prstGeom prst="roundRect">
                <a:avLst/>
              </a:prstGeom>
              <a:grpFill/>
              <a:ln w="1016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45" name="TextBox 144">
                <a:extLst>
                  <a:ext uri="{FF2B5EF4-FFF2-40B4-BE49-F238E27FC236}">
                    <a16:creationId xmlns:a16="http://schemas.microsoft.com/office/drawing/2014/main" id="{86D307EE-DAB4-124E-D8C9-1BB3DCD177BA}"/>
                  </a:ext>
                </a:extLst>
              </p:cNvPr>
              <p:cNvSpPr txBox="1"/>
              <p:nvPr/>
            </p:nvSpPr>
            <p:spPr>
              <a:xfrm>
                <a:off x="1070313" y="1456900"/>
                <a:ext cx="2700823" cy="269304"/>
              </a:xfrm>
              <a:prstGeom prst="rect">
                <a:avLst/>
              </a:prstGeom>
              <a:grpFill/>
              <a:ln>
                <a:noFill/>
              </a:ln>
            </p:spPr>
            <p:txBody>
              <a:bodyPr wrap="square" anchor="ctr">
                <a:spAutoFit/>
              </a:bodyPr>
              <a:lstStyle/>
              <a:p>
                <a:pPr algn="l"/>
                <a:r>
                  <a:rPr lang="en-IN" sz="1150" b="1" dirty="0">
                    <a:solidFill>
                      <a:srgbClr val="082B5B"/>
                    </a:solidFill>
                    <a:latin typeface="Georgia"/>
                  </a:rPr>
                  <a:t>Problem Fit</a:t>
                </a:r>
                <a:endParaRPr sz="1150" b="1" dirty="0">
                  <a:solidFill>
                    <a:srgbClr val="082B5B"/>
                  </a:solidFill>
                  <a:latin typeface="Georgia"/>
                </a:endParaRPr>
              </a:p>
            </p:txBody>
          </p:sp>
          <p:sp>
            <p:nvSpPr>
              <p:cNvPr id="146" name="TextBox 145">
                <a:extLst>
                  <a:ext uri="{FF2B5EF4-FFF2-40B4-BE49-F238E27FC236}">
                    <a16:creationId xmlns:a16="http://schemas.microsoft.com/office/drawing/2014/main" id="{A2A9B023-9589-55A1-2DB6-931BFB9F21D9}"/>
                  </a:ext>
                </a:extLst>
              </p:cNvPr>
              <p:cNvSpPr txBox="1"/>
              <p:nvPr/>
            </p:nvSpPr>
            <p:spPr>
              <a:xfrm>
                <a:off x="1100540" y="1723988"/>
                <a:ext cx="2406864" cy="553998"/>
              </a:xfrm>
              <a:prstGeom prst="rect">
                <a:avLst/>
              </a:prstGeom>
              <a:grpFill/>
              <a:ln>
                <a:noFill/>
              </a:ln>
            </p:spPr>
            <p:txBody>
              <a:bodyPr wrap="square" anchor="t">
                <a:spAutoFit/>
              </a:bodyPr>
              <a:lstStyle/>
              <a:p>
                <a:r>
                  <a:rPr lang="en-US" sz="1000" dirty="0">
                    <a:solidFill>
                      <a:srgbClr val="082B5B"/>
                    </a:solidFill>
                    <a:latin typeface="Aptos"/>
                  </a:rPr>
                  <a:t>Directly addresses fragmented student assessment, skill-gap identification, career readiness and guidance.</a:t>
                </a:r>
                <a:endParaRPr sz="1000" b="0" dirty="0">
                  <a:solidFill>
                    <a:srgbClr val="082B5B"/>
                  </a:solidFill>
                  <a:latin typeface="Aptos"/>
                </a:endParaRPr>
              </a:p>
            </p:txBody>
          </p:sp>
        </p:grpSp>
        <p:grpSp>
          <p:nvGrpSpPr>
            <p:cNvPr id="181" name="Group 180">
              <a:extLst>
                <a:ext uri="{FF2B5EF4-FFF2-40B4-BE49-F238E27FC236}">
                  <a16:creationId xmlns:a16="http://schemas.microsoft.com/office/drawing/2014/main" id="{80AE03AE-CCA2-3321-B845-13DFA80EF0FF}"/>
                </a:ext>
              </a:extLst>
            </p:cNvPr>
            <p:cNvGrpSpPr/>
            <p:nvPr/>
          </p:nvGrpSpPr>
          <p:grpSpPr>
            <a:xfrm>
              <a:off x="4087368" y="2509351"/>
              <a:ext cx="3740447" cy="2137155"/>
              <a:chOff x="4087368" y="2509351"/>
              <a:chExt cx="3740447" cy="2137155"/>
            </a:xfrm>
            <a:grpFill/>
          </p:grpSpPr>
          <p:grpSp>
            <p:nvGrpSpPr>
              <p:cNvPr id="147" name="Group 146">
                <a:extLst>
                  <a:ext uri="{FF2B5EF4-FFF2-40B4-BE49-F238E27FC236}">
                    <a16:creationId xmlns:a16="http://schemas.microsoft.com/office/drawing/2014/main" id="{34EEA6F4-FA5D-6B90-4AC3-E6AB806BAF30}"/>
                  </a:ext>
                </a:extLst>
              </p:cNvPr>
              <p:cNvGrpSpPr/>
              <p:nvPr/>
            </p:nvGrpSpPr>
            <p:grpSpPr>
              <a:xfrm>
                <a:off x="4087368" y="2509351"/>
                <a:ext cx="3740447" cy="1016338"/>
                <a:chOff x="137160" y="4790102"/>
                <a:chExt cx="3740447" cy="1016338"/>
              </a:xfrm>
              <a:grpFill/>
            </p:grpSpPr>
            <p:sp>
              <p:nvSpPr>
                <p:cNvPr id="148" name="Rounded Rectangle 38">
                  <a:extLst>
                    <a:ext uri="{FF2B5EF4-FFF2-40B4-BE49-F238E27FC236}">
                      <a16:creationId xmlns:a16="http://schemas.microsoft.com/office/drawing/2014/main" id="{47D1ABE8-69D3-EAA8-CFD7-979EA912090F}"/>
                    </a:ext>
                  </a:extLst>
                </p:cNvPr>
                <p:cNvSpPr/>
                <p:nvPr/>
              </p:nvSpPr>
              <p:spPr>
                <a:xfrm>
                  <a:off x="137160" y="4790102"/>
                  <a:ext cx="3703320" cy="1016338"/>
                </a:xfrm>
                <a:prstGeom prst="roundRect">
                  <a:avLst/>
                </a:prstGeom>
                <a:grpFill/>
                <a:ln w="1016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TextBox 149">
                  <a:extLst>
                    <a:ext uri="{FF2B5EF4-FFF2-40B4-BE49-F238E27FC236}">
                      <a16:creationId xmlns:a16="http://schemas.microsoft.com/office/drawing/2014/main" id="{CBC092F4-D43F-4A1D-CE6F-9B23E2736A9B}"/>
                    </a:ext>
                  </a:extLst>
                </p:cNvPr>
                <p:cNvSpPr txBox="1"/>
                <p:nvPr/>
              </p:nvSpPr>
              <p:spPr>
                <a:xfrm>
                  <a:off x="1070399" y="4839814"/>
                  <a:ext cx="2807208" cy="269304"/>
                </a:xfrm>
                <a:prstGeom prst="rect">
                  <a:avLst/>
                </a:prstGeom>
                <a:grpFill/>
                <a:ln>
                  <a:noFill/>
                </a:ln>
              </p:spPr>
              <p:txBody>
                <a:bodyPr wrap="square" anchor="ctr">
                  <a:spAutoFit/>
                </a:bodyPr>
                <a:lstStyle/>
                <a:p>
                  <a:pPr algn="l"/>
                  <a:r>
                    <a:rPr lang="en-IN" sz="1150" b="1" dirty="0">
                      <a:solidFill>
                        <a:srgbClr val="082B5B"/>
                      </a:solidFill>
                      <a:latin typeface="Georgia"/>
                    </a:rPr>
                    <a:t>Adoption Potential</a:t>
                  </a:r>
                  <a:endParaRPr sz="1150" b="1" dirty="0">
                    <a:solidFill>
                      <a:srgbClr val="082B5B"/>
                    </a:solidFill>
                    <a:latin typeface="Georgia"/>
                  </a:endParaRPr>
                </a:p>
              </p:txBody>
            </p:sp>
            <p:sp>
              <p:nvSpPr>
                <p:cNvPr id="151" name="TextBox 150">
                  <a:extLst>
                    <a:ext uri="{FF2B5EF4-FFF2-40B4-BE49-F238E27FC236}">
                      <a16:creationId xmlns:a16="http://schemas.microsoft.com/office/drawing/2014/main" id="{7AF5F0F4-02E5-A53F-938C-1D1AD027B2DF}"/>
                    </a:ext>
                  </a:extLst>
                </p:cNvPr>
                <p:cNvSpPr txBox="1"/>
                <p:nvPr/>
              </p:nvSpPr>
              <p:spPr>
                <a:xfrm>
                  <a:off x="1054930" y="5128560"/>
                  <a:ext cx="2329820" cy="553998"/>
                </a:xfrm>
                <a:prstGeom prst="rect">
                  <a:avLst/>
                </a:prstGeom>
                <a:grpFill/>
                <a:ln>
                  <a:noFill/>
                </a:ln>
              </p:spPr>
              <p:txBody>
                <a:bodyPr wrap="square" anchor="t">
                  <a:spAutoFit/>
                </a:bodyPr>
                <a:lstStyle/>
                <a:p>
                  <a:r>
                    <a:rPr lang="en-US" sz="1000" dirty="0">
                      <a:solidFill>
                        <a:srgbClr val="082B5B"/>
                      </a:solidFill>
                      <a:latin typeface="Aptos"/>
                    </a:rPr>
                    <a:t>Useful for students, faculty, institutions And industry through measurable Readiness insights.</a:t>
                  </a:r>
                  <a:endParaRPr sz="1000" b="0" dirty="0">
                    <a:solidFill>
                      <a:srgbClr val="082B5B"/>
                    </a:solidFill>
                    <a:latin typeface="Aptos"/>
                  </a:endParaRPr>
                </a:p>
              </p:txBody>
            </p:sp>
          </p:grpSp>
          <p:grpSp>
            <p:nvGrpSpPr>
              <p:cNvPr id="152" name="Group 151">
                <a:extLst>
                  <a:ext uri="{FF2B5EF4-FFF2-40B4-BE49-F238E27FC236}">
                    <a16:creationId xmlns:a16="http://schemas.microsoft.com/office/drawing/2014/main" id="{608BA47D-42B1-C144-47B1-98241BC76C5E}"/>
                  </a:ext>
                </a:extLst>
              </p:cNvPr>
              <p:cNvGrpSpPr/>
              <p:nvPr/>
            </p:nvGrpSpPr>
            <p:grpSpPr>
              <a:xfrm>
                <a:off x="4087368" y="3630168"/>
                <a:ext cx="3712549" cy="1016338"/>
                <a:chOff x="137160" y="4790102"/>
                <a:chExt cx="3712549" cy="1016338"/>
              </a:xfrm>
              <a:grpFill/>
            </p:grpSpPr>
            <p:sp>
              <p:nvSpPr>
                <p:cNvPr id="153" name="Rounded Rectangle 38">
                  <a:extLst>
                    <a:ext uri="{FF2B5EF4-FFF2-40B4-BE49-F238E27FC236}">
                      <a16:creationId xmlns:a16="http://schemas.microsoft.com/office/drawing/2014/main" id="{182BC142-0CC1-7064-C6B3-80415BEAF164}"/>
                    </a:ext>
                  </a:extLst>
                </p:cNvPr>
                <p:cNvSpPr/>
                <p:nvPr/>
              </p:nvSpPr>
              <p:spPr>
                <a:xfrm>
                  <a:off x="137160" y="4790102"/>
                  <a:ext cx="3703320" cy="1016338"/>
                </a:xfrm>
                <a:prstGeom prst="roundRect">
                  <a:avLst/>
                </a:prstGeom>
                <a:grpFill/>
                <a:ln w="10160">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TextBox 154">
                  <a:extLst>
                    <a:ext uri="{FF2B5EF4-FFF2-40B4-BE49-F238E27FC236}">
                      <a16:creationId xmlns:a16="http://schemas.microsoft.com/office/drawing/2014/main" id="{979949EA-6816-F8C2-251C-1F2D5FA6F52D}"/>
                    </a:ext>
                  </a:extLst>
                </p:cNvPr>
                <p:cNvSpPr txBox="1"/>
                <p:nvPr/>
              </p:nvSpPr>
              <p:spPr>
                <a:xfrm>
                  <a:off x="1042501" y="4838482"/>
                  <a:ext cx="2807208" cy="269304"/>
                </a:xfrm>
                <a:prstGeom prst="rect">
                  <a:avLst/>
                </a:prstGeom>
                <a:grpFill/>
                <a:ln>
                  <a:noFill/>
                </a:ln>
              </p:spPr>
              <p:txBody>
                <a:bodyPr wrap="square" anchor="ctr">
                  <a:spAutoFit/>
                </a:bodyPr>
                <a:lstStyle/>
                <a:p>
                  <a:pPr algn="l"/>
                  <a:r>
                    <a:rPr lang="en-IN" sz="1150" b="1" dirty="0">
                      <a:solidFill>
                        <a:srgbClr val="082B5B"/>
                      </a:solidFill>
                      <a:latin typeface="Georgia"/>
                    </a:rPr>
                    <a:t>Scalability</a:t>
                  </a:r>
                  <a:endParaRPr sz="1150" b="1" dirty="0">
                    <a:solidFill>
                      <a:srgbClr val="082B5B"/>
                    </a:solidFill>
                    <a:latin typeface="Georgia"/>
                  </a:endParaRPr>
                </a:p>
              </p:txBody>
            </p:sp>
            <p:sp>
              <p:nvSpPr>
                <p:cNvPr id="156" name="TextBox 155">
                  <a:extLst>
                    <a:ext uri="{FF2B5EF4-FFF2-40B4-BE49-F238E27FC236}">
                      <a16:creationId xmlns:a16="http://schemas.microsoft.com/office/drawing/2014/main" id="{C9238C93-93AB-BDBA-148E-F2E66D8C190B}"/>
                    </a:ext>
                  </a:extLst>
                </p:cNvPr>
                <p:cNvSpPr txBox="1"/>
                <p:nvPr/>
              </p:nvSpPr>
              <p:spPr>
                <a:xfrm>
                  <a:off x="1054930" y="5073718"/>
                  <a:ext cx="2025396" cy="707886"/>
                </a:xfrm>
                <a:prstGeom prst="rect">
                  <a:avLst/>
                </a:prstGeom>
                <a:grpFill/>
                <a:ln>
                  <a:noFill/>
                </a:ln>
              </p:spPr>
              <p:txBody>
                <a:bodyPr wrap="square" anchor="t">
                  <a:spAutoFit/>
                </a:bodyPr>
                <a:lstStyle/>
                <a:p>
                  <a:r>
                    <a:rPr lang="en-US" sz="1000" dirty="0">
                      <a:solidFill>
                        <a:srgbClr val="082B5B"/>
                      </a:solidFill>
                      <a:latin typeface="Aptos"/>
                    </a:rPr>
                    <a:t>Modular services can expand across departments, institutions and user volumes without redesigning the core platform.</a:t>
                  </a:r>
                  <a:endParaRPr lang="en-IN" sz="1000" dirty="0">
                    <a:solidFill>
                      <a:srgbClr val="082B5B"/>
                    </a:solidFill>
                    <a:latin typeface="Aptos"/>
                  </a:endParaRPr>
                </a:p>
              </p:txBody>
            </p:sp>
          </p:grpSp>
        </p:grpSp>
      </p:grpSp>
      <p:grpSp>
        <p:nvGrpSpPr>
          <p:cNvPr id="157" name="Group 156">
            <a:extLst>
              <a:ext uri="{FF2B5EF4-FFF2-40B4-BE49-F238E27FC236}">
                <a16:creationId xmlns:a16="http://schemas.microsoft.com/office/drawing/2014/main" id="{8C90058F-5787-C10C-C5F4-C45037D9C50A}"/>
              </a:ext>
            </a:extLst>
          </p:cNvPr>
          <p:cNvGrpSpPr/>
          <p:nvPr/>
        </p:nvGrpSpPr>
        <p:grpSpPr>
          <a:xfrm>
            <a:off x="8056881" y="2138285"/>
            <a:ext cx="3703320" cy="1016338"/>
            <a:chOff x="105663" y="1396577"/>
            <a:chExt cx="3703320" cy="1016338"/>
          </a:xfrm>
          <a:solidFill>
            <a:srgbClr val="EBF9EE"/>
          </a:solidFill>
        </p:grpSpPr>
        <p:sp>
          <p:nvSpPr>
            <p:cNvPr id="162" name="Rounded Rectangle 38">
              <a:extLst>
                <a:ext uri="{FF2B5EF4-FFF2-40B4-BE49-F238E27FC236}">
                  <a16:creationId xmlns:a16="http://schemas.microsoft.com/office/drawing/2014/main" id="{7334751D-9026-F0BA-AA53-C8294E5AB75F}"/>
                </a:ext>
              </a:extLst>
            </p:cNvPr>
            <p:cNvSpPr/>
            <p:nvPr/>
          </p:nvSpPr>
          <p:spPr>
            <a:xfrm>
              <a:off x="105663" y="1396577"/>
              <a:ext cx="3703320" cy="1016338"/>
            </a:xfrm>
            <a:prstGeom prst="roundRect">
              <a:avLst/>
            </a:prstGeom>
            <a:solidFill>
              <a:srgbClr val="E8F5FF"/>
            </a:solidFill>
            <a:ln w="10160">
              <a:solidFill>
                <a:srgbClr val="558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64" name="TextBox 163">
              <a:extLst>
                <a:ext uri="{FF2B5EF4-FFF2-40B4-BE49-F238E27FC236}">
                  <a16:creationId xmlns:a16="http://schemas.microsoft.com/office/drawing/2014/main" id="{956871A6-E140-FC3F-8857-9CB0D1DED42F}"/>
                </a:ext>
              </a:extLst>
            </p:cNvPr>
            <p:cNvSpPr txBox="1"/>
            <p:nvPr/>
          </p:nvSpPr>
          <p:spPr>
            <a:xfrm>
              <a:off x="896112" y="1450223"/>
              <a:ext cx="2807208" cy="269304"/>
            </a:xfrm>
            <a:prstGeom prst="rect">
              <a:avLst/>
            </a:prstGeom>
            <a:solidFill>
              <a:srgbClr val="E8F5FF"/>
            </a:solidFill>
            <a:ln>
              <a:noFill/>
            </a:ln>
          </p:spPr>
          <p:txBody>
            <a:bodyPr wrap="square" anchor="ctr">
              <a:spAutoFit/>
            </a:bodyPr>
            <a:lstStyle/>
            <a:p>
              <a:pPr algn="l"/>
              <a:r>
                <a:rPr lang="en-IN" sz="1150" b="1" dirty="0" err="1">
                  <a:solidFill>
                    <a:srgbClr val="082B5B"/>
                  </a:solidFill>
                  <a:latin typeface="Georgia"/>
                </a:rPr>
                <a:t>Instiutional</a:t>
              </a:r>
              <a:r>
                <a:rPr lang="en-IN" sz="1150" b="1" dirty="0">
                  <a:solidFill>
                    <a:srgbClr val="082B5B"/>
                  </a:solidFill>
                  <a:latin typeface="Georgia"/>
                </a:rPr>
                <a:t> Adoption</a:t>
              </a:r>
              <a:endParaRPr sz="1150" b="1" dirty="0">
                <a:solidFill>
                  <a:srgbClr val="082B5B"/>
                </a:solidFill>
                <a:latin typeface="Georgia"/>
              </a:endParaRPr>
            </a:p>
          </p:txBody>
        </p:sp>
        <p:sp>
          <p:nvSpPr>
            <p:cNvPr id="165" name="TextBox 164">
              <a:extLst>
                <a:ext uri="{FF2B5EF4-FFF2-40B4-BE49-F238E27FC236}">
                  <a16:creationId xmlns:a16="http://schemas.microsoft.com/office/drawing/2014/main" id="{14DAF4E5-4A89-E25B-8842-FD8738635EB6}"/>
                </a:ext>
              </a:extLst>
            </p:cNvPr>
            <p:cNvSpPr txBox="1"/>
            <p:nvPr/>
          </p:nvSpPr>
          <p:spPr>
            <a:xfrm>
              <a:off x="929554" y="1740106"/>
              <a:ext cx="2807208" cy="400110"/>
            </a:xfrm>
            <a:prstGeom prst="rect">
              <a:avLst/>
            </a:prstGeom>
            <a:solidFill>
              <a:srgbClr val="E8F5FF"/>
            </a:solidFill>
            <a:ln>
              <a:noFill/>
            </a:ln>
          </p:spPr>
          <p:txBody>
            <a:bodyPr wrap="square" anchor="t">
              <a:spAutoFit/>
            </a:bodyPr>
            <a:lstStyle/>
            <a:p>
              <a:r>
                <a:rPr lang="en-US" sz="1000" dirty="0">
                  <a:solidFill>
                    <a:srgbClr val="082B5B"/>
                  </a:solidFill>
                  <a:latin typeface="Aptos"/>
                </a:rPr>
                <a:t>B2B/B2G deployment for </a:t>
              </a:r>
              <a:r>
                <a:rPr lang="en-US" sz="1000" dirty="0" err="1">
                  <a:solidFill>
                    <a:srgbClr val="082B5B"/>
                  </a:solidFill>
                  <a:latin typeface="Aptos"/>
                </a:rPr>
                <a:t>colleges,universities</a:t>
              </a:r>
              <a:r>
                <a:rPr lang="en-US" sz="1000" dirty="0">
                  <a:solidFill>
                    <a:srgbClr val="082B5B"/>
                  </a:solidFill>
                  <a:latin typeface="Aptos"/>
                </a:rPr>
                <a:t> and skill-development ecosystems.</a:t>
              </a:r>
              <a:endParaRPr sz="1000" b="0" dirty="0">
                <a:solidFill>
                  <a:srgbClr val="082B5B"/>
                </a:solidFill>
                <a:latin typeface="Aptos"/>
              </a:endParaRPr>
            </a:p>
          </p:txBody>
        </p:sp>
      </p:grpSp>
      <p:grpSp>
        <p:nvGrpSpPr>
          <p:cNvPr id="176" name="Group 175">
            <a:extLst>
              <a:ext uri="{FF2B5EF4-FFF2-40B4-BE49-F238E27FC236}">
                <a16:creationId xmlns:a16="http://schemas.microsoft.com/office/drawing/2014/main" id="{389DA162-0BFA-D7D3-7632-1F31A9E9354A}"/>
              </a:ext>
            </a:extLst>
          </p:cNvPr>
          <p:cNvGrpSpPr/>
          <p:nvPr/>
        </p:nvGrpSpPr>
        <p:grpSpPr>
          <a:xfrm>
            <a:off x="8188075" y="1221953"/>
            <a:ext cx="3535679" cy="503081"/>
            <a:chOff x="593551" y="534562"/>
            <a:chExt cx="2997571" cy="629067"/>
          </a:xfrm>
          <a:solidFill>
            <a:srgbClr val="558ED5"/>
          </a:solidFill>
        </p:grpSpPr>
        <p:sp>
          <p:nvSpPr>
            <p:cNvPr id="177" name="Chevron 107">
              <a:extLst>
                <a:ext uri="{FF2B5EF4-FFF2-40B4-BE49-F238E27FC236}">
                  <a16:creationId xmlns:a16="http://schemas.microsoft.com/office/drawing/2014/main" id="{CB987A6C-C880-2D9B-BE80-DF868FB998B5}"/>
                </a:ext>
              </a:extLst>
            </p:cNvPr>
            <p:cNvSpPr/>
            <p:nvPr/>
          </p:nvSpPr>
          <p:spPr>
            <a:xfrm>
              <a:off x="593551" y="534562"/>
              <a:ext cx="2997571" cy="629067"/>
            </a:xfrm>
            <a:prstGeom prst="chevron">
              <a:avLst/>
            </a:prstGeom>
            <a:solidFill>
              <a:srgbClr val="558ED5"/>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dirty="0"/>
            </a:p>
          </p:txBody>
        </p:sp>
        <p:sp>
          <p:nvSpPr>
            <p:cNvPr id="178" name="TextBox 177">
              <a:extLst>
                <a:ext uri="{FF2B5EF4-FFF2-40B4-BE49-F238E27FC236}">
                  <a16:creationId xmlns:a16="http://schemas.microsoft.com/office/drawing/2014/main" id="{B1861326-C39F-AC4D-C1A4-B368802619F5}"/>
                </a:ext>
              </a:extLst>
            </p:cNvPr>
            <p:cNvSpPr txBox="1"/>
            <p:nvPr/>
          </p:nvSpPr>
          <p:spPr>
            <a:xfrm>
              <a:off x="846832" y="667723"/>
              <a:ext cx="2582353" cy="346368"/>
            </a:xfrm>
            <a:prstGeom prst="rect">
              <a:avLst/>
            </a:prstGeom>
            <a:grpFill/>
            <a:ln>
              <a:solidFill>
                <a:srgbClr val="00B050"/>
              </a:solidFill>
            </a:ln>
          </p:spPr>
          <p:txBody>
            <a:bodyPr wrap="square" anchor="ctr">
              <a:spAutoFit/>
            </a:bodyPr>
            <a:lstStyle/>
            <a:p>
              <a:pPr algn="ctr"/>
              <a:r>
                <a:rPr lang="en-IN" sz="1200" b="1" dirty="0">
                  <a:solidFill>
                    <a:schemeClr val="bg1"/>
                  </a:solidFill>
                  <a:latin typeface="Georgia"/>
                </a:rPr>
                <a:t>   BUSINESS POTENTIAL       </a:t>
              </a:r>
              <a:endParaRPr sz="1200" b="1" dirty="0">
                <a:solidFill>
                  <a:schemeClr val="bg1"/>
                </a:solidFill>
                <a:latin typeface="Georgia"/>
              </a:endParaRPr>
            </a:p>
          </p:txBody>
        </p:sp>
      </p:grpSp>
      <p:pic>
        <p:nvPicPr>
          <p:cNvPr id="179" name="Picture 178" descr="a_clean_vector_logo_graphic_on_a_white_background.png">
            <a:extLst>
              <a:ext uri="{FF2B5EF4-FFF2-40B4-BE49-F238E27FC236}">
                <a16:creationId xmlns:a16="http://schemas.microsoft.com/office/drawing/2014/main" id="{A46B4CE4-C8D9-540B-7150-6E6B9300BED6}"/>
              </a:ext>
            </a:extLst>
          </p:cNvPr>
          <p:cNvPicPr>
            <a:picLocks noChangeAspect="1"/>
          </p:cNvPicPr>
          <p:nvPr/>
        </p:nvPicPr>
        <p:blipFill>
          <a:blip r:embed="rId3"/>
          <a:stretch>
            <a:fillRect/>
          </a:stretch>
        </p:blipFill>
        <p:spPr>
          <a:xfrm>
            <a:off x="10487829" y="13716"/>
            <a:ext cx="1691640" cy="950976"/>
          </a:xfrm>
          <a:prstGeom prst="rect">
            <a:avLst/>
          </a:prstGeom>
        </p:spPr>
      </p:pic>
      <p:grpSp>
        <p:nvGrpSpPr>
          <p:cNvPr id="184" name="Group 183">
            <a:extLst>
              <a:ext uri="{FF2B5EF4-FFF2-40B4-BE49-F238E27FC236}">
                <a16:creationId xmlns:a16="http://schemas.microsoft.com/office/drawing/2014/main" id="{9CCB410F-3D85-0550-0A7F-C93A54F8BA13}"/>
              </a:ext>
            </a:extLst>
          </p:cNvPr>
          <p:cNvGrpSpPr/>
          <p:nvPr/>
        </p:nvGrpSpPr>
        <p:grpSpPr>
          <a:xfrm>
            <a:off x="8081690" y="3314986"/>
            <a:ext cx="3759116" cy="3301142"/>
            <a:chOff x="105663" y="1396577"/>
            <a:chExt cx="3759116" cy="3301142"/>
          </a:xfrm>
          <a:solidFill>
            <a:srgbClr val="EBF9EE"/>
          </a:solidFill>
        </p:grpSpPr>
        <p:sp>
          <p:nvSpPr>
            <p:cNvPr id="185" name="Rounded Rectangle 38">
              <a:extLst>
                <a:ext uri="{FF2B5EF4-FFF2-40B4-BE49-F238E27FC236}">
                  <a16:creationId xmlns:a16="http://schemas.microsoft.com/office/drawing/2014/main" id="{965E213F-E6D1-1EE9-A4EC-6F7FF20BDEA5}"/>
                </a:ext>
              </a:extLst>
            </p:cNvPr>
            <p:cNvSpPr/>
            <p:nvPr/>
          </p:nvSpPr>
          <p:spPr>
            <a:xfrm>
              <a:off x="105663" y="1396577"/>
              <a:ext cx="3703320" cy="1016338"/>
            </a:xfrm>
            <a:prstGeom prst="roundRect">
              <a:avLst/>
            </a:prstGeom>
            <a:solidFill>
              <a:srgbClr val="E8F5FF"/>
            </a:solidFill>
            <a:ln w="10160">
              <a:solidFill>
                <a:srgbClr val="558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87" name="TextBox 186">
              <a:extLst>
                <a:ext uri="{FF2B5EF4-FFF2-40B4-BE49-F238E27FC236}">
                  <a16:creationId xmlns:a16="http://schemas.microsoft.com/office/drawing/2014/main" id="{44FE9404-2921-C503-6B9A-B3A5744BC351}"/>
                </a:ext>
              </a:extLst>
            </p:cNvPr>
            <p:cNvSpPr txBox="1"/>
            <p:nvPr/>
          </p:nvSpPr>
          <p:spPr>
            <a:xfrm>
              <a:off x="896112" y="1450223"/>
              <a:ext cx="2807208" cy="269304"/>
            </a:xfrm>
            <a:prstGeom prst="rect">
              <a:avLst/>
            </a:prstGeom>
            <a:solidFill>
              <a:srgbClr val="E8F5FF"/>
            </a:solidFill>
            <a:ln>
              <a:noFill/>
            </a:ln>
          </p:spPr>
          <p:txBody>
            <a:bodyPr wrap="square" anchor="ctr">
              <a:spAutoFit/>
            </a:bodyPr>
            <a:lstStyle/>
            <a:p>
              <a:pPr algn="l"/>
              <a:r>
                <a:rPr lang="en-IN" sz="1150" b="1" dirty="0">
                  <a:solidFill>
                    <a:srgbClr val="082B5B"/>
                  </a:solidFill>
                  <a:latin typeface="Georgia"/>
                </a:rPr>
                <a:t>Revenue Streams </a:t>
              </a:r>
              <a:endParaRPr sz="1150" b="1" dirty="0">
                <a:solidFill>
                  <a:srgbClr val="082B5B"/>
                </a:solidFill>
                <a:latin typeface="Georgia"/>
              </a:endParaRPr>
            </a:p>
          </p:txBody>
        </p:sp>
        <p:sp>
          <p:nvSpPr>
            <p:cNvPr id="188" name="TextBox 187">
              <a:extLst>
                <a:ext uri="{FF2B5EF4-FFF2-40B4-BE49-F238E27FC236}">
                  <a16:creationId xmlns:a16="http://schemas.microsoft.com/office/drawing/2014/main" id="{7B3BD0B7-C81B-F390-92C9-AE5BE6F6BC9F}"/>
                </a:ext>
              </a:extLst>
            </p:cNvPr>
            <p:cNvSpPr txBox="1"/>
            <p:nvPr/>
          </p:nvSpPr>
          <p:spPr>
            <a:xfrm>
              <a:off x="960456" y="1701062"/>
              <a:ext cx="2025396" cy="553998"/>
            </a:xfrm>
            <a:prstGeom prst="rect">
              <a:avLst/>
            </a:prstGeom>
            <a:solidFill>
              <a:srgbClr val="E8F5FF"/>
            </a:solidFill>
            <a:ln>
              <a:noFill/>
            </a:ln>
          </p:spPr>
          <p:txBody>
            <a:bodyPr wrap="square" anchor="t">
              <a:spAutoFit/>
            </a:bodyPr>
            <a:lstStyle/>
            <a:p>
              <a:r>
                <a:rPr lang="en-US" sz="1000" dirty="0">
                  <a:solidFill>
                    <a:srgbClr val="082B5B"/>
                  </a:solidFill>
                  <a:latin typeface="Aptos"/>
                </a:rPr>
                <a:t>Institutional licensing, premium analytics, assessment services and industry partnerships.</a:t>
              </a:r>
              <a:endParaRPr sz="1000" b="0" dirty="0">
                <a:solidFill>
                  <a:srgbClr val="082B5B"/>
                </a:solidFill>
                <a:latin typeface="Aptos"/>
              </a:endParaRPr>
            </a:p>
          </p:txBody>
        </p:sp>
        <p:sp>
          <p:nvSpPr>
            <p:cNvPr id="194" name="Rounded Rectangle 38">
              <a:extLst>
                <a:ext uri="{FF2B5EF4-FFF2-40B4-BE49-F238E27FC236}">
                  <a16:creationId xmlns:a16="http://schemas.microsoft.com/office/drawing/2014/main" id="{D042AC8D-2E16-1AC7-5DC8-58FDAF2A28FC}"/>
                </a:ext>
              </a:extLst>
            </p:cNvPr>
            <p:cNvSpPr/>
            <p:nvPr/>
          </p:nvSpPr>
          <p:spPr>
            <a:xfrm>
              <a:off x="133561" y="2538979"/>
              <a:ext cx="3703320" cy="1016338"/>
            </a:xfrm>
            <a:prstGeom prst="roundRect">
              <a:avLst/>
            </a:prstGeom>
            <a:solidFill>
              <a:srgbClr val="E8F5FF"/>
            </a:solidFill>
            <a:ln w="10160">
              <a:solidFill>
                <a:srgbClr val="558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96" name="TextBox 195">
              <a:extLst>
                <a:ext uri="{FF2B5EF4-FFF2-40B4-BE49-F238E27FC236}">
                  <a16:creationId xmlns:a16="http://schemas.microsoft.com/office/drawing/2014/main" id="{4D7DDE1E-98D1-127F-B27A-900F67E48A5D}"/>
                </a:ext>
              </a:extLst>
            </p:cNvPr>
            <p:cNvSpPr txBox="1"/>
            <p:nvPr/>
          </p:nvSpPr>
          <p:spPr>
            <a:xfrm>
              <a:off x="924010" y="2592625"/>
              <a:ext cx="2807208" cy="269304"/>
            </a:xfrm>
            <a:prstGeom prst="rect">
              <a:avLst/>
            </a:prstGeom>
            <a:solidFill>
              <a:srgbClr val="E8F5FF"/>
            </a:solidFill>
            <a:ln>
              <a:noFill/>
            </a:ln>
          </p:spPr>
          <p:txBody>
            <a:bodyPr wrap="square" anchor="ctr">
              <a:spAutoFit/>
            </a:bodyPr>
            <a:lstStyle/>
            <a:p>
              <a:pPr algn="l"/>
              <a:r>
                <a:rPr lang="en-IN" sz="1150" b="1" dirty="0">
                  <a:solidFill>
                    <a:srgbClr val="082B5B"/>
                  </a:solidFill>
                  <a:latin typeface="Georgia"/>
                </a:rPr>
                <a:t>Market Expansion</a:t>
              </a:r>
              <a:endParaRPr sz="1150" b="1" dirty="0">
                <a:solidFill>
                  <a:srgbClr val="082B5B"/>
                </a:solidFill>
                <a:latin typeface="Georgia"/>
              </a:endParaRPr>
            </a:p>
          </p:txBody>
        </p:sp>
        <p:sp>
          <p:nvSpPr>
            <p:cNvPr id="197" name="TextBox 196">
              <a:extLst>
                <a:ext uri="{FF2B5EF4-FFF2-40B4-BE49-F238E27FC236}">
                  <a16:creationId xmlns:a16="http://schemas.microsoft.com/office/drawing/2014/main" id="{23A7B985-D9CE-4293-AEC9-D11C3ECAAD5C}"/>
                </a:ext>
              </a:extLst>
            </p:cNvPr>
            <p:cNvSpPr txBox="1"/>
            <p:nvPr/>
          </p:nvSpPr>
          <p:spPr>
            <a:xfrm>
              <a:off x="985351" y="2833709"/>
              <a:ext cx="2358298" cy="553998"/>
            </a:xfrm>
            <a:prstGeom prst="rect">
              <a:avLst/>
            </a:prstGeom>
            <a:solidFill>
              <a:srgbClr val="E8F5FF"/>
            </a:solidFill>
            <a:ln>
              <a:noFill/>
            </a:ln>
          </p:spPr>
          <p:txBody>
            <a:bodyPr wrap="square" anchor="t">
              <a:spAutoFit/>
            </a:bodyPr>
            <a:lstStyle/>
            <a:p>
              <a:r>
                <a:rPr lang="en-US" sz="1000" dirty="0">
                  <a:solidFill>
                    <a:srgbClr val="082B5B"/>
                  </a:solidFill>
                  <a:latin typeface="Aptos"/>
                </a:rPr>
                <a:t>Extend from colleges to training institutes, placement cells and employability platforms.</a:t>
              </a:r>
              <a:endParaRPr sz="1000" b="0" dirty="0">
                <a:solidFill>
                  <a:srgbClr val="082B5B"/>
                </a:solidFill>
                <a:latin typeface="Aptos"/>
              </a:endParaRPr>
            </a:p>
          </p:txBody>
        </p:sp>
        <p:sp>
          <p:nvSpPr>
            <p:cNvPr id="198" name="Rounded Rectangle 38">
              <a:extLst>
                <a:ext uri="{FF2B5EF4-FFF2-40B4-BE49-F238E27FC236}">
                  <a16:creationId xmlns:a16="http://schemas.microsoft.com/office/drawing/2014/main" id="{E6DE662A-F450-63DE-3CE9-145D7D6FAA89}"/>
                </a:ext>
              </a:extLst>
            </p:cNvPr>
            <p:cNvSpPr/>
            <p:nvPr/>
          </p:nvSpPr>
          <p:spPr>
            <a:xfrm>
              <a:off x="161459" y="3681381"/>
              <a:ext cx="3703320" cy="1016338"/>
            </a:xfrm>
            <a:prstGeom prst="roundRect">
              <a:avLst/>
            </a:prstGeom>
            <a:solidFill>
              <a:srgbClr val="E8F5FF"/>
            </a:solidFill>
            <a:ln w="10160">
              <a:solidFill>
                <a:srgbClr val="558E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00" name="TextBox 199">
              <a:extLst>
                <a:ext uri="{FF2B5EF4-FFF2-40B4-BE49-F238E27FC236}">
                  <a16:creationId xmlns:a16="http://schemas.microsoft.com/office/drawing/2014/main" id="{E930327A-FFE1-C26C-8B1C-18478648F306}"/>
                </a:ext>
              </a:extLst>
            </p:cNvPr>
            <p:cNvSpPr txBox="1"/>
            <p:nvPr/>
          </p:nvSpPr>
          <p:spPr>
            <a:xfrm>
              <a:off x="951908" y="3735027"/>
              <a:ext cx="2807208" cy="269304"/>
            </a:xfrm>
            <a:prstGeom prst="rect">
              <a:avLst/>
            </a:prstGeom>
            <a:solidFill>
              <a:srgbClr val="E8F5FF"/>
            </a:solidFill>
            <a:ln>
              <a:noFill/>
            </a:ln>
          </p:spPr>
          <p:txBody>
            <a:bodyPr wrap="square" anchor="ctr">
              <a:spAutoFit/>
            </a:bodyPr>
            <a:lstStyle/>
            <a:p>
              <a:pPr algn="l"/>
              <a:r>
                <a:rPr lang="en-IN" sz="1150" b="1" dirty="0">
                  <a:solidFill>
                    <a:srgbClr val="082B5B"/>
                  </a:solidFill>
                  <a:latin typeface="Georgia"/>
                </a:rPr>
                <a:t>Social &amp; Economic Impact</a:t>
              </a:r>
              <a:endParaRPr sz="1150" b="1" dirty="0">
                <a:solidFill>
                  <a:srgbClr val="082B5B"/>
                </a:solidFill>
                <a:latin typeface="Georgia"/>
              </a:endParaRPr>
            </a:p>
          </p:txBody>
        </p:sp>
        <p:sp>
          <p:nvSpPr>
            <p:cNvPr id="201" name="TextBox 200">
              <a:extLst>
                <a:ext uri="{FF2B5EF4-FFF2-40B4-BE49-F238E27FC236}">
                  <a16:creationId xmlns:a16="http://schemas.microsoft.com/office/drawing/2014/main" id="{B13F1A7F-BE78-366E-F767-C7B6B26B1BE2}"/>
                </a:ext>
              </a:extLst>
            </p:cNvPr>
            <p:cNvSpPr txBox="1"/>
            <p:nvPr/>
          </p:nvSpPr>
          <p:spPr>
            <a:xfrm>
              <a:off x="1000421" y="3975773"/>
              <a:ext cx="2025396" cy="553998"/>
            </a:xfrm>
            <a:prstGeom prst="rect">
              <a:avLst/>
            </a:prstGeom>
            <a:solidFill>
              <a:srgbClr val="E8F5FF"/>
            </a:solidFill>
            <a:ln>
              <a:noFill/>
            </a:ln>
          </p:spPr>
          <p:txBody>
            <a:bodyPr wrap="square" anchor="t">
              <a:spAutoFit/>
            </a:bodyPr>
            <a:lstStyle/>
            <a:p>
              <a:r>
                <a:rPr lang="en-US" sz="1000" dirty="0">
                  <a:solidFill>
                    <a:srgbClr val="082B5B"/>
                  </a:solidFill>
                  <a:latin typeface="Aptos"/>
                </a:rPr>
                <a:t>Improves employability, reduces skill mismatch and strengthens institution-industry alignment.</a:t>
              </a:r>
              <a:endParaRPr sz="1000" b="0" dirty="0">
                <a:solidFill>
                  <a:srgbClr val="082B5B"/>
                </a:solidFill>
                <a:latin typeface="Aptos"/>
              </a:endParaRPr>
            </a:p>
          </p:txBody>
        </p:sp>
      </p:grpSp>
      <p:pic>
        <p:nvPicPr>
          <p:cNvPr id="205" name="Picture 204" descr="A cloud and stack of coins&#10;&#10;AI-generated content may be incorrect.">
            <a:extLst>
              <a:ext uri="{FF2B5EF4-FFF2-40B4-BE49-F238E27FC236}">
                <a16:creationId xmlns:a16="http://schemas.microsoft.com/office/drawing/2014/main" id="{E9407DB8-637F-B8C4-37A4-BEDEFEFE0C3C}"/>
              </a:ext>
            </a:extLst>
          </p:cNvPr>
          <p:cNvPicPr>
            <a:picLocks noChangeAspect="1"/>
          </p:cNvPicPr>
          <p:nvPr/>
        </p:nvPicPr>
        <p:blipFill>
          <a:blip r:embed="rId4">
            <a:extLst>
              <a:ext uri="{BEBA8EAE-BF5A-486C-A8C5-ECC9F3942E4B}">
                <a14:imgProps xmlns:a14="http://schemas.microsoft.com/office/drawing/2010/main">
                  <a14:imgLayer r:embed="rId5">
                    <a14:imgEffect>
                      <a14:saturation sat="33000"/>
                    </a14:imgEffect>
                  </a14:imgLayer>
                </a14:imgProps>
              </a:ext>
            </a:extLst>
          </a:blip>
          <a:stretch>
            <a:fillRect/>
          </a:stretch>
        </p:blipFill>
        <p:spPr>
          <a:xfrm>
            <a:off x="215381" y="2413679"/>
            <a:ext cx="624894" cy="541778"/>
          </a:xfrm>
          <a:prstGeom prst="rect">
            <a:avLst/>
          </a:prstGeom>
          <a:solidFill>
            <a:srgbClr val="FF5050"/>
          </a:solidFill>
          <a:ln>
            <a:solidFill>
              <a:srgbClr val="FF5050"/>
            </a:solidFill>
          </a:ln>
        </p:spPr>
      </p:pic>
      <p:pic>
        <p:nvPicPr>
          <p:cNvPr id="207" name="Picture 206" descr="A computer with a symbol&#10;&#10;AI-generated content may be incorrect.">
            <a:extLst>
              <a:ext uri="{FF2B5EF4-FFF2-40B4-BE49-F238E27FC236}">
                <a16:creationId xmlns:a16="http://schemas.microsoft.com/office/drawing/2014/main" id="{38DBD499-0E3F-C00E-7823-17DE401D81EB}"/>
              </a:ext>
            </a:extLst>
          </p:cNvPr>
          <p:cNvPicPr>
            <a:picLocks noChangeAspect="1"/>
          </p:cNvPicPr>
          <p:nvPr/>
        </p:nvPicPr>
        <p:blipFill>
          <a:blip r:embed="rId6">
            <a:extLst>
              <a:ext uri="{BEBA8EAE-BF5A-486C-A8C5-ECC9F3942E4B}">
                <a14:imgProps xmlns:a14="http://schemas.microsoft.com/office/drawing/2010/main">
                  <a14:imgLayer r:embed="rId7">
                    <a14:imgEffect>
                      <a14:saturation sat="0"/>
                    </a14:imgEffect>
                  </a14:imgLayer>
                </a14:imgProps>
              </a:ext>
            </a:extLst>
          </a:blip>
          <a:stretch>
            <a:fillRect/>
          </a:stretch>
        </p:blipFill>
        <p:spPr>
          <a:xfrm>
            <a:off x="224435" y="3478963"/>
            <a:ext cx="586791" cy="609653"/>
          </a:xfrm>
          <a:prstGeom prst="rect">
            <a:avLst/>
          </a:prstGeom>
          <a:ln>
            <a:solidFill>
              <a:srgbClr val="FF5050"/>
            </a:solidFill>
          </a:ln>
        </p:spPr>
      </p:pic>
      <p:pic>
        <p:nvPicPr>
          <p:cNvPr id="209" name="Picture 208" descr="A logo of a coin and a coin&#10;&#10;AI-generated content may be incorrect.">
            <a:extLst>
              <a:ext uri="{FF2B5EF4-FFF2-40B4-BE49-F238E27FC236}">
                <a16:creationId xmlns:a16="http://schemas.microsoft.com/office/drawing/2014/main" id="{F0EF5FA2-0ECA-770E-F651-C7242E0F0EF2}"/>
              </a:ext>
            </a:extLst>
          </p:cNvPr>
          <p:cNvPicPr>
            <a:picLocks noChangeAspect="1"/>
          </p:cNvPicPr>
          <p:nvPr/>
        </p:nvPicPr>
        <p:blipFill>
          <a:blip r:embed="rId8">
            <a:extLst>
              <a:ext uri="{BEBA8EAE-BF5A-486C-A8C5-ECC9F3942E4B}">
                <a14:imgProps xmlns:a14="http://schemas.microsoft.com/office/drawing/2010/main">
                  <a14:imgLayer r:embed="rId9">
                    <a14:imgEffect>
                      <a14:saturation sat="0"/>
                    </a14:imgEffect>
                  </a14:imgLayer>
                </a14:imgProps>
              </a:ext>
            </a:extLst>
          </a:blip>
          <a:stretch>
            <a:fillRect/>
          </a:stretch>
        </p:blipFill>
        <p:spPr>
          <a:xfrm>
            <a:off x="293154" y="4578142"/>
            <a:ext cx="579170" cy="586791"/>
          </a:xfrm>
          <a:prstGeom prst="rect">
            <a:avLst/>
          </a:prstGeom>
          <a:ln>
            <a:solidFill>
              <a:srgbClr val="FF5050"/>
            </a:solidFill>
          </a:ln>
        </p:spPr>
      </p:pic>
      <p:pic>
        <p:nvPicPr>
          <p:cNvPr id="211" name="Picture 210" descr="A group of people with a shield and check mark&#10;&#10;AI-generated content may be incorrect.">
            <a:extLst>
              <a:ext uri="{FF2B5EF4-FFF2-40B4-BE49-F238E27FC236}">
                <a16:creationId xmlns:a16="http://schemas.microsoft.com/office/drawing/2014/main" id="{79B82DED-3E5C-6904-056C-3346CA9E8E40}"/>
              </a:ext>
            </a:extLst>
          </p:cNvPr>
          <p:cNvPicPr>
            <a:picLocks noChangeAspect="1"/>
          </p:cNvPicPr>
          <p:nvPr/>
        </p:nvPicPr>
        <p:blipFill>
          <a:blip r:embed="rId10">
            <a:extLst>
              <a:ext uri="{BEBA8EAE-BF5A-486C-A8C5-ECC9F3942E4B}">
                <a14:imgProps xmlns:a14="http://schemas.microsoft.com/office/drawing/2010/main">
                  <a14:imgLayer r:embed="rId11">
                    <a14:imgEffect>
                      <a14:saturation sat="0"/>
                    </a14:imgEffect>
                  </a14:imgLayer>
                </a14:imgProps>
              </a:ext>
            </a:extLst>
          </a:blip>
          <a:stretch>
            <a:fillRect/>
          </a:stretch>
        </p:blipFill>
        <p:spPr>
          <a:xfrm>
            <a:off x="269283" y="5757729"/>
            <a:ext cx="609653" cy="571550"/>
          </a:xfrm>
          <a:prstGeom prst="rect">
            <a:avLst/>
          </a:prstGeom>
          <a:ln>
            <a:solidFill>
              <a:srgbClr val="FF5050"/>
            </a:solidFill>
          </a:ln>
        </p:spPr>
      </p:pic>
      <p:pic>
        <p:nvPicPr>
          <p:cNvPr id="213" name="Picture 212" descr="A blue target with a dart in the center&#10;&#10;AI-generated content may be incorrect.">
            <a:extLst>
              <a:ext uri="{FF2B5EF4-FFF2-40B4-BE49-F238E27FC236}">
                <a16:creationId xmlns:a16="http://schemas.microsoft.com/office/drawing/2014/main" id="{B5AA347D-03F5-1CE0-A92D-6832224E3DA1}"/>
              </a:ext>
            </a:extLst>
          </p:cNvPr>
          <p:cNvPicPr>
            <a:picLocks noChangeAspect="1"/>
          </p:cNvPicPr>
          <p:nvPr/>
        </p:nvPicPr>
        <p:blipFill>
          <a:blip r:embed="rId12">
            <a:extLst>
              <a:ext uri="{BEBA8EAE-BF5A-486C-A8C5-ECC9F3942E4B}">
                <a14:imgProps xmlns:a14="http://schemas.microsoft.com/office/drawing/2010/main">
                  <a14:imgLayer r:embed="rId13">
                    <a14:imgEffect>
                      <a14:colorTemperature colorTemp="6096"/>
                    </a14:imgEffect>
                    <a14:imgEffect>
                      <a14:saturation sat="33000"/>
                    </a14:imgEffect>
                  </a14:imgLayer>
                </a14:imgProps>
              </a:ext>
            </a:extLst>
          </a:blip>
          <a:stretch>
            <a:fillRect/>
          </a:stretch>
        </p:blipFill>
        <p:spPr>
          <a:xfrm>
            <a:off x="4276071" y="2445136"/>
            <a:ext cx="537143" cy="537143"/>
          </a:xfrm>
          <a:prstGeom prst="rect">
            <a:avLst/>
          </a:prstGeom>
          <a:solidFill>
            <a:srgbClr val="00B050"/>
          </a:solidFill>
          <a:ln>
            <a:solidFill>
              <a:srgbClr val="00B050"/>
            </a:solidFill>
          </a:ln>
        </p:spPr>
      </p:pic>
      <p:pic>
        <p:nvPicPr>
          <p:cNvPr id="215" name="Picture 214" descr="A group of people in a circle&#10;&#10;AI-generated content may be incorrect.">
            <a:extLst>
              <a:ext uri="{FF2B5EF4-FFF2-40B4-BE49-F238E27FC236}">
                <a16:creationId xmlns:a16="http://schemas.microsoft.com/office/drawing/2014/main" id="{1B3A908D-F301-9351-6133-D15D3B22A159}"/>
              </a:ext>
            </a:extLst>
          </p:cNvPr>
          <p:cNvPicPr>
            <a:picLocks noChangeAspect="1"/>
          </p:cNvPicPr>
          <p:nvPr/>
        </p:nvPicPr>
        <p:blipFill>
          <a:blip r:embed="rId14">
            <a:extLst>
              <a:ext uri="{BEBA8EAE-BF5A-486C-A8C5-ECC9F3942E4B}">
                <a14:imgProps xmlns:a14="http://schemas.microsoft.com/office/drawing/2010/main">
                  <a14:imgLayer r:embed="rId15">
                    <a14:imgEffect>
                      <a14:saturation sat="33000"/>
                    </a14:imgEffect>
                  </a14:imgLayer>
                </a14:imgProps>
              </a:ext>
            </a:extLst>
          </a:blip>
          <a:stretch>
            <a:fillRect/>
          </a:stretch>
        </p:blipFill>
        <p:spPr>
          <a:xfrm>
            <a:off x="4213233" y="3529612"/>
            <a:ext cx="592820" cy="600230"/>
          </a:xfrm>
          <a:prstGeom prst="rect">
            <a:avLst/>
          </a:prstGeom>
          <a:ln>
            <a:solidFill>
              <a:srgbClr val="00B050"/>
            </a:solidFill>
          </a:ln>
        </p:spPr>
      </p:pic>
      <p:pic>
        <p:nvPicPr>
          <p:cNvPr id="217" name="Picture 216" descr="A blue graph with a arrow pointing up&#10;&#10;AI-generated content may be incorrect.">
            <a:extLst>
              <a:ext uri="{FF2B5EF4-FFF2-40B4-BE49-F238E27FC236}">
                <a16:creationId xmlns:a16="http://schemas.microsoft.com/office/drawing/2014/main" id="{809FF43E-EA16-1E86-E391-2A672CC284C5}"/>
              </a:ext>
            </a:extLst>
          </p:cNvPr>
          <p:cNvPicPr>
            <a:picLocks noChangeAspect="1"/>
          </p:cNvPicPr>
          <p:nvPr/>
        </p:nvPicPr>
        <p:blipFill>
          <a:blip r:embed="rId16">
            <a:extLst>
              <a:ext uri="{BEBA8EAE-BF5A-486C-A8C5-ECC9F3942E4B}">
                <a14:imgProps xmlns:a14="http://schemas.microsoft.com/office/drawing/2010/main">
                  <a14:imgLayer r:embed="rId17">
                    <a14:imgEffect>
                      <a14:saturation sat="33000"/>
                    </a14:imgEffect>
                  </a14:imgLayer>
                </a14:imgProps>
              </a:ext>
            </a:extLst>
          </a:blip>
          <a:stretch>
            <a:fillRect/>
          </a:stretch>
        </p:blipFill>
        <p:spPr>
          <a:xfrm>
            <a:off x="4282600" y="4624703"/>
            <a:ext cx="624894" cy="571550"/>
          </a:xfrm>
          <a:prstGeom prst="rect">
            <a:avLst/>
          </a:prstGeom>
          <a:ln>
            <a:solidFill>
              <a:srgbClr val="00B050"/>
            </a:solidFill>
          </a:ln>
        </p:spPr>
      </p:pic>
      <p:pic>
        <p:nvPicPr>
          <p:cNvPr id="219" name="Picture 218" descr="A logo of a leaf and arrows&#10;&#10;AI-generated content may be incorrect.">
            <a:extLst>
              <a:ext uri="{FF2B5EF4-FFF2-40B4-BE49-F238E27FC236}">
                <a16:creationId xmlns:a16="http://schemas.microsoft.com/office/drawing/2014/main" id="{0413A2AC-70EE-CF1D-B6DA-B80BD45EE1B8}"/>
              </a:ext>
            </a:extLst>
          </p:cNvPr>
          <p:cNvPicPr>
            <a:picLocks noChangeAspect="1"/>
          </p:cNvPicPr>
          <p:nvPr/>
        </p:nvPicPr>
        <p:blipFill>
          <a:blip r:embed="rId18">
            <a:extLst>
              <a:ext uri="{BEBA8EAE-BF5A-486C-A8C5-ECC9F3942E4B}">
                <a14:imgProps xmlns:a14="http://schemas.microsoft.com/office/drawing/2010/main">
                  <a14:imgLayer r:embed="rId19">
                    <a14:imgEffect>
                      <a14:colorTemperature colorTemp="7200"/>
                    </a14:imgEffect>
                    <a14:imgEffect>
                      <a14:saturation sat="33000"/>
                    </a14:imgEffect>
                  </a14:imgLayer>
                </a14:imgProps>
              </a:ext>
            </a:extLst>
          </a:blip>
          <a:stretch>
            <a:fillRect/>
          </a:stretch>
        </p:blipFill>
        <p:spPr>
          <a:xfrm>
            <a:off x="4330043" y="5694103"/>
            <a:ext cx="624894" cy="571550"/>
          </a:xfrm>
          <a:prstGeom prst="rect">
            <a:avLst/>
          </a:prstGeom>
          <a:ln>
            <a:solidFill>
              <a:srgbClr val="00B050"/>
            </a:solidFill>
          </a:ln>
        </p:spPr>
      </p:pic>
      <p:pic>
        <p:nvPicPr>
          <p:cNvPr id="221" name="Picture 220" descr="A blue line drawing of a building&#10;&#10;AI-generated content may be incorrect.">
            <a:extLst>
              <a:ext uri="{FF2B5EF4-FFF2-40B4-BE49-F238E27FC236}">
                <a16:creationId xmlns:a16="http://schemas.microsoft.com/office/drawing/2014/main" id="{A9C4A825-40D9-AEC2-83BB-E3071BAB8FC5}"/>
              </a:ext>
            </a:extLst>
          </p:cNvPr>
          <p:cNvPicPr>
            <a:picLocks noChangeAspect="1"/>
          </p:cNvPicPr>
          <p:nvPr/>
        </p:nvPicPr>
        <p:blipFill>
          <a:blip r:embed="rId20"/>
          <a:stretch>
            <a:fillRect/>
          </a:stretch>
        </p:blipFill>
        <p:spPr>
          <a:xfrm>
            <a:off x="8281093" y="2341989"/>
            <a:ext cx="579170" cy="541067"/>
          </a:xfrm>
          <a:prstGeom prst="rect">
            <a:avLst/>
          </a:prstGeom>
          <a:ln>
            <a:solidFill>
              <a:srgbClr val="3366FF"/>
            </a:solidFill>
          </a:ln>
        </p:spPr>
      </p:pic>
      <p:pic>
        <p:nvPicPr>
          <p:cNvPr id="223" name="Picture 222" descr="A logo of a coin&#10;&#10;AI-generated content may be incorrect.">
            <a:extLst>
              <a:ext uri="{FF2B5EF4-FFF2-40B4-BE49-F238E27FC236}">
                <a16:creationId xmlns:a16="http://schemas.microsoft.com/office/drawing/2014/main" id="{2FA127C9-8E1B-6C95-F98A-98614EA22F78}"/>
              </a:ext>
            </a:extLst>
          </p:cNvPr>
          <p:cNvPicPr>
            <a:picLocks noChangeAspect="1"/>
          </p:cNvPicPr>
          <p:nvPr/>
        </p:nvPicPr>
        <p:blipFill>
          <a:blip r:embed="rId21"/>
          <a:stretch>
            <a:fillRect/>
          </a:stretch>
        </p:blipFill>
        <p:spPr>
          <a:xfrm>
            <a:off x="8293981" y="3470371"/>
            <a:ext cx="586791" cy="579170"/>
          </a:xfrm>
          <a:prstGeom prst="rect">
            <a:avLst/>
          </a:prstGeom>
          <a:ln>
            <a:solidFill>
              <a:srgbClr val="3366FF"/>
            </a:solidFill>
          </a:ln>
        </p:spPr>
      </p:pic>
      <p:pic>
        <p:nvPicPr>
          <p:cNvPr id="225" name="Picture 224" descr="A blue globe with a grid&#10;&#10;AI-generated content may be incorrect.">
            <a:extLst>
              <a:ext uri="{FF2B5EF4-FFF2-40B4-BE49-F238E27FC236}">
                <a16:creationId xmlns:a16="http://schemas.microsoft.com/office/drawing/2014/main" id="{4891FC42-5B66-69A1-E93A-F2928F720B82}"/>
              </a:ext>
            </a:extLst>
          </p:cNvPr>
          <p:cNvPicPr>
            <a:picLocks noChangeAspect="1"/>
          </p:cNvPicPr>
          <p:nvPr/>
        </p:nvPicPr>
        <p:blipFill>
          <a:blip r:embed="rId22"/>
          <a:stretch>
            <a:fillRect/>
          </a:stretch>
        </p:blipFill>
        <p:spPr>
          <a:xfrm>
            <a:off x="8306110" y="4696463"/>
            <a:ext cx="588624" cy="553999"/>
          </a:xfrm>
          <a:prstGeom prst="rect">
            <a:avLst/>
          </a:prstGeom>
          <a:ln>
            <a:solidFill>
              <a:srgbClr val="3366FF"/>
            </a:solidFill>
          </a:ln>
        </p:spPr>
      </p:pic>
      <p:pic>
        <p:nvPicPr>
          <p:cNvPr id="227" name="Picture 226" descr="A blue logo with a arrow pointing up&#10;&#10;AI-generated content may be incorrect.">
            <a:extLst>
              <a:ext uri="{FF2B5EF4-FFF2-40B4-BE49-F238E27FC236}">
                <a16:creationId xmlns:a16="http://schemas.microsoft.com/office/drawing/2014/main" id="{BA0AF714-25C9-F7F8-7842-B2B1F483E676}"/>
              </a:ext>
            </a:extLst>
          </p:cNvPr>
          <p:cNvPicPr>
            <a:picLocks noChangeAspect="1"/>
          </p:cNvPicPr>
          <p:nvPr/>
        </p:nvPicPr>
        <p:blipFill>
          <a:blip r:embed="rId23"/>
          <a:stretch>
            <a:fillRect/>
          </a:stretch>
        </p:blipFill>
        <p:spPr>
          <a:xfrm>
            <a:off x="8334917" y="5778138"/>
            <a:ext cx="579170" cy="533446"/>
          </a:xfrm>
          <a:prstGeom prst="rect">
            <a:avLst/>
          </a:prstGeom>
          <a:ln>
            <a:solidFill>
              <a:srgbClr val="3366FF"/>
            </a:solidFill>
          </a:ln>
        </p:spPr>
      </p:pic>
    </p:spTree>
    <p:extLst>
      <p:ext uri="{BB962C8B-B14F-4D97-AF65-F5344CB8AC3E}">
        <p14:creationId xmlns:p14="http://schemas.microsoft.com/office/powerpoint/2010/main" val="1261975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Arrow: Chevron 110">
            <a:extLst>
              <a:ext uri="{FF2B5EF4-FFF2-40B4-BE49-F238E27FC236}">
                <a16:creationId xmlns:a16="http://schemas.microsoft.com/office/drawing/2014/main" id="{C2C36536-475A-1B69-FB8D-7F68827B4841}"/>
              </a:ext>
            </a:extLst>
          </p:cNvPr>
          <p:cNvSpPr/>
          <p:nvPr/>
        </p:nvSpPr>
        <p:spPr>
          <a:xfrm rot="10800000">
            <a:off x="5214276" y="4698964"/>
            <a:ext cx="1927357" cy="288206"/>
          </a:xfrm>
          <a:prstGeom prst="chevron">
            <a:avLst/>
          </a:prstGeom>
          <a:solidFill>
            <a:srgbClr val="E8910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solidFill>
                <a:schemeClr val="tx1"/>
              </a:solidFill>
            </a:endParaRPr>
          </a:p>
        </p:txBody>
      </p:sp>
      <p:sp>
        <p:nvSpPr>
          <p:cNvPr id="110" name="Arrow: Chevron 109">
            <a:extLst>
              <a:ext uri="{FF2B5EF4-FFF2-40B4-BE49-F238E27FC236}">
                <a16:creationId xmlns:a16="http://schemas.microsoft.com/office/drawing/2014/main" id="{1C89913F-2A58-B01D-FBF0-30DF0680706A}"/>
              </a:ext>
            </a:extLst>
          </p:cNvPr>
          <p:cNvSpPr/>
          <p:nvPr/>
        </p:nvSpPr>
        <p:spPr>
          <a:xfrm>
            <a:off x="36407" y="4481225"/>
            <a:ext cx="2057891" cy="652297"/>
          </a:xfrm>
          <a:prstGeom prst="chevron">
            <a:avLst/>
          </a:prstGeom>
          <a:solidFill>
            <a:srgbClr val="558ED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solidFill>
                <a:schemeClr val="tx1"/>
              </a:solidFill>
            </a:endParaRPr>
          </a:p>
        </p:txBody>
      </p:sp>
      <p:sp>
        <p:nvSpPr>
          <p:cNvPr id="109" name="Arrow: Chevron 108">
            <a:extLst>
              <a:ext uri="{FF2B5EF4-FFF2-40B4-BE49-F238E27FC236}">
                <a16:creationId xmlns:a16="http://schemas.microsoft.com/office/drawing/2014/main" id="{C894B36A-0FA3-7769-B630-E499AC3E0D2B}"/>
              </a:ext>
            </a:extLst>
          </p:cNvPr>
          <p:cNvSpPr/>
          <p:nvPr/>
        </p:nvSpPr>
        <p:spPr>
          <a:xfrm rot="10800000">
            <a:off x="4421122" y="1243584"/>
            <a:ext cx="2523153" cy="288206"/>
          </a:xfrm>
          <a:prstGeom prst="chevron">
            <a:avLst/>
          </a:prstGeom>
          <a:solidFill>
            <a:srgbClr val="00B05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solidFill>
                <a:schemeClr val="tx1"/>
              </a:solidFill>
            </a:endParaRPr>
          </a:p>
        </p:txBody>
      </p:sp>
      <p:sp>
        <p:nvSpPr>
          <p:cNvPr id="108" name="Arrow: Chevron 107">
            <a:extLst>
              <a:ext uri="{FF2B5EF4-FFF2-40B4-BE49-F238E27FC236}">
                <a16:creationId xmlns:a16="http://schemas.microsoft.com/office/drawing/2014/main" id="{9FC970BA-065F-D8CD-1D2D-0BD9227DDD61}"/>
              </a:ext>
            </a:extLst>
          </p:cNvPr>
          <p:cNvSpPr/>
          <p:nvPr/>
        </p:nvSpPr>
        <p:spPr>
          <a:xfrm>
            <a:off x="343053" y="1243584"/>
            <a:ext cx="2308707" cy="288206"/>
          </a:xfrm>
          <a:prstGeom prst="chevron">
            <a:avLst/>
          </a:prstGeom>
          <a:solidFill>
            <a:srgbClr val="FF505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solidFill>
                <a:schemeClr val="tx1"/>
              </a:solidFill>
            </a:endParaRPr>
          </a:p>
        </p:txBody>
      </p:sp>
      <p:sp>
        <p:nvSpPr>
          <p:cNvPr id="3" name="TextBox 2"/>
          <p:cNvSpPr txBox="1"/>
          <p:nvPr/>
        </p:nvSpPr>
        <p:spPr>
          <a:xfrm>
            <a:off x="164592" y="56648"/>
            <a:ext cx="2286000" cy="261610"/>
          </a:xfrm>
          <a:prstGeom prst="rect">
            <a:avLst/>
          </a:prstGeom>
          <a:noFill/>
        </p:spPr>
        <p:txBody>
          <a:bodyPr wrap="square" anchor="ctr">
            <a:spAutoFit/>
          </a:bodyPr>
          <a:lstStyle/>
          <a:p>
            <a:pPr algn="l"/>
            <a:r>
              <a:rPr sz="1100" b="1" dirty="0">
                <a:solidFill>
                  <a:srgbClr val="0C2D56"/>
                </a:solidFill>
                <a:latin typeface="Aptos"/>
              </a:rPr>
              <a:t>T</a:t>
            </a:r>
            <a:r>
              <a:rPr lang="en-IN" sz="1100" b="1" dirty="0">
                <a:solidFill>
                  <a:srgbClr val="0C2D56"/>
                </a:solidFill>
                <a:latin typeface="Aptos"/>
              </a:rPr>
              <a:t>HE TRICKSTERS ! </a:t>
            </a:r>
            <a:r>
              <a:rPr sz="1100" b="1" dirty="0">
                <a:solidFill>
                  <a:srgbClr val="0C2D56"/>
                </a:solidFill>
                <a:latin typeface="Aptos"/>
              </a:rPr>
              <a:t>| SIH 26044</a:t>
            </a:r>
          </a:p>
        </p:txBody>
      </p:sp>
      <p:sp>
        <p:nvSpPr>
          <p:cNvPr id="4" name="TextBox 3"/>
          <p:cNvSpPr txBox="1"/>
          <p:nvPr/>
        </p:nvSpPr>
        <p:spPr>
          <a:xfrm>
            <a:off x="2743200" y="27432"/>
            <a:ext cx="6720840" cy="502920"/>
          </a:xfrm>
          <a:prstGeom prst="rect">
            <a:avLst/>
          </a:prstGeom>
          <a:noFill/>
        </p:spPr>
        <p:txBody>
          <a:bodyPr wrap="square" anchor="ctr">
            <a:spAutoFit/>
          </a:bodyPr>
          <a:lstStyle/>
          <a:p>
            <a:pPr algn="ctr"/>
            <a:r>
              <a:rPr sz="2900" b="1">
                <a:solidFill>
                  <a:srgbClr val="0C2D56"/>
                </a:solidFill>
                <a:latin typeface="Georgia"/>
              </a:rPr>
              <a:t>IMPACT AND BENEFITS</a:t>
            </a:r>
          </a:p>
        </p:txBody>
      </p:sp>
      <p:sp>
        <p:nvSpPr>
          <p:cNvPr id="5" name="TextBox 4"/>
          <p:cNvSpPr txBox="1"/>
          <p:nvPr/>
        </p:nvSpPr>
        <p:spPr>
          <a:xfrm>
            <a:off x="4617720" y="566928"/>
            <a:ext cx="2926080" cy="256032"/>
          </a:xfrm>
          <a:prstGeom prst="rect">
            <a:avLst/>
          </a:prstGeom>
          <a:noFill/>
        </p:spPr>
        <p:txBody>
          <a:bodyPr wrap="square" anchor="ctr">
            <a:spAutoFit/>
          </a:bodyPr>
          <a:lstStyle/>
          <a:p>
            <a:pPr algn="ctr"/>
            <a:r>
              <a:rPr sz="1300" b="1">
                <a:solidFill>
                  <a:srgbClr val="0C2D56"/>
                </a:solidFill>
                <a:latin typeface="Aptos"/>
              </a:rPr>
              <a:t>AI ACADEMIA – INDUSTRY</a:t>
            </a:r>
          </a:p>
        </p:txBody>
      </p:sp>
      <p:cxnSp>
        <p:nvCxnSpPr>
          <p:cNvPr id="6" name="Connector 5"/>
          <p:cNvCxnSpPr/>
          <p:nvPr/>
        </p:nvCxnSpPr>
        <p:spPr>
          <a:xfrm>
            <a:off x="2651760" y="804672"/>
            <a:ext cx="1737360" cy="0"/>
          </a:xfrm>
          <a:prstGeom prst="line">
            <a:avLst/>
          </a:prstGeom>
          <a:ln w="12700">
            <a:solidFill>
              <a:srgbClr val="0C2D5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818120" y="804672"/>
            <a:ext cx="1691640" cy="0"/>
          </a:xfrm>
          <a:prstGeom prst="line">
            <a:avLst/>
          </a:prstGeom>
          <a:ln w="12700">
            <a:solidFill>
              <a:srgbClr val="0C2D5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82880" y="1033271"/>
            <a:ext cx="11795760" cy="0"/>
          </a:xfrm>
          <a:prstGeom prst="line">
            <a:avLst/>
          </a:prstGeom>
          <a:ln w="12700">
            <a:solidFill>
              <a:srgbClr val="2578C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173552" y="1078992"/>
            <a:ext cx="0" cy="5120640"/>
          </a:xfrm>
          <a:prstGeom prst="line">
            <a:avLst/>
          </a:prstGeom>
          <a:ln w="12700">
            <a:solidFill>
              <a:srgbClr val="2578C5"/>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9224" y="1236834"/>
            <a:ext cx="2148839" cy="307777"/>
          </a:xfrm>
          <a:prstGeom prst="rect">
            <a:avLst/>
          </a:prstGeom>
          <a:noFill/>
        </p:spPr>
        <p:txBody>
          <a:bodyPr wrap="square" anchor="ctr">
            <a:spAutoFit/>
          </a:bodyPr>
          <a:lstStyle/>
          <a:p>
            <a:pPr algn="l"/>
            <a:r>
              <a:rPr sz="1400" b="1" dirty="0">
                <a:solidFill>
                  <a:schemeClr val="bg2"/>
                </a:solidFill>
                <a:latin typeface="Georgia"/>
              </a:rPr>
              <a:t>EMPLOYABILITY</a:t>
            </a:r>
          </a:p>
        </p:txBody>
      </p:sp>
      <p:cxnSp>
        <p:nvCxnSpPr>
          <p:cNvPr id="13" name="Connector 12"/>
          <p:cNvCxnSpPr/>
          <p:nvPr/>
        </p:nvCxnSpPr>
        <p:spPr>
          <a:xfrm>
            <a:off x="274320" y="1600200"/>
            <a:ext cx="2148840" cy="0"/>
          </a:xfrm>
          <a:prstGeom prst="line">
            <a:avLst/>
          </a:prstGeom>
          <a:ln w="12700">
            <a:solidFill>
              <a:srgbClr val="0C2D5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09186" y="1702080"/>
            <a:ext cx="2212848" cy="738664"/>
          </a:xfrm>
          <a:prstGeom prst="rect">
            <a:avLst/>
          </a:prstGeom>
          <a:noFill/>
        </p:spPr>
        <p:txBody>
          <a:bodyPr wrap="square" anchor="ctr">
            <a:spAutoFit/>
          </a:bodyPr>
          <a:lstStyle/>
          <a:p>
            <a:pPr algn="l"/>
            <a:r>
              <a:rPr sz="1050" i="1" dirty="0">
                <a:solidFill>
                  <a:srgbClr val="002060"/>
                </a:solidFill>
                <a:latin typeface="Aptos"/>
              </a:rPr>
              <a:t>Personalized skill-gap</a:t>
            </a:r>
            <a:br>
              <a:rPr sz="1050" i="1" dirty="0">
                <a:solidFill>
                  <a:srgbClr val="002060"/>
                </a:solidFill>
              </a:rPr>
            </a:br>
            <a:r>
              <a:rPr sz="1050" i="1" dirty="0">
                <a:solidFill>
                  <a:srgbClr val="002060"/>
                </a:solidFill>
              </a:rPr>
              <a:t>analysis and career</a:t>
            </a:r>
            <a:br>
              <a:rPr sz="1050" i="1" dirty="0">
                <a:solidFill>
                  <a:srgbClr val="002060"/>
                </a:solidFill>
              </a:rPr>
            </a:br>
            <a:r>
              <a:rPr sz="1050" i="1" dirty="0">
                <a:solidFill>
                  <a:srgbClr val="002060"/>
                </a:solidFill>
              </a:rPr>
              <a:t>roadmaps improve</a:t>
            </a:r>
            <a:br>
              <a:rPr sz="1050" i="1" dirty="0">
                <a:solidFill>
                  <a:srgbClr val="002060"/>
                </a:solidFill>
              </a:rPr>
            </a:br>
            <a:r>
              <a:rPr sz="1050" i="1" dirty="0">
                <a:solidFill>
                  <a:srgbClr val="002060"/>
                </a:solidFill>
              </a:rPr>
              <a:t>job readiness.</a:t>
            </a:r>
          </a:p>
        </p:txBody>
      </p:sp>
      <p:sp>
        <p:nvSpPr>
          <p:cNvPr id="15" name="TextBox 14"/>
          <p:cNvSpPr txBox="1"/>
          <p:nvPr/>
        </p:nvSpPr>
        <p:spPr>
          <a:xfrm>
            <a:off x="4617720" y="1236000"/>
            <a:ext cx="2221991" cy="307777"/>
          </a:xfrm>
          <a:prstGeom prst="rect">
            <a:avLst/>
          </a:prstGeom>
          <a:noFill/>
        </p:spPr>
        <p:txBody>
          <a:bodyPr wrap="square" anchor="ctr">
            <a:spAutoFit/>
          </a:bodyPr>
          <a:lstStyle/>
          <a:p>
            <a:pPr algn="l"/>
            <a:r>
              <a:rPr sz="1400" b="1" dirty="0">
                <a:solidFill>
                  <a:schemeClr val="bg2"/>
                </a:solidFill>
                <a:latin typeface="Georgia"/>
              </a:rPr>
              <a:t>SKILL ALIGNMENT</a:t>
            </a:r>
          </a:p>
        </p:txBody>
      </p:sp>
      <p:cxnSp>
        <p:nvCxnSpPr>
          <p:cNvPr id="16" name="Connector 15"/>
          <p:cNvCxnSpPr>
            <a:cxnSpLocks/>
          </p:cNvCxnSpPr>
          <p:nvPr/>
        </p:nvCxnSpPr>
        <p:spPr>
          <a:xfrm>
            <a:off x="5292547" y="1600200"/>
            <a:ext cx="1474013" cy="0"/>
          </a:xfrm>
          <a:prstGeom prst="line">
            <a:avLst/>
          </a:prstGeom>
          <a:ln w="12700">
            <a:solidFill>
              <a:srgbClr val="0C2D56"/>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92547" y="1649367"/>
            <a:ext cx="2423160" cy="707886"/>
          </a:xfrm>
          <a:prstGeom prst="rect">
            <a:avLst/>
          </a:prstGeom>
          <a:noFill/>
        </p:spPr>
        <p:txBody>
          <a:bodyPr wrap="square" anchor="ctr">
            <a:spAutoFit/>
          </a:bodyPr>
          <a:lstStyle/>
          <a:p>
            <a:pPr algn="l"/>
            <a:r>
              <a:rPr sz="1000" b="0" i="1" dirty="0">
                <a:solidFill>
                  <a:srgbClr val="0C2D56"/>
                </a:solidFill>
                <a:latin typeface="Aptos"/>
              </a:rPr>
              <a:t>Maps proficiency to</a:t>
            </a:r>
            <a:br>
              <a:rPr sz="1000" i="1" dirty="0"/>
            </a:br>
            <a:r>
              <a:rPr sz="1000" i="1" dirty="0"/>
              <a:t>target-role requirements</a:t>
            </a:r>
            <a:br>
              <a:rPr sz="1000" i="1" dirty="0"/>
            </a:br>
            <a:r>
              <a:rPr sz="1000" i="1" dirty="0"/>
              <a:t>and reduces education–</a:t>
            </a:r>
            <a:br>
              <a:rPr sz="1000" i="1" dirty="0"/>
            </a:br>
            <a:r>
              <a:rPr sz="1000" i="1" dirty="0"/>
              <a:t>industry skill mismatch.</a:t>
            </a:r>
          </a:p>
        </p:txBody>
      </p:sp>
      <p:sp>
        <p:nvSpPr>
          <p:cNvPr id="18" name="TextBox 17"/>
          <p:cNvSpPr txBox="1"/>
          <p:nvPr/>
        </p:nvSpPr>
        <p:spPr>
          <a:xfrm>
            <a:off x="402378" y="4623693"/>
            <a:ext cx="1810428" cy="461665"/>
          </a:xfrm>
          <a:prstGeom prst="rect">
            <a:avLst/>
          </a:prstGeom>
          <a:noFill/>
        </p:spPr>
        <p:txBody>
          <a:bodyPr wrap="square" anchor="ctr">
            <a:spAutoFit/>
          </a:bodyPr>
          <a:lstStyle/>
          <a:p>
            <a:pPr algn="l"/>
            <a:r>
              <a:rPr sz="1200" b="1" dirty="0">
                <a:solidFill>
                  <a:schemeClr val="bg2"/>
                </a:solidFill>
                <a:latin typeface="Georgia"/>
              </a:rPr>
              <a:t>INSTITUTIONAL IMPACT</a:t>
            </a:r>
          </a:p>
        </p:txBody>
      </p:sp>
      <p:cxnSp>
        <p:nvCxnSpPr>
          <p:cNvPr id="19" name="Connector 18"/>
          <p:cNvCxnSpPr>
            <a:cxnSpLocks/>
          </p:cNvCxnSpPr>
          <p:nvPr/>
        </p:nvCxnSpPr>
        <p:spPr>
          <a:xfrm flipV="1">
            <a:off x="343053" y="5170932"/>
            <a:ext cx="1800013" cy="18287"/>
          </a:xfrm>
          <a:prstGeom prst="line">
            <a:avLst/>
          </a:prstGeom>
          <a:ln w="12700">
            <a:solidFill>
              <a:srgbClr val="0C2D56"/>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74320" y="5233041"/>
            <a:ext cx="2423160" cy="707886"/>
          </a:xfrm>
          <a:prstGeom prst="rect">
            <a:avLst/>
          </a:prstGeom>
          <a:noFill/>
        </p:spPr>
        <p:txBody>
          <a:bodyPr wrap="square" anchor="ctr">
            <a:spAutoFit/>
          </a:bodyPr>
          <a:lstStyle/>
          <a:p>
            <a:pPr algn="l"/>
            <a:r>
              <a:rPr sz="1000" b="0" i="1" dirty="0">
                <a:solidFill>
                  <a:srgbClr val="0C2D56"/>
                </a:solidFill>
                <a:latin typeface="Aptos"/>
              </a:rPr>
              <a:t>Analytics and readiness</a:t>
            </a:r>
            <a:br>
              <a:rPr sz="1000" i="1" dirty="0"/>
            </a:br>
            <a:r>
              <a:rPr sz="1000" i="1" dirty="0"/>
              <a:t>insights help improve</a:t>
            </a:r>
            <a:br>
              <a:rPr sz="1000" i="1" dirty="0"/>
            </a:br>
            <a:r>
              <a:rPr sz="1000" i="1" dirty="0"/>
              <a:t>curriculum, placements</a:t>
            </a:r>
            <a:br>
              <a:rPr sz="1000" i="1" dirty="0"/>
            </a:br>
            <a:r>
              <a:rPr sz="1000" i="1" dirty="0"/>
              <a:t>and student outcomes.</a:t>
            </a:r>
          </a:p>
        </p:txBody>
      </p:sp>
      <p:sp>
        <p:nvSpPr>
          <p:cNvPr id="21" name="TextBox 20"/>
          <p:cNvSpPr txBox="1"/>
          <p:nvPr/>
        </p:nvSpPr>
        <p:spPr>
          <a:xfrm>
            <a:off x="5292547" y="4731357"/>
            <a:ext cx="1725471" cy="276999"/>
          </a:xfrm>
          <a:prstGeom prst="rect">
            <a:avLst/>
          </a:prstGeom>
          <a:noFill/>
        </p:spPr>
        <p:txBody>
          <a:bodyPr wrap="square" anchor="ctr">
            <a:spAutoFit/>
          </a:bodyPr>
          <a:lstStyle/>
          <a:p>
            <a:pPr algn="l"/>
            <a:r>
              <a:rPr sz="1200" b="1" dirty="0">
                <a:solidFill>
                  <a:schemeClr val="bg2"/>
                </a:solidFill>
                <a:latin typeface="Georgia"/>
              </a:rPr>
              <a:t>CAREER</a:t>
            </a:r>
            <a:r>
              <a:rPr sz="1200" b="1" dirty="0">
                <a:solidFill>
                  <a:srgbClr val="0C2D56"/>
                </a:solidFill>
                <a:latin typeface="Georgia"/>
              </a:rPr>
              <a:t> </a:t>
            </a:r>
            <a:r>
              <a:rPr sz="1200" b="1" dirty="0">
                <a:solidFill>
                  <a:schemeClr val="bg2"/>
                </a:solidFill>
                <a:latin typeface="Georgia"/>
              </a:rPr>
              <a:t>CLARITY</a:t>
            </a:r>
          </a:p>
        </p:txBody>
      </p:sp>
      <p:cxnSp>
        <p:nvCxnSpPr>
          <p:cNvPr id="22" name="Connector 21"/>
          <p:cNvCxnSpPr>
            <a:cxnSpLocks/>
          </p:cNvCxnSpPr>
          <p:nvPr/>
        </p:nvCxnSpPr>
        <p:spPr>
          <a:xfrm>
            <a:off x="5292547" y="5074920"/>
            <a:ext cx="1725473" cy="0"/>
          </a:xfrm>
          <a:prstGeom prst="line">
            <a:avLst/>
          </a:prstGeom>
          <a:ln w="12700">
            <a:solidFill>
              <a:srgbClr val="0C2D56"/>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292547" y="5111763"/>
            <a:ext cx="2423160" cy="707886"/>
          </a:xfrm>
          <a:prstGeom prst="rect">
            <a:avLst/>
          </a:prstGeom>
          <a:noFill/>
        </p:spPr>
        <p:txBody>
          <a:bodyPr wrap="square" anchor="ctr">
            <a:spAutoFit/>
          </a:bodyPr>
          <a:lstStyle/>
          <a:p>
            <a:pPr algn="l"/>
            <a:r>
              <a:rPr sz="1000" b="0" i="1" dirty="0">
                <a:solidFill>
                  <a:srgbClr val="0C2D56"/>
                </a:solidFill>
                <a:latin typeface="Aptos"/>
              </a:rPr>
              <a:t>AI-guided resources,</a:t>
            </a:r>
            <a:br>
              <a:rPr sz="1000" i="1" dirty="0"/>
            </a:br>
            <a:r>
              <a:rPr sz="1000" i="1" dirty="0"/>
              <a:t>jobs, internships and</a:t>
            </a:r>
            <a:br>
              <a:rPr sz="1000" i="1" dirty="0"/>
            </a:br>
            <a:r>
              <a:rPr sz="1000" i="1" dirty="0"/>
              <a:t>career guidance support</a:t>
            </a:r>
            <a:br>
              <a:rPr sz="1000" i="1" dirty="0"/>
            </a:br>
            <a:r>
              <a:rPr sz="1000" i="1" dirty="0"/>
              <a:t>informed decisions.</a:t>
            </a:r>
          </a:p>
        </p:txBody>
      </p:sp>
      <p:sp>
        <p:nvSpPr>
          <p:cNvPr id="24" name="Oval 23"/>
          <p:cNvSpPr/>
          <p:nvPr/>
        </p:nvSpPr>
        <p:spPr>
          <a:xfrm>
            <a:off x="1787652" y="1760389"/>
            <a:ext cx="3611880" cy="3611880"/>
          </a:xfrm>
          <a:prstGeom prst="ellipse">
            <a:avLst/>
          </a:prstGeom>
          <a:solidFill>
            <a:srgbClr val="FFFFFF"/>
          </a:solidFill>
          <a:ln w="12700">
            <a:solidFill>
              <a:srgbClr val="FF5050"/>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2660904" y="2519340"/>
            <a:ext cx="1901952" cy="1911095"/>
          </a:xfrm>
          <a:prstGeom prst="ellipse">
            <a:avLst/>
          </a:prstGeom>
          <a:noFill/>
          <a:ln w="101600">
            <a:solidFill>
              <a:srgbClr val="FF5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6" name="TextBox 25"/>
          <p:cNvSpPr txBox="1"/>
          <p:nvPr/>
        </p:nvSpPr>
        <p:spPr>
          <a:xfrm>
            <a:off x="2805500" y="3508060"/>
            <a:ext cx="1600200" cy="353943"/>
          </a:xfrm>
          <a:prstGeom prst="rect">
            <a:avLst/>
          </a:prstGeom>
          <a:noFill/>
        </p:spPr>
        <p:txBody>
          <a:bodyPr wrap="square" anchor="ctr">
            <a:spAutoFit/>
          </a:bodyPr>
          <a:lstStyle/>
          <a:p>
            <a:pPr algn="ctr"/>
            <a:r>
              <a:rPr sz="1700" b="1" dirty="0">
                <a:solidFill>
                  <a:srgbClr val="FF0000"/>
                </a:solidFill>
                <a:latin typeface="Georgia"/>
              </a:rPr>
              <a:t>IMPACTS</a:t>
            </a:r>
          </a:p>
        </p:txBody>
      </p:sp>
      <p:grpSp>
        <p:nvGrpSpPr>
          <p:cNvPr id="90" name="Group 89">
            <a:extLst>
              <a:ext uri="{FF2B5EF4-FFF2-40B4-BE49-F238E27FC236}">
                <a16:creationId xmlns:a16="http://schemas.microsoft.com/office/drawing/2014/main" id="{6190A6D0-2912-05EF-6E29-C31E5D206D28}"/>
              </a:ext>
            </a:extLst>
          </p:cNvPr>
          <p:cNvGrpSpPr/>
          <p:nvPr/>
        </p:nvGrpSpPr>
        <p:grpSpPr>
          <a:xfrm>
            <a:off x="1913382" y="1997796"/>
            <a:ext cx="566928" cy="566928"/>
            <a:chOff x="2176272" y="1828800"/>
            <a:chExt cx="566928" cy="566928"/>
          </a:xfrm>
        </p:grpSpPr>
        <p:sp>
          <p:nvSpPr>
            <p:cNvPr id="28" name="Oval 27"/>
            <p:cNvSpPr/>
            <p:nvPr/>
          </p:nvSpPr>
          <p:spPr>
            <a:xfrm>
              <a:off x="2176272" y="1828800"/>
              <a:ext cx="566928" cy="566928"/>
            </a:xfrm>
            <a:prstGeom prst="ellipse">
              <a:avLst/>
            </a:prstGeom>
            <a:solidFill>
              <a:srgbClr val="FF5050"/>
            </a:solidFill>
            <a:ln>
              <a:solidFill>
                <a:srgbClr val="EDD8A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176272" y="1856231"/>
              <a:ext cx="566928" cy="438912"/>
            </a:xfrm>
            <a:prstGeom prst="rect">
              <a:avLst/>
            </a:prstGeom>
            <a:noFill/>
          </p:spPr>
          <p:txBody>
            <a:bodyPr wrap="square" anchor="ctr">
              <a:spAutoFit/>
            </a:bodyPr>
            <a:lstStyle/>
            <a:p>
              <a:pPr algn="ctr"/>
              <a:r>
                <a:rPr sz="1800" b="1" dirty="0">
                  <a:solidFill>
                    <a:srgbClr val="0C2D56"/>
                  </a:solidFill>
                  <a:latin typeface="Georgia"/>
                </a:rPr>
                <a:t>1</a:t>
              </a:r>
            </a:p>
          </p:txBody>
        </p:sp>
      </p:grpSp>
      <p:grpSp>
        <p:nvGrpSpPr>
          <p:cNvPr id="89" name="Group 88">
            <a:extLst>
              <a:ext uri="{FF2B5EF4-FFF2-40B4-BE49-F238E27FC236}">
                <a16:creationId xmlns:a16="http://schemas.microsoft.com/office/drawing/2014/main" id="{476B6503-BAAE-A265-7902-9F8321AFF453}"/>
              </a:ext>
            </a:extLst>
          </p:cNvPr>
          <p:cNvGrpSpPr/>
          <p:nvPr/>
        </p:nvGrpSpPr>
        <p:grpSpPr>
          <a:xfrm>
            <a:off x="4647348" y="1785866"/>
            <a:ext cx="566928" cy="566928"/>
            <a:chOff x="4736592" y="1828800"/>
            <a:chExt cx="566928" cy="566928"/>
          </a:xfrm>
        </p:grpSpPr>
        <p:sp>
          <p:nvSpPr>
            <p:cNvPr id="30" name="Oval 29"/>
            <p:cNvSpPr/>
            <p:nvPr/>
          </p:nvSpPr>
          <p:spPr>
            <a:xfrm>
              <a:off x="4736592" y="1828800"/>
              <a:ext cx="566928" cy="566928"/>
            </a:xfrm>
            <a:prstGeom prst="ellipse">
              <a:avLst/>
            </a:prstGeom>
            <a:solidFill>
              <a:srgbClr val="00B050"/>
            </a:solidFill>
            <a:ln>
              <a:solidFill>
                <a:srgbClr val="2578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736592" y="1891021"/>
              <a:ext cx="566928" cy="369332"/>
            </a:xfrm>
            <a:prstGeom prst="rect">
              <a:avLst/>
            </a:prstGeom>
            <a:noFill/>
          </p:spPr>
          <p:txBody>
            <a:bodyPr wrap="square" anchor="ctr">
              <a:spAutoFit/>
            </a:bodyPr>
            <a:lstStyle/>
            <a:p>
              <a:pPr algn="ctr"/>
              <a:r>
                <a:rPr sz="1800" b="1" dirty="0">
                  <a:solidFill>
                    <a:srgbClr val="002060"/>
                  </a:solidFill>
                  <a:latin typeface="Georgia"/>
                </a:rPr>
                <a:t>2</a:t>
              </a:r>
            </a:p>
          </p:txBody>
        </p:sp>
      </p:grpSp>
      <p:grpSp>
        <p:nvGrpSpPr>
          <p:cNvPr id="91" name="Group 90">
            <a:extLst>
              <a:ext uri="{FF2B5EF4-FFF2-40B4-BE49-F238E27FC236}">
                <a16:creationId xmlns:a16="http://schemas.microsoft.com/office/drawing/2014/main" id="{63C1F787-61D5-DD95-502C-622BEEA2AF30}"/>
              </a:ext>
            </a:extLst>
          </p:cNvPr>
          <p:cNvGrpSpPr/>
          <p:nvPr/>
        </p:nvGrpSpPr>
        <p:grpSpPr>
          <a:xfrm>
            <a:off x="4956048" y="3889925"/>
            <a:ext cx="585674" cy="566928"/>
            <a:chOff x="4956048" y="3889925"/>
            <a:chExt cx="585674" cy="566928"/>
          </a:xfrm>
        </p:grpSpPr>
        <p:sp>
          <p:nvSpPr>
            <p:cNvPr id="32" name="Oval 31"/>
            <p:cNvSpPr/>
            <p:nvPr/>
          </p:nvSpPr>
          <p:spPr>
            <a:xfrm>
              <a:off x="4956048" y="3889925"/>
              <a:ext cx="566928" cy="566928"/>
            </a:xfrm>
            <a:prstGeom prst="ellipse">
              <a:avLst/>
            </a:prstGeom>
            <a:solidFill>
              <a:srgbClr val="E8910C"/>
            </a:solidFill>
            <a:ln>
              <a:solidFill>
                <a:srgbClr val="2578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3" name="TextBox 32"/>
            <p:cNvSpPr txBox="1"/>
            <p:nvPr/>
          </p:nvSpPr>
          <p:spPr>
            <a:xfrm>
              <a:off x="4974794" y="4020651"/>
              <a:ext cx="566928" cy="369332"/>
            </a:xfrm>
            <a:prstGeom prst="rect">
              <a:avLst/>
            </a:prstGeom>
            <a:noFill/>
          </p:spPr>
          <p:txBody>
            <a:bodyPr wrap="square" anchor="ctr">
              <a:spAutoFit/>
            </a:bodyPr>
            <a:lstStyle/>
            <a:p>
              <a:pPr algn="ctr"/>
              <a:r>
                <a:rPr sz="1800" b="1" dirty="0">
                  <a:solidFill>
                    <a:srgbClr val="002060"/>
                  </a:solidFill>
                  <a:latin typeface="Georgia"/>
                </a:rPr>
                <a:t>3</a:t>
              </a:r>
            </a:p>
          </p:txBody>
        </p:sp>
      </p:grpSp>
      <p:sp>
        <p:nvSpPr>
          <p:cNvPr id="34" name="Oval 33"/>
          <p:cNvSpPr/>
          <p:nvPr/>
        </p:nvSpPr>
        <p:spPr>
          <a:xfrm>
            <a:off x="2176272" y="4407408"/>
            <a:ext cx="566928" cy="566928"/>
          </a:xfrm>
          <a:prstGeom prst="ellipse">
            <a:avLst/>
          </a:prstGeom>
          <a:solidFill>
            <a:srgbClr val="558ED5"/>
          </a:solidFill>
          <a:ln>
            <a:solidFill>
              <a:srgbClr val="EDD8A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176272" y="4434840"/>
            <a:ext cx="566928" cy="438912"/>
          </a:xfrm>
          <a:prstGeom prst="rect">
            <a:avLst/>
          </a:prstGeom>
          <a:noFill/>
        </p:spPr>
        <p:txBody>
          <a:bodyPr wrap="square" anchor="ctr">
            <a:spAutoFit/>
          </a:bodyPr>
          <a:lstStyle/>
          <a:p>
            <a:pPr algn="ctr"/>
            <a:r>
              <a:rPr sz="1800" b="1">
                <a:solidFill>
                  <a:srgbClr val="0C2D56"/>
                </a:solidFill>
                <a:latin typeface="Georgia"/>
              </a:rPr>
              <a:t>4</a:t>
            </a:r>
          </a:p>
        </p:txBody>
      </p:sp>
      <p:sp>
        <p:nvSpPr>
          <p:cNvPr id="36" name="TextBox 35"/>
          <p:cNvSpPr txBox="1"/>
          <p:nvPr/>
        </p:nvSpPr>
        <p:spPr>
          <a:xfrm>
            <a:off x="7205472" y="1252728"/>
            <a:ext cx="4206240" cy="310896"/>
          </a:xfrm>
          <a:prstGeom prst="rect">
            <a:avLst/>
          </a:prstGeom>
          <a:noFill/>
        </p:spPr>
        <p:txBody>
          <a:bodyPr wrap="square" anchor="ctr">
            <a:spAutoFit/>
          </a:bodyPr>
          <a:lstStyle/>
          <a:p>
            <a:pPr algn="l"/>
            <a:r>
              <a:rPr sz="1800" b="1">
                <a:solidFill>
                  <a:srgbClr val="0C2D56"/>
                </a:solidFill>
                <a:latin typeface="Georgia"/>
              </a:rPr>
              <a:t>EXPECTED OUTCOMES</a:t>
            </a:r>
          </a:p>
        </p:txBody>
      </p:sp>
      <p:sp>
        <p:nvSpPr>
          <p:cNvPr id="37" name="Rounded Rectangle 36"/>
          <p:cNvSpPr/>
          <p:nvPr/>
        </p:nvSpPr>
        <p:spPr>
          <a:xfrm>
            <a:off x="7223760" y="1664208"/>
            <a:ext cx="4663440" cy="347472"/>
          </a:xfrm>
          <a:prstGeom prst="roundRect">
            <a:avLst/>
          </a:prstGeom>
          <a:solidFill>
            <a:srgbClr val="FF5050"/>
          </a:solidFill>
          <a:ln>
            <a:solidFill>
              <a:srgbClr val="E8F2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360920" y="1719072"/>
            <a:ext cx="4389120" cy="182880"/>
          </a:xfrm>
          <a:prstGeom prst="rect">
            <a:avLst/>
          </a:prstGeom>
          <a:noFill/>
        </p:spPr>
        <p:txBody>
          <a:bodyPr wrap="square" anchor="ctr">
            <a:spAutoFit/>
          </a:bodyPr>
          <a:lstStyle/>
          <a:p>
            <a:pPr algn="ctr"/>
            <a:r>
              <a:rPr sz="850" b="1">
                <a:solidFill>
                  <a:srgbClr val="0C2D56"/>
                </a:solidFill>
                <a:latin typeface="Aptos"/>
              </a:rPr>
              <a:t>PROJECTED IMPACT AREAS — TARGETS, NOT MEASURED RESULTS</a:t>
            </a:r>
          </a:p>
        </p:txBody>
      </p:sp>
      <p:sp>
        <p:nvSpPr>
          <p:cNvPr id="39" name="TextBox 38"/>
          <p:cNvSpPr txBox="1"/>
          <p:nvPr/>
        </p:nvSpPr>
        <p:spPr>
          <a:xfrm>
            <a:off x="7205472" y="2157984"/>
            <a:ext cx="1627632" cy="256032"/>
          </a:xfrm>
          <a:prstGeom prst="rect">
            <a:avLst/>
          </a:prstGeom>
          <a:noFill/>
        </p:spPr>
        <p:txBody>
          <a:bodyPr wrap="square" anchor="ctr">
            <a:spAutoFit/>
          </a:bodyPr>
          <a:lstStyle/>
          <a:p>
            <a:pPr algn="r"/>
            <a:r>
              <a:rPr sz="930" b="1">
                <a:solidFill>
                  <a:srgbClr val="0C2D56"/>
                </a:solidFill>
                <a:latin typeface="Aptos"/>
              </a:rPr>
              <a:t>Career Readiness</a:t>
            </a:r>
          </a:p>
        </p:txBody>
      </p:sp>
      <p:sp>
        <p:nvSpPr>
          <p:cNvPr id="40" name="Rounded Rectangle 39"/>
          <p:cNvSpPr/>
          <p:nvPr/>
        </p:nvSpPr>
        <p:spPr>
          <a:xfrm>
            <a:off x="8851392" y="2176272"/>
            <a:ext cx="2761488" cy="201168"/>
          </a:xfrm>
          <a:prstGeom prst="roundRect">
            <a:avLst/>
          </a:prstGeom>
          <a:solidFill>
            <a:srgbClr val="E8F2FB"/>
          </a:solidFill>
          <a:ln>
            <a:solidFill>
              <a:srgbClr val="E8F2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8851392" y="2176272"/>
            <a:ext cx="2430109" cy="201168"/>
          </a:xfrm>
          <a:prstGeom prst="roundRect">
            <a:avLst/>
          </a:prstGeom>
          <a:solidFill>
            <a:srgbClr val="FFEEEE"/>
          </a:solidFill>
          <a:ln>
            <a:solidFill>
              <a:srgbClr val="2578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1617301" y="2165074"/>
            <a:ext cx="541017" cy="212366"/>
          </a:xfrm>
          <a:prstGeom prst="rect">
            <a:avLst/>
          </a:prstGeom>
          <a:noFill/>
        </p:spPr>
        <p:txBody>
          <a:bodyPr wrap="square" anchor="ctr">
            <a:spAutoFit/>
          </a:bodyPr>
          <a:lstStyle/>
          <a:p>
            <a:pPr algn="ctr"/>
            <a:r>
              <a:rPr sz="780" b="1" dirty="0">
                <a:solidFill>
                  <a:srgbClr val="0C2D56"/>
                </a:solidFill>
                <a:latin typeface="Aptos"/>
              </a:rPr>
              <a:t>TARGET</a:t>
            </a:r>
          </a:p>
        </p:txBody>
      </p:sp>
      <p:sp>
        <p:nvSpPr>
          <p:cNvPr id="43" name="TextBox 42"/>
          <p:cNvSpPr txBox="1"/>
          <p:nvPr/>
        </p:nvSpPr>
        <p:spPr>
          <a:xfrm>
            <a:off x="7205472" y="2587751"/>
            <a:ext cx="1627632" cy="256032"/>
          </a:xfrm>
          <a:prstGeom prst="rect">
            <a:avLst/>
          </a:prstGeom>
          <a:noFill/>
        </p:spPr>
        <p:txBody>
          <a:bodyPr wrap="square" anchor="ctr">
            <a:spAutoFit/>
          </a:bodyPr>
          <a:lstStyle/>
          <a:p>
            <a:pPr algn="r"/>
            <a:r>
              <a:rPr sz="930" b="1" dirty="0">
                <a:solidFill>
                  <a:srgbClr val="0C2D56"/>
                </a:solidFill>
                <a:latin typeface="Aptos"/>
              </a:rPr>
              <a:t>Skill-Gap Accuracy</a:t>
            </a:r>
          </a:p>
        </p:txBody>
      </p:sp>
      <p:sp>
        <p:nvSpPr>
          <p:cNvPr id="44" name="Rounded Rectangle 43"/>
          <p:cNvSpPr/>
          <p:nvPr/>
        </p:nvSpPr>
        <p:spPr>
          <a:xfrm>
            <a:off x="8851392" y="2606039"/>
            <a:ext cx="2761488" cy="201168"/>
          </a:xfrm>
          <a:prstGeom prst="roundRect">
            <a:avLst/>
          </a:prstGeom>
          <a:solidFill>
            <a:srgbClr val="E8F2FB"/>
          </a:solidFill>
          <a:ln>
            <a:solidFill>
              <a:srgbClr val="E8F2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8851392" y="2606039"/>
            <a:ext cx="2209190" cy="201168"/>
          </a:xfrm>
          <a:prstGeom prst="roundRect">
            <a:avLst/>
          </a:prstGeom>
          <a:solidFill>
            <a:srgbClr val="EBF9EE"/>
          </a:solidFill>
          <a:ln>
            <a:solidFill>
              <a:srgbClr val="2578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1612880" y="2570956"/>
            <a:ext cx="541017" cy="212366"/>
          </a:xfrm>
          <a:prstGeom prst="rect">
            <a:avLst/>
          </a:prstGeom>
          <a:noFill/>
        </p:spPr>
        <p:txBody>
          <a:bodyPr wrap="square" anchor="ctr">
            <a:spAutoFit/>
          </a:bodyPr>
          <a:lstStyle/>
          <a:p>
            <a:pPr algn="ctr"/>
            <a:r>
              <a:rPr lang="en-IN" sz="780" b="1" dirty="0">
                <a:solidFill>
                  <a:srgbClr val="0C2D56"/>
                </a:solidFill>
                <a:latin typeface="Aptos"/>
              </a:rPr>
              <a:t>TARGET</a:t>
            </a:r>
            <a:endParaRPr sz="780" b="1" dirty="0">
              <a:solidFill>
                <a:srgbClr val="0C2D56"/>
              </a:solidFill>
              <a:latin typeface="Aptos"/>
            </a:endParaRPr>
          </a:p>
        </p:txBody>
      </p:sp>
      <p:sp>
        <p:nvSpPr>
          <p:cNvPr id="47" name="TextBox 46"/>
          <p:cNvSpPr txBox="1"/>
          <p:nvPr/>
        </p:nvSpPr>
        <p:spPr>
          <a:xfrm>
            <a:off x="7205472" y="3017520"/>
            <a:ext cx="1627632" cy="256032"/>
          </a:xfrm>
          <a:prstGeom prst="rect">
            <a:avLst/>
          </a:prstGeom>
          <a:noFill/>
        </p:spPr>
        <p:txBody>
          <a:bodyPr wrap="square" anchor="ctr">
            <a:spAutoFit/>
          </a:bodyPr>
          <a:lstStyle/>
          <a:p>
            <a:pPr algn="r"/>
            <a:r>
              <a:rPr sz="930" b="1">
                <a:solidFill>
                  <a:srgbClr val="0C2D56"/>
                </a:solidFill>
                <a:latin typeface="Aptos"/>
              </a:rPr>
              <a:t>Assessment Completion</a:t>
            </a:r>
          </a:p>
        </p:txBody>
      </p:sp>
      <p:sp>
        <p:nvSpPr>
          <p:cNvPr id="48" name="Rounded Rectangle 47"/>
          <p:cNvSpPr/>
          <p:nvPr/>
        </p:nvSpPr>
        <p:spPr>
          <a:xfrm>
            <a:off x="8851392" y="3035808"/>
            <a:ext cx="2761488" cy="201168"/>
          </a:xfrm>
          <a:prstGeom prst="roundRect">
            <a:avLst/>
          </a:prstGeom>
          <a:solidFill>
            <a:srgbClr val="E8F2FB"/>
          </a:solidFill>
          <a:ln>
            <a:solidFill>
              <a:srgbClr val="E8F2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8851392" y="3035808"/>
            <a:ext cx="2153960" cy="201168"/>
          </a:xfrm>
          <a:prstGeom prst="roundRect">
            <a:avLst/>
          </a:prstGeom>
          <a:solidFill>
            <a:srgbClr val="E8F5FF"/>
          </a:solidFill>
          <a:ln>
            <a:solidFill>
              <a:srgbClr val="2578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1605260" y="3022456"/>
            <a:ext cx="586740" cy="212366"/>
          </a:xfrm>
          <a:prstGeom prst="rect">
            <a:avLst/>
          </a:prstGeom>
          <a:noFill/>
        </p:spPr>
        <p:txBody>
          <a:bodyPr wrap="square" anchor="ctr">
            <a:spAutoFit/>
          </a:bodyPr>
          <a:lstStyle/>
          <a:p>
            <a:pPr algn="ctr"/>
            <a:r>
              <a:rPr lang="en-IN" sz="780" b="1" dirty="0">
                <a:solidFill>
                  <a:srgbClr val="0C2D56"/>
                </a:solidFill>
                <a:latin typeface="Aptos"/>
              </a:rPr>
              <a:t>TARGET</a:t>
            </a:r>
          </a:p>
        </p:txBody>
      </p:sp>
      <p:sp>
        <p:nvSpPr>
          <p:cNvPr id="51" name="TextBox 50"/>
          <p:cNvSpPr txBox="1"/>
          <p:nvPr/>
        </p:nvSpPr>
        <p:spPr>
          <a:xfrm>
            <a:off x="7205472" y="3447288"/>
            <a:ext cx="1627632" cy="256032"/>
          </a:xfrm>
          <a:prstGeom prst="rect">
            <a:avLst/>
          </a:prstGeom>
          <a:noFill/>
        </p:spPr>
        <p:txBody>
          <a:bodyPr wrap="square" anchor="ctr">
            <a:spAutoFit/>
          </a:bodyPr>
          <a:lstStyle/>
          <a:p>
            <a:pPr algn="r"/>
            <a:r>
              <a:rPr sz="930" b="1">
                <a:solidFill>
                  <a:srgbClr val="0C2D56"/>
                </a:solidFill>
                <a:latin typeface="Aptos"/>
              </a:rPr>
              <a:t>Student Engagement</a:t>
            </a:r>
          </a:p>
        </p:txBody>
      </p:sp>
      <p:sp>
        <p:nvSpPr>
          <p:cNvPr id="52" name="Rounded Rectangle 51"/>
          <p:cNvSpPr/>
          <p:nvPr/>
        </p:nvSpPr>
        <p:spPr>
          <a:xfrm>
            <a:off x="8851392" y="3465576"/>
            <a:ext cx="2761488" cy="201168"/>
          </a:xfrm>
          <a:prstGeom prst="roundRect">
            <a:avLst/>
          </a:prstGeom>
          <a:solidFill>
            <a:srgbClr val="E8F2FB"/>
          </a:solidFill>
          <a:ln>
            <a:solidFill>
              <a:srgbClr val="E8F2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8851392" y="3465576"/>
            <a:ext cx="2043501" cy="201168"/>
          </a:xfrm>
          <a:prstGeom prst="roundRect">
            <a:avLst/>
          </a:prstGeom>
          <a:solidFill>
            <a:srgbClr val="F4EDFF"/>
          </a:solidFill>
          <a:ln>
            <a:solidFill>
              <a:srgbClr val="2578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1612880" y="3458900"/>
            <a:ext cx="586731" cy="212366"/>
          </a:xfrm>
          <a:prstGeom prst="rect">
            <a:avLst/>
          </a:prstGeom>
          <a:noFill/>
        </p:spPr>
        <p:txBody>
          <a:bodyPr wrap="square" anchor="ctr">
            <a:spAutoFit/>
          </a:bodyPr>
          <a:lstStyle/>
          <a:p>
            <a:pPr algn="ctr"/>
            <a:r>
              <a:rPr lang="en-IN" sz="780" b="1" dirty="0">
                <a:solidFill>
                  <a:srgbClr val="0C2D56"/>
                </a:solidFill>
                <a:latin typeface="Aptos"/>
              </a:rPr>
              <a:t>TARGET</a:t>
            </a:r>
          </a:p>
        </p:txBody>
      </p:sp>
      <p:sp>
        <p:nvSpPr>
          <p:cNvPr id="55" name="TextBox 54"/>
          <p:cNvSpPr txBox="1"/>
          <p:nvPr/>
        </p:nvSpPr>
        <p:spPr>
          <a:xfrm>
            <a:off x="7205472" y="3877056"/>
            <a:ext cx="1627632" cy="256032"/>
          </a:xfrm>
          <a:prstGeom prst="rect">
            <a:avLst/>
          </a:prstGeom>
          <a:noFill/>
        </p:spPr>
        <p:txBody>
          <a:bodyPr wrap="square" anchor="ctr">
            <a:spAutoFit/>
          </a:bodyPr>
          <a:lstStyle/>
          <a:p>
            <a:pPr algn="r"/>
            <a:r>
              <a:rPr sz="930" b="1">
                <a:solidFill>
                  <a:srgbClr val="0C2D56"/>
                </a:solidFill>
                <a:latin typeface="Aptos"/>
              </a:rPr>
              <a:t>Placement Readiness</a:t>
            </a:r>
          </a:p>
        </p:txBody>
      </p:sp>
      <p:sp>
        <p:nvSpPr>
          <p:cNvPr id="56" name="Rounded Rectangle 55"/>
          <p:cNvSpPr/>
          <p:nvPr/>
        </p:nvSpPr>
        <p:spPr>
          <a:xfrm>
            <a:off x="8851392" y="3895344"/>
            <a:ext cx="2761488" cy="201168"/>
          </a:xfrm>
          <a:prstGeom prst="roundRect">
            <a:avLst/>
          </a:prstGeom>
          <a:solidFill>
            <a:srgbClr val="E8F2FB"/>
          </a:solidFill>
          <a:ln>
            <a:solidFill>
              <a:srgbClr val="E8F2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ounded Rectangle 56"/>
          <p:cNvSpPr/>
          <p:nvPr/>
        </p:nvSpPr>
        <p:spPr>
          <a:xfrm>
            <a:off x="8851392" y="3895344"/>
            <a:ext cx="2319649" cy="201168"/>
          </a:xfrm>
          <a:prstGeom prst="roundRect">
            <a:avLst/>
          </a:prstGeom>
          <a:solidFill>
            <a:srgbClr val="FFF7E1"/>
          </a:solidFill>
          <a:ln>
            <a:solidFill>
              <a:srgbClr val="2578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1605260" y="3882622"/>
            <a:ext cx="602403" cy="212366"/>
          </a:xfrm>
          <a:prstGeom prst="rect">
            <a:avLst/>
          </a:prstGeom>
          <a:noFill/>
        </p:spPr>
        <p:txBody>
          <a:bodyPr wrap="square" anchor="ctr">
            <a:spAutoFit/>
          </a:bodyPr>
          <a:lstStyle/>
          <a:p>
            <a:pPr algn="ctr"/>
            <a:r>
              <a:rPr lang="en-IN" sz="780" b="1" dirty="0">
                <a:solidFill>
                  <a:srgbClr val="0C2D56"/>
                </a:solidFill>
                <a:latin typeface="Aptos"/>
              </a:rPr>
              <a:t>TARGET</a:t>
            </a:r>
          </a:p>
        </p:txBody>
      </p:sp>
      <p:cxnSp>
        <p:nvCxnSpPr>
          <p:cNvPr id="59" name="Connector 58"/>
          <p:cNvCxnSpPr/>
          <p:nvPr/>
        </p:nvCxnSpPr>
        <p:spPr>
          <a:xfrm>
            <a:off x="8851392" y="2057400"/>
            <a:ext cx="0" cy="2267712"/>
          </a:xfrm>
          <a:prstGeom prst="line">
            <a:avLst/>
          </a:prstGeom>
          <a:ln w="10160">
            <a:solidFill>
              <a:srgbClr val="0C2D56"/>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7205472" y="4553712"/>
            <a:ext cx="4754880" cy="310896"/>
          </a:xfrm>
          <a:prstGeom prst="rect">
            <a:avLst/>
          </a:prstGeom>
          <a:noFill/>
        </p:spPr>
        <p:txBody>
          <a:bodyPr wrap="square" anchor="ctr">
            <a:spAutoFit/>
          </a:bodyPr>
          <a:lstStyle/>
          <a:p>
            <a:pPr algn="l"/>
            <a:r>
              <a:rPr sz="1550" b="1">
                <a:solidFill>
                  <a:srgbClr val="0C2D56"/>
                </a:solidFill>
                <a:latin typeface="Georgia"/>
              </a:rPr>
              <a:t>FROM SKILL GAP TO CAREER READINESS →</a:t>
            </a:r>
          </a:p>
        </p:txBody>
      </p:sp>
      <p:sp>
        <p:nvSpPr>
          <p:cNvPr id="61" name="Oval 60"/>
          <p:cNvSpPr/>
          <p:nvPr/>
        </p:nvSpPr>
        <p:spPr>
          <a:xfrm>
            <a:off x="7223760" y="5074920"/>
            <a:ext cx="658368" cy="658368"/>
          </a:xfrm>
          <a:prstGeom prst="ellipse">
            <a:avLst/>
          </a:prstGeom>
          <a:solidFill>
            <a:srgbClr val="FF0000"/>
          </a:solidFill>
          <a:ln>
            <a:solidFill>
              <a:srgbClr val="EDD8A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7114032" y="5788152"/>
            <a:ext cx="877824" cy="411480"/>
          </a:xfrm>
          <a:prstGeom prst="rect">
            <a:avLst/>
          </a:prstGeom>
          <a:noFill/>
        </p:spPr>
        <p:txBody>
          <a:bodyPr wrap="square" anchor="ctr">
            <a:spAutoFit/>
          </a:bodyPr>
          <a:lstStyle/>
          <a:p>
            <a:pPr algn="ctr"/>
            <a:r>
              <a:rPr sz="770" b="1">
                <a:solidFill>
                  <a:srgbClr val="0C2D56"/>
                </a:solidFill>
                <a:latin typeface="Aptos"/>
              </a:rPr>
              <a:t>Student</a:t>
            </a:r>
          </a:p>
        </p:txBody>
      </p:sp>
      <p:sp>
        <p:nvSpPr>
          <p:cNvPr id="64" name="TextBox 63"/>
          <p:cNvSpPr txBox="1"/>
          <p:nvPr/>
        </p:nvSpPr>
        <p:spPr>
          <a:xfrm>
            <a:off x="7882128" y="5257800"/>
            <a:ext cx="274320" cy="228600"/>
          </a:xfrm>
          <a:prstGeom prst="rect">
            <a:avLst/>
          </a:prstGeom>
          <a:noFill/>
        </p:spPr>
        <p:txBody>
          <a:bodyPr wrap="square" anchor="ctr">
            <a:spAutoFit/>
          </a:bodyPr>
          <a:lstStyle/>
          <a:p>
            <a:pPr algn="ctr"/>
            <a:r>
              <a:rPr sz="1500" b="1">
                <a:solidFill>
                  <a:srgbClr val="0C2D56"/>
                </a:solidFill>
                <a:latin typeface="Aptos"/>
              </a:rPr>
              <a:t>→</a:t>
            </a:r>
          </a:p>
        </p:txBody>
      </p:sp>
      <p:sp>
        <p:nvSpPr>
          <p:cNvPr id="65" name="Oval 64"/>
          <p:cNvSpPr/>
          <p:nvPr/>
        </p:nvSpPr>
        <p:spPr>
          <a:xfrm>
            <a:off x="8183879" y="5074920"/>
            <a:ext cx="658368" cy="658368"/>
          </a:xfrm>
          <a:prstGeom prst="ellipse">
            <a:avLst/>
          </a:prstGeom>
          <a:solidFill>
            <a:srgbClr val="00B050"/>
          </a:solidFill>
          <a:ln>
            <a:solidFill>
              <a:srgbClr val="2578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7" name="TextBox 66"/>
          <p:cNvSpPr txBox="1"/>
          <p:nvPr/>
        </p:nvSpPr>
        <p:spPr>
          <a:xfrm>
            <a:off x="8074152" y="5788152"/>
            <a:ext cx="877824" cy="411480"/>
          </a:xfrm>
          <a:prstGeom prst="rect">
            <a:avLst/>
          </a:prstGeom>
          <a:noFill/>
        </p:spPr>
        <p:txBody>
          <a:bodyPr wrap="square" anchor="ctr">
            <a:spAutoFit/>
          </a:bodyPr>
          <a:lstStyle/>
          <a:p>
            <a:pPr algn="ctr"/>
            <a:r>
              <a:rPr sz="770" b="1">
                <a:solidFill>
                  <a:srgbClr val="0C2D56"/>
                </a:solidFill>
                <a:latin typeface="Aptos"/>
              </a:rPr>
              <a:t>AI Assessment</a:t>
            </a:r>
          </a:p>
        </p:txBody>
      </p:sp>
      <p:sp>
        <p:nvSpPr>
          <p:cNvPr id="68" name="TextBox 67"/>
          <p:cNvSpPr txBox="1"/>
          <p:nvPr/>
        </p:nvSpPr>
        <p:spPr>
          <a:xfrm>
            <a:off x="8842248" y="5257800"/>
            <a:ext cx="274320" cy="228600"/>
          </a:xfrm>
          <a:prstGeom prst="rect">
            <a:avLst/>
          </a:prstGeom>
          <a:noFill/>
        </p:spPr>
        <p:txBody>
          <a:bodyPr wrap="square" anchor="ctr">
            <a:spAutoFit/>
          </a:bodyPr>
          <a:lstStyle/>
          <a:p>
            <a:pPr algn="ctr"/>
            <a:r>
              <a:rPr sz="1500" b="1">
                <a:solidFill>
                  <a:srgbClr val="0C2D56"/>
                </a:solidFill>
                <a:latin typeface="Aptos"/>
              </a:rPr>
              <a:t>→</a:t>
            </a:r>
          </a:p>
        </p:txBody>
      </p:sp>
      <p:sp>
        <p:nvSpPr>
          <p:cNvPr id="69" name="Oval 68"/>
          <p:cNvSpPr/>
          <p:nvPr/>
        </p:nvSpPr>
        <p:spPr>
          <a:xfrm>
            <a:off x="9144000" y="5074920"/>
            <a:ext cx="658368" cy="658368"/>
          </a:xfrm>
          <a:prstGeom prst="ellipse">
            <a:avLst/>
          </a:prstGeom>
          <a:solidFill>
            <a:srgbClr val="EDD8AE"/>
          </a:solidFill>
          <a:ln>
            <a:solidFill>
              <a:srgbClr val="EDD8A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9034272" y="5788152"/>
            <a:ext cx="877824" cy="411480"/>
          </a:xfrm>
          <a:prstGeom prst="rect">
            <a:avLst/>
          </a:prstGeom>
          <a:noFill/>
        </p:spPr>
        <p:txBody>
          <a:bodyPr wrap="square" anchor="ctr">
            <a:spAutoFit/>
          </a:bodyPr>
          <a:lstStyle/>
          <a:p>
            <a:pPr algn="ctr"/>
            <a:r>
              <a:rPr sz="770" b="1">
                <a:solidFill>
                  <a:srgbClr val="0C2D56"/>
                </a:solidFill>
                <a:latin typeface="Aptos"/>
              </a:rPr>
              <a:t>Skill Intelligence</a:t>
            </a:r>
          </a:p>
        </p:txBody>
      </p:sp>
      <p:sp>
        <p:nvSpPr>
          <p:cNvPr id="72" name="TextBox 71"/>
          <p:cNvSpPr txBox="1"/>
          <p:nvPr/>
        </p:nvSpPr>
        <p:spPr>
          <a:xfrm>
            <a:off x="9802368" y="5257800"/>
            <a:ext cx="274320" cy="228600"/>
          </a:xfrm>
          <a:prstGeom prst="rect">
            <a:avLst/>
          </a:prstGeom>
          <a:noFill/>
        </p:spPr>
        <p:txBody>
          <a:bodyPr wrap="square" anchor="ctr">
            <a:spAutoFit/>
          </a:bodyPr>
          <a:lstStyle/>
          <a:p>
            <a:pPr algn="ctr"/>
            <a:r>
              <a:rPr sz="1500" b="1">
                <a:solidFill>
                  <a:srgbClr val="0C2D56"/>
                </a:solidFill>
                <a:latin typeface="Aptos"/>
              </a:rPr>
              <a:t>→</a:t>
            </a:r>
          </a:p>
        </p:txBody>
      </p:sp>
      <p:sp>
        <p:nvSpPr>
          <p:cNvPr id="73" name="Oval 72"/>
          <p:cNvSpPr/>
          <p:nvPr/>
        </p:nvSpPr>
        <p:spPr>
          <a:xfrm>
            <a:off x="10104120" y="5074920"/>
            <a:ext cx="658368" cy="658368"/>
          </a:xfrm>
          <a:prstGeom prst="ellipse">
            <a:avLst/>
          </a:prstGeom>
          <a:solidFill>
            <a:srgbClr val="2578C5"/>
          </a:solidFill>
          <a:ln>
            <a:solidFill>
              <a:srgbClr val="2578C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9994392" y="5788152"/>
            <a:ext cx="877824" cy="411480"/>
          </a:xfrm>
          <a:prstGeom prst="rect">
            <a:avLst/>
          </a:prstGeom>
          <a:noFill/>
        </p:spPr>
        <p:txBody>
          <a:bodyPr wrap="square" anchor="ctr">
            <a:spAutoFit/>
          </a:bodyPr>
          <a:lstStyle/>
          <a:p>
            <a:pPr algn="ctr"/>
            <a:r>
              <a:rPr sz="770" b="1">
                <a:solidFill>
                  <a:srgbClr val="0C2D56"/>
                </a:solidFill>
                <a:latin typeface="Aptos"/>
              </a:rPr>
              <a:t>Personalized Roadmap</a:t>
            </a:r>
          </a:p>
        </p:txBody>
      </p:sp>
      <p:sp>
        <p:nvSpPr>
          <p:cNvPr id="76" name="TextBox 75"/>
          <p:cNvSpPr txBox="1"/>
          <p:nvPr/>
        </p:nvSpPr>
        <p:spPr>
          <a:xfrm>
            <a:off x="10762488" y="5257800"/>
            <a:ext cx="274320" cy="228600"/>
          </a:xfrm>
          <a:prstGeom prst="rect">
            <a:avLst/>
          </a:prstGeom>
          <a:noFill/>
        </p:spPr>
        <p:txBody>
          <a:bodyPr wrap="square" anchor="ctr">
            <a:spAutoFit/>
          </a:bodyPr>
          <a:lstStyle/>
          <a:p>
            <a:pPr algn="ctr"/>
            <a:r>
              <a:rPr sz="1500" b="1">
                <a:solidFill>
                  <a:srgbClr val="0C2D56"/>
                </a:solidFill>
                <a:latin typeface="Aptos"/>
              </a:rPr>
              <a:t>→</a:t>
            </a:r>
          </a:p>
        </p:txBody>
      </p:sp>
      <p:sp>
        <p:nvSpPr>
          <p:cNvPr id="77" name="Oval 76"/>
          <p:cNvSpPr/>
          <p:nvPr/>
        </p:nvSpPr>
        <p:spPr>
          <a:xfrm>
            <a:off x="11064240" y="5074920"/>
            <a:ext cx="658368" cy="658368"/>
          </a:xfrm>
          <a:prstGeom prst="ellipse">
            <a:avLst/>
          </a:prstGeom>
          <a:solidFill>
            <a:srgbClr val="E8910C"/>
          </a:solidFill>
          <a:ln>
            <a:solidFill>
              <a:srgbClr val="EDD8A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10954512" y="5788152"/>
            <a:ext cx="877824" cy="411480"/>
          </a:xfrm>
          <a:prstGeom prst="rect">
            <a:avLst/>
          </a:prstGeom>
          <a:noFill/>
        </p:spPr>
        <p:txBody>
          <a:bodyPr wrap="square" anchor="ctr">
            <a:spAutoFit/>
          </a:bodyPr>
          <a:lstStyle/>
          <a:p>
            <a:pPr algn="ctr"/>
            <a:r>
              <a:rPr sz="770" b="1">
                <a:solidFill>
                  <a:srgbClr val="0C2D56"/>
                </a:solidFill>
                <a:latin typeface="Aptos"/>
              </a:rPr>
              <a:t>Career Outcomes</a:t>
            </a:r>
          </a:p>
        </p:txBody>
      </p:sp>
      <p:cxnSp>
        <p:nvCxnSpPr>
          <p:cNvPr id="80" name="Connector 79"/>
          <p:cNvCxnSpPr/>
          <p:nvPr/>
        </p:nvCxnSpPr>
        <p:spPr>
          <a:xfrm>
            <a:off x="182880" y="6336792"/>
            <a:ext cx="11795760" cy="0"/>
          </a:xfrm>
          <a:prstGeom prst="line">
            <a:avLst/>
          </a:prstGeom>
          <a:ln w="12700">
            <a:solidFill>
              <a:srgbClr val="2578C5"/>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274320" y="6437376"/>
            <a:ext cx="2926080" cy="219456"/>
          </a:xfrm>
          <a:prstGeom prst="rect">
            <a:avLst/>
          </a:prstGeom>
          <a:noFill/>
        </p:spPr>
        <p:txBody>
          <a:bodyPr wrap="square" anchor="ctr">
            <a:spAutoFit/>
          </a:bodyPr>
          <a:lstStyle/>
          <a:p>
            <a:pPr algn="l"/>
            <a:r>
              <a:rPr sz="850" b="1">
                <a:solidFill>
                  <a:srgbClr val="0C2D56"/>
                </a:solidFill>
                <a:latin typeface="Aptos"/>
              </a:rPr>
              <a:t>SIH 2026  |  Problem Statement 26044</a:t>
            </a:r>
          </a:p>
        </p:txBody>
      </p:sp>
      <p:sp>
        <p:nvSpPr>
          <p:cNvPr id="82" name="TextBox 81"/>
          <p:cNvSpPr txBox="1"/>
          <p:nvPr/>
        </p:nvSpPr>
        <p:spPr>
          <a:xfrm>
            <a:off x="9235440" y="6437376"/>
            <a:ext cx="2743200" cy="219456"/>
          </a:xfrm>
          <a:prstGeom prst="rect">
            <a:avLst/>
          </a:prstGeom>
          <a:noFill/>
        </p:spPr>
        <p:txBody>
          <a:bodyPr wrap="square" anchor="ctr">
            <a:spAutoFit/>
          </a:bodyPr>
          <a:lstStyle/>
          <a:p>
            <a:pPr algn="r"/>
            <a:r>
              <a:rPr sz="850" b="1">
                <a:solidFill>
                  <a:srgbClr val="0C2D56"/>
                </a:solidFill>
                <a:latin typeface="Aptos"/>
              </a:rPr>
              <a:t>AI ACADEMIA – INDUSTRY</a:t>
            </a:r>
          </a:p>
        </p:txBody>
      </p:sp>
      <p:sp>
        <p:nvSpPr>
          <p:cNvPr id="83" name="Rectangle 82">
            <a:extLst>
              <a:ext uri="{FF2B5EF4-FFF2-40B4-BE49-F238E27FC236}">
                <a16:creationId xmlns:a16="http://schemas.microsoft.com/office/drawing/2014/main" id="{09348F20-ABAF-06B8-9E8B-B9AC7BEF4B20}"/>
              </a:ext>
            </a:extLst>
          </p:cNvPr>
          <p:cNvSpPr/>
          <p:nvPr/>
        </p:nvSpPr>
        <p:spPr>
          <a:xfrm>
            <a:off x="3520440" y="2414016"/>
            <a:ext cx="116130" cy="283465"/>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4" name="Rectangle 83">
            <a:extLst>
              <a:ext uri="{FF2B5EF4-FFF2-40B4-BE49-F238E27FC236}">
                <a16:creationId xmlns:a16="http://schemas.microsoft.com/office/drawing/2014/main" id="{39764524-5957-12A3-9805-F370DE33E44A}"/>
              </a:ext>
            </a:extLst>
          </p:cNvPr>
          <p:cNvSpPr/>
          <p:nvPr/>
        </p:nvSpPr>
        <p:spPr>
          <a:xfrm rot="16200000">
            <a:off x="2605702" y="3378706"/>
            <a:ext cx="116130" cy="283465"/>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5" name="Rectangle 84">
            <a:extLst>
              <a:ext uri="{FF2B5EF4-FFF2-40B4-BE49-F238E27FC236}">
                <a16:creationId xmlns:a16="http://schemas.microsoft.com/office/drawing/2014/main" id="{80745DCC-1A72-D447-D0F9-9B21BFE01E55}"/>
              </a:ext>
            </a:extLst>
          </p:cNvPr>
          <p:cNvSpPr/>
          <p:nvPr/>
        </p:nvSpPr>
        <p:spPr>
          <a:xfrm rot="10800000">
            <a:off x="3578505" y="4279390"/>
            <a:ext cx="116130" cy="283465"/>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6" name="Rectangle 85">
            <a:extLst>
              <a:ext uri="{FF2B5EF4-FFF2-40B4-BE49-F238E27FC236}">
                <a16:creationId xmlns:a16="http://schemas.microsoft.com/office/drawing/2014/main" id="{76C742A9-3EA8-1BB9-0D68-DE78B13E092F}"/>
              </a:ext>
            </a:extLst>
          </p:cNvPr>
          <p:cNvSpPr/>
          <p:nvPr/>
        </p:nvSpPr>
        <p:spPr>
          <a:xfrm rot="5400000">
            <a:off x="4504791" y="3413606"/>
            <a:ext cx="116130" cy="283465"/>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88" name="Graphic 87">
            <a:extLst>
              <a:ext uri="{FF2B5EF4-FFF2-40B4-BE49-F238E27FC236}">
                <a16:creationId xmlns:a16="http://schemas.microsoft.com/office/drawing/2014/main" id="{E31DB330-9FED-BCD8-5409-7DFB5DAE712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06648" y="2972257"/>
            <a:ext cx="792175" cy="792175"/>
          </a:xfrm>
          <a:prstGeom prst="rect">
            <a:avLst/>
          </a:prstGeom>
          <a:effectLst>
            <a:outerShdw blurRad="50800" dist="38100" dir="2700000" algn="tl" rotWithShape="0">
              <a:prstClr val="black">
                <a:alpha val="40000"/>
              </a:prstClr>
            </a:outerShdw>
          </a:effectLst>
        </p:spPr>
      </p:pic>
      <p:cxnSp>
        <p:nvCxnSpPr>
          <p:cNvPr id="95" name="Straight Arrow Connector 94">
            <a:extLst>
              <a:ext uri="{FF2B5EF4-FFF2-40B4-BE49-F238E27FC236}">
                <a16:creationId xmlns:a16="http://schemas.microsoft.com/office/drawing/2014/main" id="{DC77852A-104C-D90F-9BC8-472403C87659}"/>
              </a:ext>
            </a:extLst>
          </p:cNvPr>
          <p:cNvCxnSpPr/>
          <p:nvPr/>
        </p:nvCxnSpPr>
        <p:spPr>
          <a:xfrm>
            <a:off x="2423160" y="1591055"/>
            <a:ext cx="98874" cy="434172"/>
          </a:xfrm>
          <a:prstGeom prst="straightConnector1">
            <a:avLst/>
          </a:prstGeom>
          <a:ln>
            <a:solidFill>
              <a:srgbClr val="002060"/>
            </a:solidFill>
            <a:tailEnd type="triangle"/>
          </a:ln>
        </p:spPr>
        <p:style>
          <a:lnRef idx="1">
            <a:schemeClr val="accent6"/>
          </a:lnRef>
          <a:fillRef idx="0">
            <a:schemeClr val="accent6"/>
          </a:fillRef>
          <a:effectRef idx="0">
            <a:schemeClr val="accent6"/>
          </a:effectRef>
          <a:fontRef idx="minor">
            <a:schemeClr val="tx1"/>
          </a:fontRef>
        </p:style>
      </p:cxnSp>
      <p:cxnSp>
        <p:nvCxnSpPr>
          <p:cNvPr id="98" name="Straight Arrow Connector 97">
            <a:extLst>
              <a:ext uri="{FF2B5EF4-FFF2-40B4-BE49-F238E27FC236}">
                <a16:creationId xmlns:a16="http://schemas.microsoft.com/office/drawing/2014/main" id="{C89CEBB1-1083-ECC3-1858-3D810FF1A875}"/>
              </a:ext>
            </a:extLst>
          </p:cNvPr>
          <p:cNvCxnSpPr/>
          <p:nvPr/>
        </p:nvCxnSpPr>
        <p:spPr>
          <a:xfrm flipV="1">
            <a:off x="2120037" y="4957385"/>
            <a:ext cx="280094" cy="214883"/>
          </a:xfrm>
          <a:prstGeom prst="straightConnector1">
            <a:avLst/>
          </a:prstGeom>
          <a:ln>
            <a:solidFill>
              <a:srgbClr val="002060"/>
            </a:solidFill>
            <a:tailEnd type="triangle"/>
          </a:ln>
        </p:spPr>
        <p:style>
          <a:lnRef idx="1">
            <a:schemeClr val="accent6"/>
          </a:lnRef>
          <a:fillRef idx="0">
            <a:schemeClr val="accent6"/>
          </a:fillRef>
          <a:effectRef idx="0">
            <a:schemeClr val="accent6"/>
          </a:effectRef>
          <a:fontRef idx="minor">
            <a:schemeClr val="tx1"/>
          </a:fontRef>
        </p:style>
      </p:cxnSp>
      <p:cxnSp>
        <p:nvCxnSpPr>
          <p:cNvPr id="101" name="Straight Arrow Connector 100">
            <a:extLst>
              <a:ext uri="{FF2B5EF4-FFF2-40B4-BE49-F238E27FC236}">
                <a16:creationId xmlns:a16="http://schemas.microsoft.com/office/drawing/2014/main" id="{9519C31C-10F2-2457-5041-49C8936A316D}"/>
              </a:ext>
            </a:extLst>
          </p:cNvPr>
          <p:cNvCxnSpPr/>
          <p:nvPr/>
        </p:nvCxnSpPr>
        <p:spPr>
          <a:xfrm flipH="1">
            <a:off x="5046133" y="1591055"/>
            <a:ext cx="246414" cy="169334"/>
          </a:xfrm>
          <a:prstGeom prst="straightConnector1">
            <a:avLst/>
          </a:prstGeom>
          <a:ln>
            <a:solidFill>
              <a:srgbClr val="002060"/>
            </a:solidFill>
            <a:tailEnd type="triangle"/>
          </a:ln>
        </p:spPr>
        <p:style>
          <a:lnRef idx="1">
            <a:schemeClr val="accent6"/>
          </a:lnRef>
          <a:fillRef idx="0">
            <a:schemeClr val="accent6"/>
          </a:fillRef>
          <a:effectRef idx="0">
            <a:schemeClr val="accent6"/>
          </a:effectRef>
          <a:fontRef idx="minor">
            <a:schemeClr val="tx1"/>
          </a:fontRef>
        </p:style>
      </p:cxnSp>
      <p:cxnSp>
        <p:nvCxnSpPr>
          <p:cNvPr id="104" name="Straight Arrow Connector 103">
            <a:extLst>
              <a:ext uri="{FF2B5EF4-FFF2-40B4-BE49-F238E27FC236}">
                <a16:creationId xmlns:a16="http://schemas.microsoft.com/office/drawing/2014/main" id="{0B8046F5-8BB8-A70F-8509-87AAAC71D55C}"/>
              </a:ext>
            </a:extLst>
          </p:cNvPr>
          <p:cNvCxnSpPr>
            <a:cxnSpLocks/>
          </p:cNvCxnSpPr>
          <p:nvPr/>
        </p:nvCxnSpPr>
        <p:spPr>
          <a:xfrm flipH="1" flipV="1">
            <a:off x="4977342" y="4770589"/>
            <a:ext cx="301279" cy="294181"/>
          </a:xfrm>
          <a:prstGeom prst="straightConnector1">
            <a:avLst/>
          </a:prstGeom>
          <a:ln>
            <a:solidFill>
              <a:srgbClr val="002060"/>
            </a:solidFill>
            <a:tailEnd type="triangle"/>
          </a:ln>
        </p:spPr>
        <p:style>
          <a:lnRef idx="1">
            <a:schemeClr val="accent6"/>
          </a:lnRef>
          <a:fillRef idx="0">
            <a:schemeClr val="accent6"/>
          </a:fillRef>
          <a:effectRef idx="0">
            <a:schemeClr val="accent6"/>
          </a:effectRef>
          <a:fontRef idx="minor">
            <a:schemeClr val="tx1"/>
          </a:fontRef>
        </p:style>
      </p:cxnSp>
      <p:pic>
        <p:nvPicPr>
          <p:cNvPr id="106" name="Picture 105" descr="a_clean_vector_logo_graphic_on_a_white_background.png">
            <a:extLst>
              <a:ext uri="{FF2B5EF4-FFF2-40B4-BE49-F238E27FC236}">
                <a16:creationId xmlns:a16="http://schemas.microsoft.com/office/drawing/2014/main" id="{4B3540C1-6AAA-FEDC-04E0-C3F68EF49683}"/>
              </a:ext>
            </a:extLst>
          </p:cNvPr>
          <p:cNvPicPr>
            <a:picLocks noChangeAspect="1"/>
          </p:cNvPicPr>
          <p:nvPr/>
        </p:nvPicPr>
        <p:blipFill>
          <a:blip r:embed="rId4"/>
          <a:stretch>
            <a:fillRect/>
          </a:stretch>
        </p:blipFill>
        <p:spPr>
          <a:xfrm>
            <a:off x="10500360" y="-11347"/>
            <a:ext cx="1691640" cy="950976"/>
          </a:xfrm>
          <a:prstGeom prst="rect">
            <a:avLst/>
          </a:prstGeom>
        </p:spPr>
      </p:pic>
      <p:pic>
        <p:nvPicPr>
          <p:cNvPr id="113" name="Graphic 112">
            <a:extLst>
              <a:ext uri="{FF2B5EF4-FFF2-40B4-BE49-F238E27FC236}">
                <a16:creationId xmlns:a16="http://schemas.microsoft.com/office/drawing/2014/main" id="{EDE1ED71-40B2-C436-2463-0979ED54E74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22321" y="5163834"/>
            <a:ext cx="495799" cy="495799"/>
          </a:xfrm>
          <a:prstGeom prst="rect">
            <a:avLst/>
          </a:prstGeom>
        </p:spPr>
      </p:pic>
      <p:pic>
        <p:nvPicPr>
          <p:cNvPr id="115" name="Graphic 114">
            <a:extLst>
              <a:ext uri="{FF2B5EF4-FFF2-40B4-BE49-F238E27FC236}">
                <a16:creationId xmlns:a16="http://schemas.microsoft.com/office/drawing/2014/main" id="{079E15CC-868B-C751-9717-815240CEBBD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65311" y="5168340"/>
            <a:ext cx="495504" cy="495504"/>
          </a:xfrm>
          <a:prstGeom prst="rect">
            <a:avLst/>
          </a:prstGeom>
        </p:spPr>
      </p:pic>
      <p:pic>
        <p:nvPicPr>
          <p:cNvPr id="117" name="Graphic 116">
            <a:extLst>
              <a:ext uri="{FF2B5EF4-FFF2-40B4-BE49-F238E27FC236}">
                <a16:creationId xmlns:a16="http://schemas.microsoft.com/office/drawing/2014/main" id="{A759BB15-91EA-BC2A-D126-BF2E0BF0A30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236651" y="5159547"/>
            <a:ext cx="477729" cy="477729"/>
          </a:xfrm>
          <a:prstGeom prst="rect">
            <a:avLst/>
          </a:prstGeom>
        </p:spPr>
      </p:pic>
      <p:pic>
        <p:nvPicPr>
          <p:cNvPr id="119" name="Picture 118" descr="A white line drawing of a road&#10;&#10;AI-generated content may be incorrect.">
            <a:extLst>
              <a:ext uri="{FF2B5EF4-FFF2-40B4-BE49-F238E27FC236}">
                <a16:creationId xmlns:a16="http://schemas.microsoft.com/office/drawing/2014/main" id="{B8D2220F-9C44-76FE-C94C-D169D63B5C38}"/>
              </a:ext>
            </a:extLst>
          </p:cNvPr>
          <p:cNvPicPr>
            <a:picLocks noChangeAspect="1"/>
          </p:cNvPicPr>
          <p:nvPr/>
        </p:nvPicPr>
        <p:blipFill>
          <a:blip r:embed="rId11"/>
          <a:stretch>
            <a:fillRect/>
          </a:stretch>
        </p:blipFill>
        <p:spPr>
          <a:xfrm>
            <a:off x="10203159" y="5176986"/>
            <a:ext cx="460290" cy="460290"/>
          </a:xfrm>
          <a:prstGeom prst="rect">
            <a:avLst/>
          </a:prstGeom>
        </p:spPr>
      </p:pic>
      <p:pic>
        <p:nvPicPr>
          <p:cNvPr id="121" name="Picture 120" descr="A white line drawing of a person climbing up a ladder&#10;&#10;AI-generated content may be incorrect.">
            <a:extLst>
              <a:ext uri="{FF2B5EF4-FFF2-40B4-BE49-F238E27FC236}">
                <a16:creationId xmlns:a16="http://schemas.microsoft.com/office/drawing/2014/main" id="{581F0643-7693-1615-F1C8-BBEB1E9DC753}"/>
              </a:ext>
            </a:extLst>
          </p:cNvPr>
          <p:cNvPicPr>
            <a:picLocks noChangeAspect="1"/>
          </p:cNvPicPr>
          <p:nvPr/>
        </p:nvPicPr>
        <p:blipFill>
          <a:blip r:embed="rId12"/>
          <a:stretch>
            <a:fillRect/>
          </a:stretch>
        </p:blipFill>
        <p:spPr>
          <a:xfrm>
            <a:off x="11152293" y="5172269"/>
            <a:ext cx="465008" cy="465008"/>
          </a:xfrm>
          <a:prstGeom prst="rect">
            <a:avLst/>
          </a:prstGeom>
        </p:spPr>
      </p:pic>
    </p:spTree>
    <p:extLst>
      <p:ext uri="{BB962C8B-B14F-4D97-AF65-F5344CB8AC3E}">
        <p14:creationId xmlns:p14="http://schemas.microsoft.com/office/powerpoint/2010/main" val="2878478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6032" y="107117"/>
            <a:ext cx="1868397" cy="224677"/>
          </a:xfrm>
          <a:prstGeom prst="rect">
            <a:avLst/>
          </a:prstGeom>
          <a:noFill/>
        </p:spPr>
        <p:txBody>
          <a:bodyPr wrap="none" lIns="27432" tIns="27432" rIns="27432" bIns="27432" anchor="ctr">
            <a:spAutoFit/>
          </a:bodyPr>
          <a:lstStyle/>
          <a:p>
            <a:pPr algn="l"/>
            <a:r>
              <a:rPr sz="1100" b="1" dirty="0">
                <a:solidFill>
                  <a:srgbClr val="072B5B"/>
                </a:solidFill>
                <a:latin typeface="Aptos"/>
              </a:rPr>
              <a:t>T</a:t>
            </a:r>
            <a:r>
              <a:rPr lang="en-IN" sz="1100" b="1" dirty="0">
                <a:solidFill>
                  <a:srgbClr val="072B5B"/>
                </a:solidFill>
                <a:latin typeface="Aptos"/>
              </a:rPr>
              <a:t>HE TRICKSTERS </a:t>
            </a:r>
            <a:r>
              <a:rPr sz="1100" b="1" dirty="0">
                <a:solidFill>
                  <a:srgbClr val="072B5B"/>
                </a:solidFill>
                <a:latin typeface="Aptos"/>
              </a:rPr>
              <a:t>| SIH 26044</a:t>
            </a:r>
          </a:p>
        </p:txBody>
      </p:sp>
      <p:sp>
        <p:nvSpPr>
          <p:cNvPr id="3" name="TextBox 2"/>
          <p:cNvSpPr txBox="1"/>
          <p:nvPr/>
        </p:nvSpPr>
        <p:spPr>
          <a:xfrm>
            <a:off x="3200400" y="73152"/>
            <a:ext cx="5806440" cy="438912"/>
          </a:xfrm>
          <a:prstGeom prst="rect">
            <a:avLst/>
          </a:prstGeom>
          <a:noFill/>
        </p:spPr>
        <p:txBody>
          <a:bodyPr wrap="none" lIns="27432" tIns="27432" rIns="27432" bIns="27432" anchor="ctr">
            <a:spAutoFit/>
          </a:bodyPr>
          <a:lstStyle/>
          <a:p>
            <a:pPr algn="ctr"/>
            <a:r>
              <a:rPr sz="2800" b="1">
                <a:solidFill>
                  <a:srgbClr val="072B5B"/>
                </a:solidFill>
                <a:latin typeface="Georgia"/>
              </a:rPr>
              <a:t>RESEARCH AND REFERENCES</a:t>
            </a:r>
          </a:p>
        </p:txBody>
      </p:sp>
      <p:sp>
        <p:nvSpPr>
          <p:cNvPr id="4" name="TextBox 3"/>
          <p:cNvSpPr txBox="1"/>
          <p:nvPr/>
        </p:nvSpPr>
        <p:spPr>
          <a:xfrm>
            <a:off x="3584448" y="502920"/>
            <a:ext cx="4983480" cy="274320"/>
          </a:xfrm>
          <a:prstGeom prst="rect">
            <a:avLst/>
          </a:prstGeom>
          <a:noFill/>
        </p:spPr>
        <p:txBody>
          <a:bodyPr wrap="none" lIns="27432" tIns="27432" rIns="27432" bIns="27432" anchor="ctr">
            <a:spAutoFit/>
          </a:bodyPr>
          <a:lstStyle/>
          <a:p>
            <a:pPr algn="ctr"/>
            <a:r>
              <a:rPr sz="1100" b="1" dirty="0">
                <a:solidFill>
                  <a:srgbClr val="072B5B"/>
                </a:solidFill>
                <a:latin typeface="Aptos"/>
              </a:rPr>
              <a:t>EVIDENCE-LED PROBLEM FRAMING  |  AI ACADEMIA–INDUSTRY</a:t>
            </a:r>
          </a:p>
        </p:txBody>
      </p:sp>
      <p:sp>
        <p:nvSpPr>
          <p:cNvPr id="5" name="Rectangle 4"/>
          <p:cNvSpPr/>
          <p:nvPr/>
        </p:nvSpPr>
        <p:spPr>
          <a:xfrm>
            <a:off x="1892808" y="347472"/>
            <a:ext cx="1143000" cy="18288"/>
          </a:xfrm>
          <a:prstGeom prst="rect">
            <a:avLst/>
          </a:prstGeom>
          <a:solidFill>
            <a:srgbClr val="07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098280" y="347472"/>
            <a:ext cx="1325880" cy="18288"/>
          </a:xfrm>
          <a:prstGeom prst="rect">
            <a:avLst/>
          </a:prstGeom>
          <a:solidFill>
            <a:srgbClr val="072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19456" y="1005840"/>
            <a:ext cx="1847088" cy="2231136"/>
          </a:xfrm>
          <a:prstGeom prst="roundRect">
            <a:avLst/>
          </a:prstGeom>
          <a:solidFill>
            <a:srgbClr val="FFFFFF"/>
          </a:solidFill>
          <a:ln w="15875">
            <a:solidFill>
              <a:srgbClr val="257D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hevron 10"/>
          <p:cNvSpPr/>
          <p:nvPr/>
        </p:nvSpPr>
        <p:spPr>
          <a:xfrm>
            <a:off x="749808" y="1170432"/>
            <a:ext cx="1225295" cy="347472"/>
          </a:xfrm>
          <a:prstGeom prst="chevron">
            <a:avLst/>
          </a:prstGeom>
          <a:solidFill>
            <a:srgbClr val="257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10896" y="1042416"/>
            <a:ext cx="512064" cy="512064"/>
          </a:xfrm>
          <a:prstGeom prst="ellipse">
            <a:avLst/>
          </a:prstGeom>
          <a:solidFill>
            <a:srgbClr val="257DD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10896" y="1042416"/>
            <a:ext cx="512064" cy="512064"/>
          </a:xfrm>
          <a:prstGeom prst="rect">
            <a:avLst/>
          </a:prstGeom>
          <a:noFill/>
        </p:spPr>
        <p:txBody>
          <a:bodyPr wrap="none" lIns="27432" tIns="27432" rIns="27432" bIns="27432" anchor="ctr">
            <a:spAutoFit/>
          </a:bodyPr>
          <a:lstStyle/>
          <a:p>
            <a:pPr algn="ctr"/>
            <a:r>
              <a:rPr sz="2200" b="1">
                <a:solidFill>
                  <a:srgbClr val="FFFFFF"/>
                </a:solidFill>
                <a:latin typeface="Segoe UI Symbol"/>
              </a:rPr>
              <a:t>🎓</a:t>
            </a:r>
          </a:p>
        </p:txBody>
      </p:sp>
      <p:sp>
        <p:nvSpPr>
          <p:cNvPr id="14" name="TextBox 13"/>
          <p:cNvSpPr txBox="1"/>
          <p:nvPr/>
        </p:nvSpPr>
        <p:spPr>
          <a:xfrm>
            <a:off x="832104" y="1179576"/>
            <a:ext cx="1097280" cy="292608"/>
          </a:xfrm>
          <a:prstGeom prst="rect">
            <a:avLst/>
          </a:prstGeom>
          <a:noFill/>
        </p:spPr>
        <p:txBody>
          <a:bodyPr wrap="none" lIns="27432" tIns="27432" rIns="27432" bIns="27432" anchor="ctr">
            <a:spAutoFit/>
          </a:bodyPr>
          <a:lstStyle/>
          <a:p>
            <a:pPr algn="ctr"/>
            <a:r>
              <a:rPr sz="919" b="1">
                <a:solidFill>
                  <a:srgbClr val="FFFFFF"/>
                </a:solidFill>
                <a:latin typeface="Aptos"/>
              </a:rPr>
              <a:t>EMPLOYABILITY</a:t>
            </a:r>
          </a:p>
        </p:txBody>
      </p:sp>
      <p:sp>
        <p:nvSpPr>
          <p:cNvPr id="15" name="TextBox 14"/>
          <p:cNvSpPr txBox="1"/>
          <p:nvPr/>
        </p:nvSpPr>
        <p:spPr>
          <a:xfrm>
            <a:off x="329184" y="1609344"/>
            <a:ext cx="1627632" cy="365760"/>
          </a:xfrm>
          <a:prstGeom prst="rect">
            <a:avLst/>
          </a:prstGeom>
          <a:noFill/>
        </p:spPr>
        <p:txBody>
          <a:bodyPr wrap="none" lIns="27432" tIns="27432" rIns="27432" bIns="27432" anchor="ctr">
            <a:spAutoFit/>
          </a:bodyPr>
          <a:lstStyle/>
          <a:p>
            <a:pPr algn="ctr"/>
            <a:r>
              <a:rPr sz="2000" b="1">
                <a:solidFill>
                  <a:srgbClr val="072B5B"/>
                </a:solidFill>
                <a:latin typeface="Aptos"/>
              </a:rPr>
              <a:t>54.81%</a:t>
            </a:r>
          </a:p>
        </p:txBody>
      </p:sp>
      <p:sp>
        <p:nvSpPr>
          <p:cNvPr id="16" name="TextBox 15"/>
          <p:cNvSpPr txBox="1"/>
          <p:nvPr/>
        </p:nvSpPr>
        <p:spPr>
          <a:xfrm>
            <a:off x="347473" y="1947178"/>
            <a:ext cx="1609344" cy="732508"/>
          </a:xfrm>
          <a:prstGeom prst="rect">
            <a:avLst/>
          </a:prstGeom>
          <a:noFill/>
        </p:spPr>
        <p:txBody>
          <a:bodyPr wrap="square" lIns="27432" tIns="27432" rIns="27432" bIns="27432" anchor="ctr">
            <a:spAutoFit/>
          </a:bodyPr>
          <a:lstStyle/>
          <a:p>
            <a:pPr algn="ctr"/>
            <a:r>
              <a:rPr sz="1100" b="1" dirty="0">
                <a:solidFill>
                  <a:srgbClr val="072B5B"/>
                </a:solidFill>
                <a:latin typeface="Aptos"/>
              </a:rPr>
              <a:t>of assessed Indian
graduates were employable
in 2025.</a:t>
            </a:r>
          </a:p>
        </p:txBody>
      </p:sp>
      <p:sp>
        <p:nvSpPr>
          <p:cNvPr id="17" name="Rectangle 16"/>
          <p:cNvSpPr/>
          <p:nvPr/>
        </p:nvSpPr>
        <p:spPr>
          <a:xfrm>
            <a:off x="392007" y="2737047"/>
            <a:ext cx="1481328" cy="10972"/>
          </a:xfrm>
          <a:prstGeom prst="rect">
            <a:avLst/>
          </a:prstGeom>
          <a:solidFill>
            <a:srgbClr val="257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4904" y="2748019"/>
            <a:ext cx="1554480" cy="301752"/>
          </a:xfrm>
          <a:prstGeom prst="rect">
            <a:avLst/>
          </a:prstGeom>
          <a:noFill/>
        </p:spPr>
        <p:txBody>
          <a:bodyPr wrap="none" lIns="27432" tIns="27432" rIns="27432" bIns="27432" anchor="ctr">
            <a:spAutoFit/>
          </a:bodyPr>
          <a:lstStyle/>
          <a:p>
            <a:pPr algn="ctr"/>
            <a:r>
              <a:rPr sz="680" b="1">
                <a:solidFill>
                  <a:srgbClr val="072B5B"/>
                </a:solidFill>
                <a:latin typeface="Aptos"/>
              </a:rPr>
              <a:t>India Skills Report 2025</a:t>
            </a:r>
          </a:p>
        </p:txBody>
      </p:sp>
      <p:sp>
        <p:nvSpPr>
          <p:cNvPr id="19" name="Rounded Rectangle 18"/>
          <p:cNvSpPr/>
          <p:nvPr/>
        </p:nvSpPr>
        <p:spPr>
          <a:xfrm>
            <a:off x="805348" y="2968152"/>
            <a:ext cx="713232" cy="182880"/>
          </a:xfrm>
          <a:prstGeom prst="roundRect">
            <a:avLst/>
          </a:prstGeom>
          <a:solidFill>
            <a:srgbClr val="FFFFFF"/>
          </a:solidFill>
          <a:ln w="11430">
            <a:solidFill>
              <a:srgbClr val="257D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2650" y="2990345"/>
            <a:ext cx="382412" cy="155427"/>
          </a:xfrm>
          <a:prstGeom prst="rect">
            <a:avLst/>
          </a:prstGeom>
          <a:noFill/>
        </p:spPr>
        <p:txBody>
          <a:bodyPr wrap="none" lIns="27432" tIns="27432" rIns="27432" bIns="27432" anchor="ctr">
            <a:spAutoFit/>
          </a:bodyPr>
          <a:lstStyle/>
          <a:p>
            <a:pPr algn="ctr"/>
            <a:r>
              <a:rPr sz="650" b="1" dirty="0">
                <a:solidFill>
                  <a:srgbClr val="257DDC"/>
                </a:solidFill>
                <a:latin typeface="Aptos"/>
              </a:rPr>
              <a:t>🔗  </a:t>
            </a:r>
            <a:r>
              <a:rPr sz="650" b="1" dirty="0">
                <a:solidFill>
                  <a:srgbClr val="257DDC"/>
                </a:solidFill>
                <a:latin typeface="Aptos"/>
                <a:hlinkClick r:id="rId2"/>
              </a:rPr>
              <a:t>LINK</a:t>
            </a:r>
            <a:endParaRPr sz="650" b="1" dirty="0">
              <a:solidFill>
                <a:srgbClr val="257DDC"/>
              </a:solidFill>
              <a:latin typeface="Aptos"/>
            </a:endParaRPr>
          </a:p>
        </p:txBody>
      </p:sp>
      <p:sp>
        <p:nvSpPr>
          <p:cNvPr id="21" name="Rounded Rectangle 20"/>
          <p:cNvSpPr/>
          <p:nvPr/>
        </p:nvSpPr>
        <p:spPr>
          <a:xfrm>
            <a:off x="2185415" y="1005840"/>
            <a:ext cx="1847088" cy="2231136"/>
          </a:xfrm>
          <a:prstGeom prst="roundRect">
            <a:avLst/>
          </a:prstGeom>
          <a:solidFill>
            <a:srgbClr val="FFFFFF"/>
          </a:solidFill>
          <a:ln w="15875">
            <a:solidFill>
              <a:srgbClr val="F445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hevron 21"/>
          <p:cNvSpPr/>
          <p:nvPr/>
        </p:nvSpPr>
        <p:spPr>
          <a:xfrm>
            <a:off x="2715768" y="1170432"/>
            <a:ext cx="1225295" cy="347472"/>
          </a:xfrm>
          <a:prstGeom prst="chevron">
            <a:avLst/>
          </a:prstGeom>
          <a:solidFill>
            <a:srgbClr val="F445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2276856" y="1042416"/>
            <a:ext cx="512064" cy="512064"/>
          </a:xfrm>
          <a:prstGeom prst="ellipse">
            <a:avLst/>
          </a:prstGeom>
          <a:solidFill>
            <a:srgbClr val="F4454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276856" y="1042416"/>
            <a:ext cx="512064" cy="512064"/>
          </a:xfrm>
          <a:prstGeom prst="rect">
            <a:avLst/>
          </a:prstGeom>
          <a:noFill/>
        </p:spPr>
        <p:txBody>
          <a:bodyPr wrap="none" lIns="27432" tIns="27432" rIns="27432" bIns="27432" anchor="ctr">
            <a:spAutoFit/>
          </a:bodyPr>
          <a:lstStyle/>
          <a:p>
            <a:pPr algn="ctr"/>
            <a:r>
              <a:rPr sz="2200" b="1">
                <a:solidFill>
                  <a:srgbClr val="FFFFFF"/>
                </a:solidFill>
                <a:latin typeface="Segoe UI Symbol"/>
              </a:rPr>
              <a:t>👥</a:t>
            </a:r>
          </a:p>
        </p:txBody>
      </p:sp>
      <p:sp>
        <p:nvSpPr>
          <p:cNvPr id="25" name="TextBox 24"/>
          <p:cNvSpPr txBox="1"/>
          <p:nvPr/>
        </p:nvSpPr>
        <p:spPr>
          <a:xfrm>
            <a:off x="2798063" y="1179576"/>
            <a:ext cx="1097280" cy="292608"/>
          </a:xfrm>
          <a:prstGeom prst="rect">
            <a:avLst/>
          </a:prstGeom>
          <a:noFill/>
        </p:spPr>
        <p:txBody>
          <a:bodyPr wrap="none" lIns="27432" tIns="27432" rIns="27432" bIns="27432" anchor="ctr">
            <a:spAutoFit/>
          </a:bodyPr>
          <a:lstStyle/>
          <a:p>
            <a:pPr algn="ctr"/>
            <a:r>
              <a:rPr sz="919" b="1">
                <a:solidFill>
                  <a:srgbClr val="FFFFFF"/>
                </a:solidFill>
                <a:latin typeface="Aptos"/>
              </a:rPr>
              <a:t>SKILLS GAP</a:t>
            </a:r>
          </a:p>
        </p:txBody>
      </p:sp>
      <p:sp>
        <p:nvSpPr>
          <p:cNvPr id="26" name="TextBox 25"/>
          <p:cNvSpPr txBox="1"/>
          <p:nvPr/>
        </p:nvSpPr>
        <p:spPr>
          <a:xfrm>
            <a:off x="2295144" y="1609344"/>
            <a:ext cx="1627632" cy="365760"/>
          </a:xfrm>
          <a:prstGeom prst="rect">
            <a:avLst/>
          </a:prstGeom>
          <a:noFill/>
        </p:spPr>
        <p:txBody>
          <a:bodyPr wrap="none" lIns="27432" tIns="27432" rIns="27432" bIns="27432" anchor="ctr">
            <a:spAutoFit/>
          </a:bodyPr>
          <a:lstStyle/>
          <a:p>
            <a:pPr algn="ctr"/>
            <a:r>
              <a:rPr sz="2000" b="1">
                <a:solidFill>
                  <a:srgbClr val="072B5B"/>
                </a:solidFill>
                <a:latin typeface="Aptos"/>
              </a:rPr>
              <a:t>63%</a:t>
            </a:r>
          </a:p>
        </p:txBody>
      </p:sp>
      <p:sp>
        <p:nvSpPr>
          <p:cNvPr id="27" name="TextBox 26"/>
          <p:cNvSpPr txBox="1"/>
          <p:nvPr/>
        </p:nvSpPr>
        <p:spPr>
          <a:xfrm>
            <a:off x="2174762" y="2031816"/>
            <a:ext cx="1866886" cy="563231"/>
          </a:xfrm>
          <a:prstGeom prst="rect">
            <a:avLst/>
          </a:prstGeom>
          <a:noFill/>
        </p:spPr>
        <p:txBody>
          <a:bodyPr wrap="square" lIns="27432" tIns="27432" rIns="27432" bIns="27432" anchor="ctr">
            <a:spAutoFit/>
          </a:bodyPr>
          <a:lstStyle/>
          <a:p>
            <a:pPr algn="ctr"/>
            <a:r>
              <a:rPr sz="1100" b="1" dirty="0">
                <a:solidFill>
                  <a:srgbClr val="072B5B"/>
                </a:solidFill>
                <a:latin typeface="Aptos"/>
              </a:rPr>
              <a:t>of employers cite skills gaps
as a major barrier to
business transformation.</a:t>
            </a:r>
          </a:p>
        </p:txBody>
      </p:sp>
      <p:sp>
        <p:nvSpPr>
          <p:cNvPr id="28" name="Rectangle 27"/>
          <p:cNvSpPr/>
          <p:nvPr/>
        </p:nvSpPr>
        <p:spPr>
          <a:xfrm>
            <a:off x="2354071" y="2685594"/>
            <a:ext cx="1481328" cy="10972"/>
          </a:xfrm>
          <a:prstGeom prst="rect">
            <a:avLst/>
          </a:prstGeom>
          <a:solidFill>
            <a:srgbClr val="F445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313261" y="2697480"/>
            <a:ext cx="1554480" cy="301752"/>
          </a:xfrm>
          <a:prstGeom prst="rect">
            <a:avLst/>
          </a:prstGeom>
          <a:noFill/>
        </p:spPr>
        <p:txBody>
          <a:bodyPr wrap="none" lIns="27432" tIns="27432" rIns="27432" bIns="27432" anchor="ctr">
            <a:spAutoFit/>
          </a:bodyPr>
          <a:lstStyle/>
          <a:p>
            <a:pPr algn="ctr"/>
            <a:r>
              <a:rPr sz="680" b="1">
                <a:solidFill>
                  <a:srgbClr val="072B5B"/>
                </a:solidFill>
                <a:latin typeface="Aptos"/>
              </a:rPr>
              <a:t>World Economic Forum
Future of Jobs Report 2025</a:t>
            </a:r>
          </a:p>
        </p:txBody>
      </p:sp>
      <p:sp>
        <p:nvSpPr>
          <p:cNvPr id="30" name="Rounded Rectangle 29"/>
          <p:cNvSpPr/>
          <p:nvPr/>
        </p:nvSpPr>
        <p:spPr>
          <a:xfrm>
            <a:off x="2761487" y="2968749"/>
            <a:ext cx="713232" cy="182880"/>
          </a:xfrm>
          <a:prstGeom prst="roundRect">
            <a:avLst/>
          </a:prstGeom>
          <a:solidFill>
            <a:srgbClr val="FFFFFF"/>
          </a:solidFill>
          <a:ln w="11430">
            <a:solidFill>
              <a:srgbClr val="F445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926898" y="2982475"/>
            <a:ext cx="382412" cy="155427"/>
          </a:xfrm>
          <a:prstGeom prst="rect">
            <a:avLst/>
          </a:prstGeom>
          <a:noFill/>
        </p:spPr>
        <p:txBody>
          <a:bodyPr wrap="none" lIns="27432" tIns="27432" rIns="27432" bIns="27432" anchor="ctr">
            <a:spAutoFit/>
          </a:bodyPr>
          <a:lstStyle/>
          <a:p>
            <a:pPr algn="ctr"/>
            <a:r>
              <a:rPr sz="650" b="1" dirty="0">
                <a:solidFill>
                  <a:srgbClr val="F4454C"/>
                </a:solidFill>
                <a:latin typeface="Aptos"/>
                <a:hlinkClick r:id="rId3"/>
              </a:rPr>
              <a:t>🔗  LINK</a:t>
            </a:r>
            <a:endParaRPr sz="650" b="1" dirty="0">
              <a:solidFill>
                <a:srgbClr val="F4454C"/>
              </a:solidFill>
              <a:latin typeface="Aptos"/>
            </a:endParaRPr>
          </a:p>
        </p:txBody>
      </p:sp>
      <p:sp>
        <p:nvSpPr>
          <p:cNvPr id="32" name="Rounded Rectangle 31"/>
          <p:cNvSpPr/>
          <p:nvPr/>
        </p:nvSpPr>
        <p:spPr>
          <a:xfrm>
            <a:off x="4151376" y="1005840"/>
            <a:ext cx="1847088" cy="2231136"/>
          </a:xfrm>
          <a:prstGeom prst="roundRect">
            <a:avLst/>
          </a:prstGeom>
          <a:solidFill>
            <a:srgbClr val="FFFFFF"/>
          </a:solidFill>
          <a:ln w="15875">
            <a:solidFill>
              <a:srgbClr val="279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Chevron 32"/>
          <p:cNvSpPr/>
          <p:nvPr/>
        </p:nvSpPr>
        <p:spPr>
          <a:xfrm>
            <a:off x="4681728" y="1170432"/>
            <a:ext cx="1316736" cy="347472"/>
          </a:xfrm>
          <a:prstGeom prst="chevron">
            <a:avLst/>
          </a:prstGeom>
          <a:solidFill>
            <a:srgbClr val="2799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4242816" y="1042416"/>
            <a:ext cx="512064" cy="512064"/>
          </a:xfrm>
          <a:prstGeom prst="ellipse">
            <a:avLst/>
          </a:prstGeom>
          <a:solidFill>
            <a:srgbClr val="27994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242816" y="1042416"/>
            <a:ext cx="512064" cy="512064"/>
          </a:xfrm>
          <a:prstGeom prst="rect">
            <a:avLst/>
          </a:prstGeom>
          <a:noFill/>
        </p:spPr>
        <p:txBody>
          <a:bodyPr wrap="none" lIns="27432" tIns="27432" rIns="27432" bIns="27432" anchor="ctr">
            <a:spAutoFit/>
          </a:bodyPr>
          <a:lstStyle/>
          <a:p>
            <a:pPr algn="ctr"/>
            <a:r>
              <a:rPr sz="2200" b="1">
                <a:solidFill>
                  <a:srgbClr val="FFFFFF"/>
                </a:solidFill>
                <a:latin typeface="Segoe UI Symbol"/>
              </a:rPr>
              <a:t>◉</a:t>
            </a:r>
          </a:p>
        </p:txBody>
      </p:sp>
      <p:sp>
        <p:nvSpPr>
          <p:cNvPr id="36" name="TextBox 35"/>
          <p:cNvSpPr txBox="1"/>
          <p:nvPr/>
        </p:nvSpPr>
        <p:spPr>
          <a:xfrm>
            <a:off x="4761659" y="1226433"/>
            <a:ext cx="1225295" cy="196849"/>
          </a:xfrm>
          <a:prstGeom prst="rect">
            <a:avLst/>
          </a:prstGeom>
          <a:noFill/>
        </p:spPr>
        <p:txBody>
          <a:bodyPr wrap="square" lIns="27432" tIns="27432" rIns="27432" bIns="27432" anchor="ctr">
            <a:spAutoFit/>
          </a:bodyPr>
          <a:lstStyle/>
          <a:p>
            <a:pPr algn="ctr"/>
            <a:r>
              <a:rPr sz="900" b="1" dirty="0">
                <a:solidFill>
                  <a:srgbClr val="FFFFFF"/>
                </a:solidFill>
                <a:latin typeface="Aptos"/>
              </a:rPr>
              <a:t>SKILL DISRUPTION</a:t>
            </a:r>
          </a:p>
        </p:txBody>
      </p:sp>
      <p:sp>
        <p:nvSpPr>
          <p:cNvPr id="37" name="TextBox 36"/>
          <p:cNvSpPr txBox="1"/>
          <p:nvPr/>
        </p:nvSpPr>
        <p:spPr>
          <a:xfrm>
            <a:off x="4261104" y="1609344"/>
            <a:ext cx="1627632" cy="365760"/>
          </a:xfrm>
          <a:prstGeom prst="rect">
            <a:avLst/>
          </a:prstGeom>
          <a:noFill/>
        </p:spPr>
        <p:txBody>
          <a:bodyPr wrap="none" lIns="27432" tIns="27432" rIns="27432" bIns="27432" anchor="ctr">
            <a:spAutoFit/>
          </a:bodyPr>
          <a:lstStyle/>
          <a:p>
            <a:pPr algn="ctr"/>
            <a:r>
              <a:rPr sz="2000" b="1" dirty="0">
                <a:solidFill>
                  <a:srgbClr val="072B5B"/>
                </a:solidFill>
                <a:latin typeface="Aptos"/>
              </a:rPr>
              <a:t>39%</a:t>
            </a:r>
          </a:p>
        </p:txBody>
      </p:sp>
      <p:sp>
        <p:nvSpPr>
          <p:cNvPr id="38" name="TextBox 37"/>
          <p:cNvSpPr txBox="1"/>
          <p:nvPr/>
        </p:nvSpPr>
        <p:spPr>
          <a:xfrm>
            <a:off x="4300220" y="2031816"/>
            <a:ext cx="1549399" cy="563231"/>
          </a:xfrm>
          <a:prstGeom prst="rect">
            <a:avLst/>
          </a:prstGeom>
          <a:noFill/>
        </p:spPr>
        <p:txBody>
          <a:bodyPr wrap="none" lIns="27432" tIns="27432" rIns="27432" bIns="27432" anchor="ctr">
            <a:spAutoFit/>
          </a:bodyPr>
          <a:lstStyle/>
          <a:p>
            <a:pPr algn="ctr"/>
            <a:r>
              <a:rPr sz="1100" b="1" dirty="0">
                <a:solidFill>
                  <a:srgbClr val="072B5B"/>
                </a:solidFill>
                <a:latin typeface="Aptos"/>
              </a:rPr>
              <a:t>of workers’ core skills
are expected to change
by 2030.</a:t>
            </a:r>
          </a:p>
        </p:txBody>
      </p:sp>
      <p:sp>
        <p:nvSpPr>
          <p:cNvPr id="39" name="Rectangle 38"/>
          <p:cNvSpPr/>
          <p:nvPr/>
        </p:nvSpPr>
        <p:spPr>
          <a:xfrm>
            <a:off x="4334255" y="2638025"/>
            <a:ext cx="1481328" cy="10972"/>
          </a:xfrm>
          <a:prstGeom prst="rect">
            <a:avLst/>
          </a:prstGeom>
          <a:solidFill>
            <a:srgbClr val="2799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334255" y="2679686"/>
            <a:ext cx="1554480" cy="301752"/>
          </a:xfrm>
          <a:prstGeom prst="rect">
            <a:avLst/>
          </a:prstGeom>
          <a:noFill/>
        </p:spPr>
        <p:txBody>
          <a:bodyPr wrap="none" lIns="27432" tIns="27432" rIns="27432" bIns="27432" anchor="ctr">
            <a:spAutoFit/>
          </a:bodyPr>
          <a:lstStyle/>
          <a:p>
            <a:pPr algn="ctr"/>
            <a:r>
              <a:rPr sz="680" b="1" dirty="0">
                <a:solidFill>
                  <a:srgbClr val="072B5B"/>
                </a:solidFill>
                <a:latin typeface="Aptos"/>
              </a:rPr>
              <a:t>World Economic Forum
Future of Jobs Report 2025</a:t>
            </a:r>
          </a:p>
        </p:txBody>
      </p:sp>
      <p:sp>
        <p:nvSpPr>
          <p:cNvPr id="41" name="Rounded Rectangle 40"/>
          <p:cNvSpPr/>
          <p:nvPr/>
        </p:nvSpPr>
        <p:spPr>
          <a:xfrm>
            <a:off x="4744382" y="2968749"/>
            <a:ext cx="713232" cy="182880"/>
          </a:xfrm>
          <a:prstGeom prst="roundRect">
            <a:avLst/>
          </a:prstGeom>
          <a:solidFill>
            <a:srgbClr val="FFFFFF"/>
          </a:solidFill>
          <a:ln w="11430">
            <a:solidFill>
              <a:srgbClr val="279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892858" y="2982475"/>
            <a:ext cx="382412" cy="155427"/>
          </a:xfrm>
          <a:prstGeom prst="rect">
            <a:avLst/>
          </a:prstGeom>
          <a:noFill/>
        </p:spPr>
        <p:txBody>
          <a:bodyPr wrap="none" lIns="27432" tIns="27432" rIns="27432" bIns="27432" anchor="ctr">
            <a:spAutoFit/>
          </a:bodyPr>
          <a:lstStyle/>
          <a:p>
            <a:pPr algn="ctr"/>
            <a:r>
              <a:rPr sz="650" b="1" dirty="0">
                <a:solidFill>
                  <a:srgbClr val="279949"/>
                </a:solidFill>
                <a:latin typeface="Aptos"/>
              </a:rPr>
              <a:t>🔗  </a:t>
            </a:r>
            <a:r>
              <a:rPr sz="650" b="1" dirty="0">
                <a:solidFill>
                  <a:srgbClr val="279949"/>
                </a:solidFill>
                <a:latin typeface="Aptos"/>
                <a:hlinkClick r:id="rId4"/>
              </a:rPr>
              <a:t>LINK</a:t>
            </a:r>
            <a:endParaRPr sz="650" b="1" dirty="0">
              <a:solidFill>
                <a:srgbClr val="279949"/>
              </a:solidFill>
              <a:latin typeface="Aptos"/>
            </a:endParaRPr>
          </a:p>
        </p:txBody>
      </p:sp>
      <p:sp>
        <p:nvSpPr>
          <p:cNvPr id="43" name="Rounded Rectangle 42"/>
          <p:cNvSpPr/>
          <p:nvPr/>
        </p:nvSpPr>
        <p:spPr>
          <a:xfrm>
            <a:off x="6117336" y="1005840"/>
            <a:ext cx="1847088" cy="2231136"/>
          </a:xfrm>
          <a:prstGeom prst="roundRect">
            <a:avLst/>
          </a:prstGeom>
          <a:solidFill>
            <a:srgbClr val="FFFFFF"/>
          </a:solidFill>
          <a:ln w="15875">
            <a:solidFill>
              <a:srgbClr val="7043B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4" name="Chevron 43"/>
          <p:cNvSpPr/>
          <p:nvPr/>
        </p:nvSpPr>
        <p:spPr>
          <a:xfrm>
            <a:off x="6608408" y="1170432"/>
            <a:ext cx="1356016" cy="347472"/>
          </a:xfrm>
          <a:prstGeom prst="chevron">
            <a:avLst/>
          </a:prstGeom>
          <a:solidFill>
            <a:srgbClr val="704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6192181" y="1140138"/>
            <a:ext cx="453029" cy="384048"/>
          </a:xfrm>
          <a:prstGeom prst="ellipse">
            <a:avLst/>
          </a:prstGeom>
          <a:solidFill>
            <a:srgbClr val="7043B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155378" y="1123950"/>
            <a:ext cx="453029" cy="393954"/>
          </a:xfrm>
          <a:prstGeom prst="rect">
            <a:avLst/>
          </a:prstGeom>
          <a:noFill/>
        </p:spPr>
        <p:txBody>
          <a:bodyPr wrap="square" lIns="27432" tIns="27432" rIns="27432" bIns="27432" anchor="ctr">
            <a:spAutoFit/>
          </a:bodyPr>
          <a:lstStyle/>
          <a:p>
            <a:pPr algn="ctr"/>
            <a:r>
              <a:rPr sz="2200" b="1" dirty="0">
                <a:solidFill>
                  <a:srgbClr val="FFFFFF"/>
                </a:solidFill>
                <a:latin typeface="Segoe UI Symbol"/>
              </a:rPr>
              <a:t>♙</a:t>
            </a:r>
          </a:p>
        </p:txBody>
      </p:sp>
      <p:sp>
        <p:nvSpPr>
          <p:cNvPr id="47" name="TextBox 46"/>
          <p:cNvSpPr txBox="1"/>
          <p:nvPr/>
        </p:nvSpPr>
        <p:spPr>
          <a:xfrm>
            <a:off x="6803583" y="1253280"/>
            <a:ext cx="1076512" cy="178510"/>
          </a:xfrm>
          <a:prstGeom prst="rect">
            <a:avLst/>
          </a:prstGeom>
          <a:noFill/>
        </p:spPr>
        <p:txBody>
          <a:bodyPr wrap="none" lIns="27432" tIns="27432" rIns="27432" bIns="27432" anchor="ctr">
            <a:spAutoFit/>
          </a:bodyPr>
          <a:lstStyle/>
          <a:p>
            <a:pPr algn="ctr"/>
            <a:r>
              <a:rPr sz="800" b="1" dirty="0">
                <a:solidFill>
                  <a:srgbClr val="FFFFFF"/>
                </a:solidFill>
                <a:latin typeface="Aptos"/>
              </a:rPr>
              <a:t>YOUTH EMPLOYMENT</a:t>
            </a:r>
          </a:p>
        </p:txBody>
      </p:sp>
      <p:sp>
        <p:nvSpPr>
          <p:cNvPr id="48" name="TextBox 47"/>
          <p:cNvSpPr txBox="1"/>
          <p:nvPr/>
        </p:nvSpPr>
        <p:spPr>
          <a:xfrm>
            <a:off x="6245351" y="1691640"/>
            <a:ext cx="1591056" cy="749808"/>
          </a:xfrm>
          <a:prstGeom prst="rect">
            <a:avLst/>
          </a:prstGeom>
          <a:noFill/>
        </p:spPr>
        <p:txBody>
          <a:bodyPr wrap="none" lIns="27432" tIns="27432" rIns="27432" bIns="27432" anchor="ctr">
            <a:spAutoFit/>
          </a:bodyPr>
          <a:lstStyle/>
          <a:p>
            <a:pPr algn="ctr"/>
            <a:r>
              <a:rPr sz="1100" b="1" dirty="0">
                <a:solidFill>
                  <a:srgbClr val="072B5B"/>
                </a:solidFill>
                <a:latin typeface="Aptos"/>
              </a:rPr>
              <a:t>Educated youth
unemployment remains
a major challenge
in India.</a:t>
            </a:r>
          </a:p>
        </p:txBody>
      </p:sp>
      <p:sp>
        <p:nvSpPr>
          <p:cNvPr id="49" name="Rectangle 48"/>
          <p:cNvSpPr/>
          <p:nvPr/>
        </p:nvSpPr>
        <p:spPr>
          <a:xfrm>
            <a:off x="6300216" y="2567428"/>
            <a:ext cx="1481328" cy="10972"/>
          </a:xfrm>
          <a:prstGeom prst="rect">
            <a:avLst/>
          </a:prstGeom>
          <a:solidFill>
            <a:srgbClr val="7043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435184" y="2595047"/>
            <a:ext cx="1264064" cy="264688"/>
          </a:xfrm>
          <a:prstGeom prst="rect">
            <a:avLst/>
          </a:prstGeom>
          <a:noFill/>
        </p:spPr>
        <p:txBody>
          <a:bodyPr wrap="none" lIns="27432" tIns="27432" rIns="27432" bIns="27432" anchor="ctr">
            <a:spAutoFit/>
          </a:bodyPr>
          <a:lstStyle/>
          <a:p>
            <a:pPr algn="ctr"/>
            <a:r>
              <a:rPr sz="680" b="1" dirty="0">
                <a:solidFill>
                  <a:srgbClr val="072B5B"/>
                </a:solidFill>
                <a:latin typeface="Aptos"/>
              </a:rPr>
              <a:t>
India Employment Report 2024</a:t>
            </a:r>
          </a:p>
        </p:txBody>
      </p:sp>
      <p:sp>
        <p:nvSpPr>
          <p:cNvPr id="51" name="Rounded Rectangle 50"/>
          <p:cNvSpPr/>
          <p:nvPr/>
        </p:nvSpPr>
        <p:spPr>
          <a:xfrm>
            <a:off x="6693407" y="2951815"/>
            <a:ext cx="713232" cy="182880"/>
          </a:xfrm>
          <a:prstGeom prst="roundRect">
            <a:avLst/>
          </a:prstGeom>
          <a:solidFill>
            <a:srgbClr val="FFFFFF"/>
          </a:solidFill>
          <a:ln w="11430">
            <a:solidFill>
              <a:srgbClr val="7043B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858817" y="2974008"/>
            <a:ext cx="382412" cy="155427"/>
          </a:xfrm>
          <a:prstGeom prst="rect">
            <a:avLst/>
          </a:prstGeom>
          <a:noFill/>
        </p:spPr>
        <p:txBody>
          <a:bodyPr wrap="none" lIns="27432" tIns="27432" rIns="27432" bIns="27432" anchor="ctr">
            <a:spAutoFit/>
          </a:bodyPr>
          <a:lstStyle/>
          <a:p>
            <a:pPr algn="ctr"/>
            <a:r>
              <a:rPr sz="650" b="1" dirty="0">
                <a:solidFill>
                  <a:srgbClr val="7043BC"/>
                </a:solidFill>
                <a:latin typeface="Aptos"/>
              </a:rPr>
              <a:t>🔗  </a:t>
            </a:r>
            <a:r>
              <a:rPr sz="650" b="1" dirty="0">
                <a:solidFill>
                  <a:srgbClr val="7043BC"/>
                </a:solidFill>
                <a:latin typeface="Aptos"/>
                <a:hlinkClick r:id="rId5"/>
              </a:rPr>
              <a:t>LINK</a:t>
            </a:r>
            <a:endParaRPr sz="650" b="1" dirty="0">
              <a:solidFill>
                <a:srgbClr val="7043BC"/>
              </a:solidFill>
              <a:latin typeface="Aptos"/>
            </a:endParaRPr>
          </a:p>
        </p:txBody>
      </p:sp>
      <p:sp>
        <p:nvSpPr>
          <p:cNvPr id="53" name="Rounded Rectangle 52"/>
          <p:cNvSpPr/>
          <p:nvPr/>
        </p:nvSpPr>
        <p:spPr>
          <a:xfrm>
            <a:off x="8083296" y="1005840"/>
            <a:ext cx="1847088" cy="2231136"/>
          </a:xfrm>
          <a:prstGeom prst="roundRect">
            <a:avLst/>
          </a:prstGeom>
          <a:solidFill>
            <a:srgbClr val="FFFFFF"/>
          </a:solidFill>
          <a:ln w="15875">
            <a:solidFill>
              <a:srgbClr val="19A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Chevron 53"/>
          <p:cNvSpPr/>
          <p:nvPr/>
        </p:nvSpPr>
        <p:spPr>
          <a:xfrm>
            <a:off x="8503920" y="1170432"/>
            <a:ext cx="1335023" cy="347472"/>
          </a:xfrm>
          <a:prstGeom prst="chevron">
            <a:avLst/>
          </a:prstGeom>
          <a:solidFill>
            <a:srgbClr val="19A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8174736" y="1123950"/>
            <a:ext cx="402336" cy="430530"/>
          </a:xfrm>
          <a:prstGeom prst="ellipse">
            <a:avLst/>
          </a:prstGeom>
          <a:solidFill>
            <a:srgbClr val="19A6B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174736" y="1142238"/>
            <a:ext cx="393192" cy="393954"/>
          </a:xfrm>
          <a:prstGeom prst="rect">
            <a:avLst/>
          </a:prstGeom>
          <a:noFill/>
        </p:spPr>
        <p:txBody>
          <a:bodyPr wrap="square" lIns="27432" tIns="27432" rIns="27432" bIns="27432" anchor="ctr">
            <a:spAutoFit/>
          </a:bodyPr>
          <a:lstStyle/>
          <a:p>
            <a:pPr algn="ctr"/>
            <a:r>
              <a:rPr sz="2200" b="1" dirty="0">
                <a:solidFill>
                  <a:srgbClr val="FFFFFF"/>
                </a:solidFill>
                <a:latin typeface="Segoe UI Symbol"/>
              </a:rPr>
              <a:t>▥</a:t>
            </a:r>
          </a:p>
        </p:txBody>
      </p:sp>
      <p:sp>
        <p:nvSpPr>
          <p:cNvPr id="57" name="TextBox 56"/>
          <p:cNvSpPr txBox="1"/>
          <p:nvPr/>
        </p:nvSpPr>
        <p:spPr>
          <a:xfrm>
            <a:off x="8607212" y="1222502"/>
            <a:ext cx="1271017" cy="196849"/>
          </a:xfrm>
          <a:prstGeom prst="rect">
            <a:avLst/>
          </a:prstGeom>
          <a:noFill/>
        </p:spPr>
        <p:txBody>
          <a:bodyPr wrap="square" lIns="27432" tIns="27432" rIns="27432" bIns="27432" anchor="ctr">
            <a:spAutoFit/>
          </a:bodyPr>
          <a:lstStyle/>
          <a:p>
            <a:pPr algn="ctr"/>
            <a:r>
              <a:rPr sz="919" b="1" dirty="0">
                <a:solidFill>
                  <a:srgbClr val="FFFFFF"/>
                </a:solidFill>
                <a:latin typeface="Aptos"/>
              </a:rPr>
              <a:t>INDUSTRY DEMAND</a:t>
            </a:r>
          </a:p>
        </p:txBody>
      </p:sp>
      <p:sp>
        <p:nvSpPr>
          <p:cNvPr id="58" name="TextBox 57"/>
          <p:cNvSpPr txBox="1"/>
          <p:nvPr/>
        </p:nvSpPr>
        <p:spPr>
          <a:xfrm>
            <a:off x="8042987" y="1700290"/>
            <a:ext cx="1927707" cy="732508"/>
          </a:xfrm>
          <a:prstGeom prst="rect">
            <a:avLst/>
          </a:prstGeom>
          <a:noFill/>
        </p:spPr>
        <p:txBody>
          <a:bodyPr wrap="none" lIns="27432" tIns="27432" rIns="27432" bIns="27432" anchor="ctr">
            <a:spAutoFit/>
          </a:bodyPr>
          <a:lstStyle/>
          <a:p>
            <a:pPr algn="ctr"/>
            <a:r>
              <a:rPr sz="1100" b="1" dirty="0">
                <a:solidFill>
                  <a:srgbClr val="072B5B"/>
                </a:solidFill>
                <a:latin typeface="Aptos"/>
              </a:rPr>
              <a:t>India’s technology sector
reached about 5.80 million
employees; net hiring
increased by 126,000 in FY25.</a:t>
            </a:r>
          </a:p>
        </p:txBody>
      </p:sp>
      <p:sp>
        <p:nvSpPr>
          <p:cNvPr id="59" name="Rectangle 58"/>
          <p:cNvSpPr/>
          <p:nvPr/>
        </p:nvSpPr>
        <p:spPr>
          <a:xfrm>
            <a:off x="8266175" y="2567426"/>
            <a:ext cx="1481328" cy="10972"/>
          </a:xfrm>
          <a:prstGeom prst="rect">
            <a:avLst/>
          </a:prstGeom>
          <a:solidFill>
            <a:srgbClr val="19A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8229260" y="2622789"/>
            <a:ext cx="1481328" cy="369332"/>
          </a:xfrm>
          <a:prstGeom prst="rect">
            <a:avLst/>
          </a:prstGeom>
          <a:noFill/>
        </p:spPr>
        <p:txBody>
          <a:bodyPr wrap="square" lIns="27432" tIns="27432" rIns="27432" bIns="27432" anchor="ctr">
            <a:spAutoFit/>
          </a:bodyPr>
          <a:lstStyle/>
          <a:p>
            <a:pPr algn="ctr"/>
            <a:r>
              <a:rPr sz="680" b="1" dirty="0">
                <a:solidFill>
                  <a:srgbClr val="072B5B"/>
                </a:solidFill>
                <a:latin typeface="Aptos"/>
              </a:rPr>
              <a:t>NASSCOM
Technology Sector in India: Strategic Review 2025</a:t>
            </a:r>
          </a:p>
        </p:txBody>
      </p:sp>
      <p:sp>
        <p:nvSpPr>
          <p:cNvPr id="61" name="Rounded Rectangle 60"/>
          <p:cNvSpPr/>
          <p:nvPr/>
        </p:nvSpPr>
        <p:spPr>
          <a:xfrm>
            <a:off x="8659368" y="3002617"/>
            <a:ext cx="713232" cy="182880"/>
          </a:xfrm>
          <a:prstGeom prst="roundRect">
            <a:avLst/>
          </a:prstGeom>
          <a:solidFill>
            <a:srgbClr val="FFFFFF"/>
          </a:solidFill>
          <a:ln w="11430">
            <a:solidFill>
              <a:srgbClr val="19A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8779058" y="3026674"/>
            <a:ext cx="382412" cy="155427"/>
          </a:xfrm>
          <a:prstGeom prst="rect">
            <a:avLst/>
          </a:prstGeom>
          <a:noFill/>
        </p:spPr>
        <p:txBody>
          <a:bodyPr wrap="none" lIns="27432" tIns="27432" rIns="27432" bIns="27432" anchor="ctr">
            <a:spAutoFit/>
          </a:bodyPr>
          <a:lstStyle/>
          <a:p>
            <a:pPr algn="ctr"/>
            <a:r>
              <a:rPr sz="650" b="1" dirty="0">
                <a:solidFill>
                  <a:srgbClr val="19A6BE"/>
                </a:solidFill>
                <a:latin typeface="Aptos"/>
              </a:rPr>
              <a:t>🔗  </a:t>
            </a:r>
            <a:r>
              <a:rPr sz="650" b="1" dirty="0">
                <a:solidFill>
                  <a:srgbClr val="19A6BE"/>
                </a:solidFill>
                <a:latin typeface="Aptos"/>
                <a:hlinkClick r:id="rId6"/>
              </a:rPr>
              <a:t>LINK</a:t>
            </a:r>
            <a:endParaRPr sz="650" b="1" dirty="0">
              <a:solidFill>
                <a:srgbClr val="19A6BE"/>
              </a:solidFill>
              <a:latin typeface="Aptos"/>
            </a:endParaRPr>
          </a:p>
        </p:txBody>
      </p:sp>
      <p:sp>
        <p:nvSpPr>
          <p:cNvPr id="63" name="Rounded Rectangle 62"/>
          <p:cNvSpPr/>
          <p:nvPr/>
        </p:nvSpPr>
        <p:spPr>
          <a:xfrm>
            <a:off x="10049256" y="1005840"/>
            <a:ext cx="1847088" cy="2231136"/>
          </a:xfrm>
          <a:prstGeom prst="roundRect">
            <a:avLst/>
          </a:prstGeom>
          <a:solidFill>
            <a:srgbClr val="FFFFFF"/>
          </a:solidFill>
          <a:ln w="15875">
            <a:solidFill>
              <a:srgbClr val="F491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Chevron 63"/>
          <p:cNvSpPr/>
          <p:nvPr/>
        </p:nvSpPr>
        <p:spPr>
          <a:xfrm>
            <a:off x="10579608" y="1170432"/>
            <a:ext cx="1225295" cy="347472"/>
          </a:xfrm>
          <a:prstGeom prst="chevron">
            <a:avLst/>
          </a:prstGeom>
          <a:solidFill>
            <a:srgbClr val="F491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10140696" y="1042416"/>
            <a:ext cx="512064" cy="512064"/>
          </a:xfrm>
          <a:prstGeom prst="ellipse">
            <a:avLst/>
          </a:prstGeom>
          <a:solidFill>
            <a:srgbClr val="F4911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0140696" y="1042416"/>
            <a:ext cx="512064" cy="512064"/>
          </a:xfrm>
          <a:prstGeom prst="rect">
            <a:avLst/>
          </a:prstGeom>
          <a:noFill/>
        </p:spPr>
        <p:txBody>
          <a:bodyPr wrap="none" lIns="27432" tIns="27432" rIns="27432" bIns="27432" anchor="ctr">
            <a:spAutoFit/>
          </a:bodyPr>
          <a:lstStyle/>
          <a:p>
            <a:pPr algn="ctr"/>
            <a:r>
              <a:rPr sz="2200" b="1">
                <a:solidFill>
                  <a:srgbClr val="FFFFFF"/>
                </a:solidFill>
                <a:latin typeface="Segoe UI Symbol"/>
              </a:rPr>
              <a:t>✦</a:t>
            </a:r>
          </a:p>
        </p:txBody>
      </p:sp>
      <p:sp>
        <p:nvSpPr>
          <p:cNvPr id="67" name="TextBox 66"/>
          <p:cNvSpPr txBox="1"/>
          <p:nvPr/>
        </p:nvSpPr>
        <p:spPr>
          <a:xfrm>
            <a:off x="10625328" y="1156731"/>
            <a:ext cx="1133856" cy="338298"/>
          </a:xfrm>
          <a:prstGeom prst="rect">
            <a:avLst/>
          </a:prstGeom>
          <a:noFill/>
        </p:spPr>
        <p:txBody>
          <a:bodyPr wrap="square" lIns="27432" tIns="27432" rIns="27432" bIns="27432" anchor="ctr">
            <a:spAutoFit/>
          </a:bodyPr>
          <a:lstStyle/>
          <a:p>
            <a:pPr algn="ctr"/>
            <a:r>
              <a:rPr sz="919" b="1" dirty="0">
                <a:solidFill>
                  <a:srgbClr val="FFFFFF"/>
                </a:solidFill>
                <a:latin typeface="Aptos"/>
              </a:rPr>
              <a:t>CONTINUOUS UPSKILLING</a:t>
            </a:r>
          </a:p>
        </p:txBody>
      </p:sp>
      <p:sp>
        <p:nvSpPr>
          <p:cNvPr id="68" name="TextBox 67"/>
          <p:cNvSpPr txBox="1"/>
          <p:nvPr/>
        </p:nvSpPr>
        <p:spPr>
          <a:xfrm>
            <a:off x="10120355" y="1700290"/>
            <a:ext cx="1704890" cy="732508"/>
          </a:xfrm>
          <a:prstGeom prst="rect">
            <a:avLst/>
          </a:prstGeom>
          <a:noFill/>
        </p:spPr>
        <p:txBody>
          <a:bodyPr wrap="none" lIns="27432" tIns="27432" rIns="27432" bIns="27432" anchor="ctr">
            <a:spAutoFit/>
          </a:bodyPr>
          <a:lstStyle/>
          <a:p>
            <a:pPr algn="ctr"/>
            <a:r>
              <a:rPr sz="1100" b="1" dirty="0">
                <a:solidFill>
                  <a:srgbClr val="072B5B"/>
                </a:solidFill>
                <a:latin typeface="Aptos"/>
              </a:rPr>
              <a:t>AI and big data are among
the fastest-growing skills;
continuous upskilling is
increasingly required.</a:t>
            </a:r>
          </a:p>
        </p:txBody>
      </p:sp>
      <p:sp>
        <p:nvSpPr>
          <p:cNvPr id="69" name="Rectangle 68"/>
          <p:cNvSpPr/>
          <p:nvPr/>
        </p:nvSpPr>
        <p:spPr>
          <a:xfrm>
            <a:off x="10195560" y="2567428"/>
            <a:ext cx="1481328" cy="10972"/>
          </a:xfrm>
          <a:prstGeom prst="rect">
            <a:avLst/>
          </a:prstGeom>
          <a:solidFill>
            <a:srgbClr val="F491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10158984" y="2605936"/>
            <a:ext cx="1554480" cy="301752"/>
          </a:xfrm>
          <a:prstGeom prst="rect">
            <a:avLst/>
          </a:prstGeom>
          <a:noFill/>
        </p:spPr>
        <p:txBody>
          <a:bodyPr wrap="none" lIns="27432" tIns="27432" rIns="27432" bIns="27432" anchor="ctr">
            <a:spAutoFit/>
          </a:bodyPr>
          <a:lstStyle/>
          <a:p>
            <a:pPr algn="ctr"/>
            <a:r>
              <a:rPr sz="680" b="1" dirty="0">
                <a:solidFill>
                  <a:srgbClr val="072B5B"/>
                </a:solidFill>
                <a:latin typeface="Aptos"/>
              </a:rPr>
              <a:t>World Economic Forum
Future of Jobs Report 2025</a:t>
            </a:r>
          </a:p>
        </p:txBody>
      </p:sp>
      <p:sp>
        <p:nvSpPr>
          <p:cNvPr id="71" name="Rounded Rectangle 70"/>
          <p:cNvSpPr/>
          <p:nvPr/>
        </p:nvSpPr>
        <p:spPr>
          <a:xfrm>
            <a:off x="10625328" y="2917947"/>
            <a:ext cx="713232" cy="182880"/>
          </a:xfrm>
          <a:prstGeom prst="roundRect">
            <a:avLst/>
          </a:prstGeom>
          <a:solidFill>
            <a:srgbClr val="FFFFFF"/>
          </a:solidFill>
          <a:ln w="11430">
            <a:solidFill>
              <a:srgbClr val="F491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10790738" y="2931675"/>
            <a:ext cx="382412" cy="155427"/>
          </a:xfrm>
          <a:prstGeom prst="rect">
            <a:avLst/>
          </a:prstGeom>
          <a:noFill/>
        </p:spPr>
        <p:txBody>
          <a:bodyPr wrap="none" lIns="27432" tIns="27432" rIns="27432" bIns="27432" anchor="ctr">
            <a:spAutoFit/>
          </a:bodyPr>
          <a:lstStyle/>
          <a:p>
            <a:pPr algn="ctr"/>
            <a:r>
              <a:rPr sz="650" b="1" dirty="0">
                <a:solidFill>
                  <a:srgbClr val="F49112"/>
                </a:solidFill>
                <a:latin typeface="Aptos"/>
                <a:hlinkClick r:id="rId2"/>
              </a:rPr>
              <a:t>🔗  LINK</a:t>
            </a:r>
            <a:endParaRPr sz="650" b="1" dirty="0">
              <a:solidFill>
                <a:srgbClr val="F49112"/>
              </a:solidFill>
              <a:latin typeface="Aptos"/>
            </a:endParaRPr>
          </a:p>
        </p:txBody>
      </p:sp>
      <p:sp>
        <p:nvSpPr>
          <p:cNvPr id="73" name="TextBox 72"/>
          <p:cNvSpPr txBox="1"/>
          <p:nvPr/>
        </p:nvSpPr>
        <p:spPr>
          <a:xfrm>
            <a:off x="3703320" y="3355848"/>
            <a:ext cx="4800600" cy="347472"/>
          </a:xfrm>
          <a:prstGeom prst="rect">
            <a:avLst/>
          </a:prstGeom>
          <a:noFill/>
        </p:spPr>
        <p:txBody>
          <a:bodyPr wrap="none" lIns="27432" tIns="27432" rIns="27432" bIns="27432" anchor="ctr">
            <a:spAutoFit/>
          </a:bodyPr>
          <a:lstStyle/>
          <a:p>
            <a:pPr algn="ctr"/>
            <a:r>
              <a:rPr sz="2000" b="1" dirty="0">
                <a:solidFill>
                  <a:srgbClr val="072B5B"/>
                </a:solidFill>
                <a:latin typeface="Georgia"/>
              </a:rPr>
              <a:t>WHAT THE RESEARCH REVEALS</a:t>
            </a:r>
          </a:p>
        </p:txBody>
      </p:sp>
      <p:sp>
        <p:nvSpPr>
          <p:cNvPr id="74" name="Rectangle 73"/>
          <p:cNvSpPr/>
          <p:nvPr/>
        </p:nvSpPr>
        <p:spPr>
          <a:xfrm>
            <a:off x="246888" y="3529584"/>
            <a:ext cx="3456432" cy="45719"/>
          </a:xfrm>
          <a:prstGeom prst="rect">
            <a:avLst/>
          </a:prstGeom>
          <a:solidFill>
            <a:srgbClr val="257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8778240" y="3529584"/>
            <a:ext cx="2834640" cy="45719"/>
          </a:xfrm>
          <a:prstGeom prst="rect">
            <a:avLst/>
          </a:prstGeom>
          <a:solidFill>
            <a:srgbClr val="257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ounded Rectangle 75"/>
          <p:cNvSpPr/>
          <p:nvPr/>
        </p:nvSpPr>
        <p:spPr>
          <a:xfrm>
            <a:off x="256032" y="3749039"/>
            <a:ext cx="2788920" cy="1170432"/>
          </a:xfrm>
          <a:prstGeom prst="roundRect">
            <a:avLst/>
          </a:prstGeom>
          <a:solidFill>
            <a:srgbClr val="FFFFFF"/>
          </a:solidFill>
          <a:ln w="13970">
            <a:solidFill>
              <a:srgbClr val="257D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ounded Rectangle 76"/>
          <p:cNvSpPr/>
          <p:nvPr/>
        </p:nvSpPr>
        <p:spPr>
          <a:xfrm>
            <a:off x="274320" y="3767327"/>
            <a:ext cx="2752344" cy="347472"/>
          </a:xfrm>
          <a:prstGeom prst="roundRect">
            <a:avLst/>
          </a:prstGeom>
          <a:solidFill>
            <a:srgbClr val="257DDC"/>
          </a:solidFill>
          <a:ln w="6350">
            <a:solidFill>
              <a:srgbClr val="257D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411480" y="3657599"/>
            <a:ext cx="530352" cy="530352"/>
          </a:xfrm>
          <a:prstGeom prst="ellipse">
            <a:avLst/>
          </a:prstGeom>
          <a:solidFill>
            <a:srgbClr val="257DD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411480" y="3657599"/>
            <a:ext cx="530352" cy="530352"/>
          </a:xfrm>
          <a:prstGeom prst="rect">
            <a:avLst/>
          </a:prstGeom>
          <a:noFill/>
        </p:spPr>
        <p:txBody>
          <a:bodyPr wrap="none" lIns="27432" tIns="27432" rIns="27432" bIns="27432" anchor="ctr">
            <a:spAutoFit/>
          </a:bodyPr>
          <a:lstStyle/>
          <a:p>
            <a:pPr algn="ctr"/>
            <a:r>
              <a:rPr sz="2200" b="1">
                <a:solidFill>
                  <a:srgbClr val="FFFFFF"/>
                </a:solidFill>
                <a:latin typeface="Segoe UI Symbol"/>
              </a:rPr>
              <a:t>◎</a:t>
            </a:r>
          </a:p>
        </p:txBody>
      </p:sp>
      <p:sp>
        <p:nvSpPr>
          <p:cNvPr id="80" name="TextBox 79"/>
          <p:cNvSpPr txBox="1"/>
          <p:nvPr/>
        </p:nvSpPr>
        <p:spPr>
          <a:xfrm>
            <a:off x="896112" y="3794759"/>
            <a:ext cx="2039112" cy="274320"/>
          </a:xfrm>
          <a:prstGeom prst="rect">
            <a:avLst/>
          </a:prstGeom>
          <a:noFill/>
        </p:spPr>
        <p:txBody>
          <a:bodyPr wrap="none" lIns="27432" tIns="27432" rIns="27432" bIns="27432" anchor="ctr">
            <a:spAutoFit/>
          </a:bodyPr>
          <a:lstStyle/>
          <a:p>
            <a:pPr algn="ctr"/>
            <a:r>
              <a:rPr sz="1019" b="1">
                <a:solidFill>
                  <a:srgbClr val="FFFFFF"/>
                </a:solidFill>
                <a:latin typeface="Aptos"/>
              </a:rPr>
              <a:t>SKILL MISMATCH</a:t>
            </a:r>
          </a:p>
        </p:txBody>
      </p:sp>
      <p:sp>
        <p:nvSpPr>
          <p:cNvPr id="81" name="TextBox 80"/>
          <p:cNvSpPr txBox="1"/>
          <p:nvPr/>
        </p:nvSpPr>
        <p:spPr>
          <a:xfrm>
            <a:off x="557694" y="4204752"/>
            <a:ext cx="1499706" cy="216982"/>
          </a:xfrm>
          <a:prstGeom prst="rect">
            <a:avLst/>
          </a:prstGeom>
          <a:noFill/>
        </p:spPr>
        <p:txBody>
          <a:bodyPr wrap="none" lIns="27432" tIns="27432" rIns="27432" bIns="27432" anchor="ctr">
            <a:spAutoFit/>
          </a:bodyPr>
          <a:lstStyle/>
          <a:p>
            <a:pPr algn="l"/>
            <a:r>
              <a:rPr sz="1050" b="1" dirty="0">
                <a:solidFill>
                  <a:srgbClr val="072B5B"/>
                </a:solidFill>
                <a:latin typeface="Aptos"/>
              </a:rPr>
              <a:t>•  Adaptive Assessment</a:t>
            </a:r>
          </a:p>
        </p:txBody>
      </p:sp>
      <p:sp>
        <p:nvSpPr>
          <p:cNvPr id="82" name="TextBox 81"/>
          <p:cNvSpPr txBox="1"/>
          <p:nvPr/>
        </p:nvSpPr>
        <p:spPr>
          <a:xfrm>
            <a:off x="527617" y="4428170"/>
            <a:ext cx="1182311" cy="216982"/>
          </a:xfrm>
          <a:prstGeom prst="rect">
            <a:avLst/>
          </a:prstGeom>
          <a:noFill/>
        </p:spPr>
        <p:txBody>
          <a:bodyPr wrap="none" lIns="27432" tIns="27432" rIns="27432" bIns="27432" anchor="ctr">
            <a:spAutoFit/>
          </a:bodyPr>
          <a:lstStyle/>
          <a:p>
            <a:pPr algn="l"/>
            <a:r>
              <a:rPr sz="1050" b="1" dirty="0">
                <a:solidFill>
                  <a:srgbClr val="072B5B"/>
                </a:solidFill>
                <a:latin typeface="Aptos"/>
              </a:rPr>
              <a:t>•  Skill-Gap Engine</a:t>
            </a:r>
          </a:p>
        </p:txBody>
      </p:sp>
      <p:sp>
        <p:nvSpPr>
          <p:cNvPr id="83" name="Rounded Rectangle 82"/>
          <p:cNvSpPr/>
          <p:nvPr/>
        </p:nvSpPr>
        <p:spPr>
          <a:xfrm>
            <a:off x="3246120" y="3749039"/>
            <a:ext cx="2788920" cy="1170432"/>
          </a:xfrm>
          <a:prstGeom prst="roundRect">
            <a:avLst/>
          </a:prstGeom>
          <a:solidFill>
            <a:srgbClr val="FFFFFF"/>
          </a:solidFill>
          <a:ln w="13970">
            <a:solidFill>
              <a:srgbClr val="F445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ounded Rectangle 83"/>
          <p:cNvSpPr/>
          <p:nvPr/>
        </p:nvSpPr>
        <p:spPr>
          <a:xfrm>
            <a:off x="3264408" y="3767327"/>
            <a:ext cx="2752344" cy="347472"/>
          </a:xfrm>
          <a:prstGeom prst="roundRect">
            <a:avLst/>
          </a:prstGeom>
          <a:solidFill>
            <a:srgbClr val="F4454C"/>
          </a:solidFill>
          <a:ln w="6350">
            <a:solidFill>
              <a:srgbClr val="F445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val 84"/>
          <p:cNvSpPr/>
          <p:nvPr/>
        </p:nvSpPr>
        <p:spPr>
          <a:xfrm>
            <a:off x="3401568" y="3657599"/>
            <a:ext cx="530352" cy="530352"/>
          </a:xfrm>
          <a:prstGeom prst="ellipse">
            <a:avLst/>
          </a:prstGeom>
          <a:solidFill>
            <a:srgbClr val="F4454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3401568" y="3657599"/>
            <a:ext cx="530352" cy="530352"/>
          </a:xfrm>
          <a:prstGeom prst="rect">
            <a:avLst/>
          </a:prstGeom>
          <a:noFill/>
        </p:spPr>
        <p:txBody>
          <a:bodyPr wrap="none" lIns="27432" tIns="27432" rIns="27432" bIns="27432" anchor="ctr">
            <a:spAutoFit/>
          </a:bodyPr>
          <a:lstStyle/>
          <a:p>
            <a:pPr algn="ctr"/>
            <a:r>
              <a:rPr sz="2200" b="1">
                <a:solidFill>
                  <a:srgbClr val="FFFFFF"/>
                </a:solidFill>
                <a:latin typeface="Segoe UI Symbol"/>
              </a:rPr>
              <a:t>↗</a:t>
            </a:r>
          </a:p>
        </p:txBody>
      </p:sp>
      <p:sp>
        <p:nvSpPr>
          <p:cNvPr id="87" name="TextBox 86"/>
          <p:cNvSpPr txBox="1"/>
          <p:nvPr/>
        </p:nvSpPr>
        <p:spPr>
          <a:xfrm>
            <a:off x="3886200" y="3794759"/>
            <a:ext cx="2039112" cy="274320"/>
          </a:xfrm>
          <a:prstGeom prst="rect">
            <a:avLst/>
          </a:prstGeom>
          <a:noFill/>
        </p:spPr>
        <p:txBody>
          <a:bodyPr wrap="none" lIns="27432" tIns="27432" rIns="27432" bIns="27432" anchor="ctr">
            <a:spAutoFit/>
          </a:bodyPr>
          <a:lstStyle/>
          <a:p>
            <a:pPr algn="ctr"/>
            <a:r>
              <a:rPr sz="1019" b="1" dirty="0">
                <a:solidFill>
                  <a:srgbClr val="FFFFFF"/>
                </a:solidFill>
                <a:latin typeface="Aptos"/>
              </a:rPr>
              <a:t>RAPID SKILL CHANGE</a:t>
            </a:r>
          </a:p>
        </p:txBody>
      </p:sp>
      <p:sp>
        <p:nvSpPr>
          <p:cNvPr id="88" name="TextBox 87"/>
          <p:cNvSpPr txBox="1"/>
          <p:nvPr/>
        </p:nvSpPr>
        <p:spPr>
          <a:xfrm>
            <a:off x="3527553" y="4221026"/>
            <a:ext cx="1332994" cy="216982"/>
          </a:xfrm>
          <a:prstGeom prst="rect">
            <a:avLst/>
          </a:prstGeom>
          <a:noFill/>
        </p:spPr>
        <p:txBody>
          <a:bodyPr wrap="none" lIns="27432" tIns="27432" rIns="27432" bIns="27432" anchor="ctr">
            <a:spAutoFit/>
          </a:bodyPr>
          <a:lstStyle/>
          <a:p>
            <a:pPr algn="l"/>
            <a:r>
              <a:rPr sz="1050" b="1" dirty="0">
                <a:solidFill>
                  <a:srgbClr val="072B5B"/>
                </a:solidFill>
                <a:latin typeface="Aptos"/>
              </a:rPr>
              <a:t>•  Dynamic Roadmap</a:t>
            </a:r>
          </a:p>
        </p:txBody>
      </p:sp>
      <p:sp>
        <p:nvSpPr>
          <p:cNvPr id="89" name="TextBox 88"/>
          <p:cNvSpPr txBox="1"/>
          <p:nvPr/>
        </p:nvSpPr>
        <p:spPr>
          <a:xfrm>
            <a:off x="3502152" y="4419486"/>
            <a:ext cx="1450012" cy="216982"/>
          </a:xfrm>
          <a:prstGeom prst="rect">
            <a:avLst/>
          </a:prstGeom>
          <a:noFill/>
        </p:spPr>
        <p:txBody>
          <a:bodyPr wrap="none" lIns="27432" tIns="27432" rIns="27432" bIns="27432" anchor="ctr">
            <a:spAutoFit/>
          </a:bodyPr>
          <a:lstStyle/>
          <a:p>
            <a:pPr algn="l"/>
            <a:r>
              <a:rPr sz="1050" b="1" dirty="0">
                <a:solidFill>
                  <a:srgbClr val="072B5B"/>
                </a:solidFill>
                <a:latin typeface="Aptos"/>
              </a:rPr>
              <a:t>•  Continuous Learning</a:t>
            </a:r>
          </a:p>
        </p:txBody>
      </p:sp>
      <p:sp>
        <p:nvSpPr>
          <p:cNvPr id="90" name="Rounded Rectangle 89"/>
          <p:cNvSpPr/>
          <p:nvPr/>
        </p:nvSpPr>
        <p:spPr>
          <a:xfrm>
            <a:off x="6236208" y="3749039"/>
            <a:ext cx="2788920" cy="1170432"/>
          </a:xfrm>
          <a:prstGeom prst="roundRect">
            <a:avLst/>
          </a:prstGeom>
          <a:solidFill>
            <a:srgbClr val="FFFFFF"/>
          </a:solidFill>
          <a:ln w="13970">
            <a:solidFill>
              <a:srgbClr val="279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ounded Rectangle 90"/>
          <p:cNvSpPr/>
          <p:nvPr/>
        </p:nvSpPr>
        <p:spPr>
          <a:xfrm>
            <a:off x="6254496" y="3767327"/>
            <a:ext cx="2752344" cy="347472"/>
          </a:xfrm>
          <a:prstGeom prst="roundRect">
            <a:avLst/>
          </a:prstGeom>
          <a:solidFill>
            <a:srgbClr val="279949"/>
          </a:solidFill>
          <a:ln w="6350">
            <a:solidFill>
              <a:srgbClr val="279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p:cNvSpPr/>
          <p:nvPr/>
        </p:nvSpPr>
        <p:spPr>
          <a:xfrm>
            <a:off x="6391656" y="3657599"/>
            <a:ext cx="530352" cy="530352"/>
          </a:xfrm>
          <a:prstGeom prst="ellipse">
            <a:avLst/>
          </a:prstGeom>
          <a:solidFill>
            <a:srgbClr val="27994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6391656" y="3657599"/>
            <a:ext cx="530352" cy="530352"/>
          </a:xfrm>
          <a:prstGeom prst="rect">
            <a:avLst/>
          </a:prstGeom>
          <a:noFill/>
        </p:spPr>
        <p:txBody>
          <a:bodyPr wrap="none" lIns="27432" tIns="27432" rIns="27432" bIns="27432" anchor="ctr">
            <a:spAutoFit/>
          </a:bodyPr>
          <a:lstStyle/>
          <a:p>
            <a:pPr algn="ctr"/>
            <a:r>
              <a:rPr sz="2200" b="1">
                <a:solidFill>
                  <a:srgbClr val="FFFFFF"/>
                </a:solidFill>
                <a:latin typeface="Segoe UI Symbol"/>
              </a:rPr>
              <a:t>🤝</a:t>
            </a:r>
          </a:p>
        </p:txBody>
      </p:sp>
      <p:sp>
        <p:nvSpPr>
          <p:cNvPr id="94" name="TextBox 93"/>
          <p:cNvSpPr txBox="1"/>
          <p:nvPr/>
        </p:nvSpPr>
        <p:spPr>
          <a:xfrm>
            <a:off x="6876288" y="3794759"/>
            <a:ext cx="2039112" cy="274320"/>
          </a:xfrm>
          <a:prstGeom prst="rect">
            <a:avLst/>
          </a:prstGeom>
          <a:noFill/>
        </p:spPr>
        <p:txBody>
          <a:bodyPr wrap="none" lIns="27432" tIns="27432" rIns="27432" bIns="27432" anchor="ctr">
            <a:spAutoFit/>
          </a:bodyPr>
          <a:lstStyle/>
          <a:p>
            <a:pPr algn="ctr"/>
            <a:r>
              <a:rPr sz="1019" b="1">
                <a:solidFill>
                  <a:srgbClr val="FFFFFF"/>
                </a:solidFill>
                <a:latin typeface="Aptos"/>
              </a:rPr>
              <a:t>CAMPUS–INDUSTRY GAP</a:t>
            </a:r>
          </a:p>
        </p:txBody>
      </p:sp>
      <p:sp>
        <p:nvSpPr>
          <p:cNvPr id="95" name="TextBox 94"/>
          <p:cNvSpPr txBox="1"/>
          <p:nvPr/>
        </p:nvSpPr>
        <p:spPr>
          <a:xfrm>
            <a:off x="6492240" y="4212559"/>
            <a:ext cx="1232004" cy="216982"/>
          </a:xfrm>
          <a:prstGeom prst="rect">
            <a:avLst/>
          </a:prstGeom>
          <a:noFill/>
        </p:spPr>
        <p:txBody>
          <a:bodyPr wrap="none" lIns="27432" tIns="27432" rIns="27432" bIns="27432" anchor="ctr">
            <a:spAutoFit/>
          </a:bodyPr>
          <a:lstStyle/>
          <a:p>
            <a:pPr algn="l"/>
            <a:r>
              <a:rPr sz="1050" b="1" dirty="0">
                <a:solidFill>
                  <a:srgbClr val="072B5B"/>
                </a:solidFill>
                <a:latin typeface="Aptos"/>
              </a:rPr>
              <a:t>•  Industry Demand</a:t>
            </a:r>
          </a:p>
        </p:txBody>
      </p:sp>
      <p:sp>
        <p:nvSpPr>
          <p:cNvPr id="96" name="TextBox 95"/>
          <p:cNvSpPr txBox="1"/>
          <p:nvPr/>
        </p:nvSpPr>
        <p:spPr>
          <a:xfrm>
            <a:off x="6500707" y="4419486"/>
            <a:ext cx="686983" cy="216982"/>
          </a:xfrm>
          <a:prstGeom prst="rect">
            <a:avLst/>
          </a:prstGeom>
          <a:noFill/>
        </p:spPr>
        <p:txBody>
          <a:bodyPr wrap="none" lIns="27432" tIns="27432" rIns="27432" bIns="27432" anchor="ctr">
            <a:spAutoFit/>
          </a:bodyPr>
          <a:lstStyle/>
          <a:p>
            <a:pPr algn="l"/>
            <a:r>
              <a:rPr sz="1050" b="1" dirty="0">
                <a:solidFill>
                  <a:srgbClr val="072B5B"/>
                </a:solidFill>
                <a:latin typeface="Aptos"/>
              </a:rPr>
              <a:t>•  Projects</a:t>
            </a:r>
          </a:p>
        </p:txBody>
      </p:sp>
      <p:sp>
        <p:nvSpPr>
          <p:cNvPr id="97" name="TextBox 96"/>
          <p:cNvSpPr txBox="1"/>
          <p:nvPr/>
        </p:nvSpPr>
        <p:spPr>
          <a:xfrm>
            <a:off x="6492240" y="4630132"/>
            <a:ext cx="1706493" cy="216982"/>
          </a:xfrm>
          <a:prstGeom prst="rect">
            <a:avLst/>
          </a:prstGeom>
          <a:noFill/>
        </p:spPr>
        <p:txBody>
          <a:bodyPr wrap="none" lIns="27432" tIns="27432" rIns="27432" bIns="27432" anchor="ctr">
            <a:spAutoFit/>
          </a:bodyPr>
          <a:lstStyle/>
          <a:p>
            <a:pPr algn="l"/>
            <a:r>
              <a:rPr sz="1050" b="1" dirty="0">
                <a:solidFill>
                  <a:srgbClr val="072B5B"/>
                </a:solidFill>
                <a:latin typeface="Aptos"/>
              </a:rPr>
              <a:t>•  Mentorship + Internships</a:t>
            </a:r>
          </a:p>
        </p:txBody>
      </p:sp>
      <p:sp>
        <p:nvSpPr>
          <p:cNvPr id="98" name="Rounded Rectangle 97"/>
          <p:cNvSpPr/>
          <p:nvPr/>
        </p:nvSpPr>
        <p:spPr>
          <a:xfrm>
            <a:off x="9226296" y="3749039"/>
            <a:ext cx="2788920" cy="1170432"/>
          </a:xfrm>
          <a:prstGeom prst="roundRect">
            <a:avLst/>
          </a:prstGeom>
          <a:solidFill>
            <a:srgbClr val="FFFFFF"/>
          </a:solidFill>
          <a:ln w="13970">
            <a:solidFill>
              <a:srgbClr val="7043B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ounded Rectangle 98"/>
          <p:cNvSpPr/>
          <p:nvPr/>
        </p:nvSpPr>
        <p:spPr>
          <a:xfrm>
            <a:off x="9244584" y="3767327"/>
            <a:ext cx="2752344" cy="347472"/>
          </a:xfrm>
          <a:prstGeom prst="roundRect">
            <a:avLst/>
          </a:prstGeom>
          <a:solidFill>
            <a:srgbClr val="7043BC"/>
          </a:solidFill>
          <a:ln w="6350">
            <a:solidFill>
              <a:srgbClr val="7043B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val 99"/>
          <p:cNvSpPr/>
          <p:nvPr/>
        </p:nvSpPr>
        <p:spPr>
          <a:xfrm>
            <a:off x="9381744" y="3657599"/>
            <a:ext cx="530352" cy="530352"/>
          </a:xfrm>
          <a:prstGeom prst="ellipse">
            <a:avLst/>
          </a:prstGeom>
          <a:solidFill>
            <a:srgbClr val="7043B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9381744" y="3657599"/>
            <a:ext cx="530352" cy="530352"/>
          </a:xfrm>
          <a:prstGeom prst="rect">
            <a:avLst/>
          </a:prstGeom>
          <a:noFill/>
        </p:spPr>
        <p:txBody>
          <a:bodyPr wrap="none" lIns="27432" tIns="27432" rIns="27432" bIns="27432" anchor="ctr">
            <a:spAutoFit/>
          </a:bodyPr>
          <a:lstStyle/>
          <a:p>
            <a:pPr algn="ctr"/>
            <a:r>
              <a:rPr sz="2200" b="1">
                <a:solidFill>
                  <a:srgbClr val="FFFFFF"/>
                </a:solidFill>
                <a:latin typeface="Segoe UI Symbol"/>
              </a:rPr>
              <a:t>★</a:t>
            </a:r>
          </a:p>
        </p:txBody>
      </p:sp>
      <p:sp>
        <p:nvSpPr>
          <p:cNvPr id="102" name="TextBox 101"/>
          <p:cNvSpPr txBox="1"/>
          <p:nvPr/>
        </p:nvSpPr>
        <p:spPr>
          <a:xfrm>
            <a:off x="9866376" y="3794759"/>
            <a:ext cx="2039112" cy="274320"/>
          </a:xfrm>
          <a:prstGeom prst="rect">
            <a:avLst/>
          </a:prstGeom>
          <a:noFill/>
        </p:spPr>
        <p:txBody>
          <a:bodyPr wrap="none" lIns="27432" tIns="27432" rIns="27432" bIns="27432" anchor="ctr">
            <a:spAutoFit/>
          </a:bodyPr>
          <a:lstStyle/>
          <a:p>
            <a:pPr algn="ctr"/>
            <a:r>
              <a:rPr sz="1019" b="1">
                <a:solidFill>
                  <a:srgbClr val="FFFFFF"/>
                </a:solidFill>
                <a:latin typeface="Aptos"/>
              </a:rPr>
              <a:t>JOB-READINESS GAP</a:t>
            </a:r>
          </a:p>
        </p:txBody>
      </p:sp>
      <p:sp>
        <p:nvSpPr>
          <p:cNvPr id="103" name="TextBox 102"/>
          <p:cNvSpPr txBox="1"/>
          <p:nvPr/>
        </p:nvSpPr>
        <p:spPr>
          <a:xfrm>
            <a:off x="9533130" y="4195625"/>
            <a:ext cx="656526" cy="216982"/>
          </a:xfrm>
          <a:prstGeom prst="rect">
            <a:avLst/>
          </a:prstGeom>
          <a:noFill/>
        </p:spPr>
        <p:txBody>
          <a:bodyPr wrap="none" lIns="27432" tIns="27432" rIns="27432" bIns="27432" anchor="ctr">
            <a:spAutoFit/>
          </a:bodyPr>
          <a:lstStyle/>
          <a:p>
            <a:pPr algn="l"/>
            <a:r>
              <a:rPr sz="850" b="1" dirty="0">
                <a:solidFill>
                  <a:srgbClr val="072B5B"/>
                </a:solidFill>
                <a:latin typeface="Aptos"/>
              </a:rPr>
              <a:t>•  </a:t>
            </a:r>
            <a:r>
              <a:rPr sz="1050" b="1" dirty="0">
                <a:solidFill>
                  <a:srgbClr val="072B5B"/>
                </a:solidFill>
                <a:latin typeface="Aptos"/>
              </a:rPr>
              <a:t>Resume</a:t>
            </a:r>
          </a:p>
        </p:txBody>
      </p:sp>
      <p:sp>
        <p:nvSpPr>
          <p:cNvPr id="104" name="TextBox 103"/>
          <p:cNvSpPr txBox="1"/>
          <p:nvPr/>
        </p:nvSpPr>
        <p:spPr>
          <a:xfrm>
            <a:off x="9482328" y="4372531"/>
            <a:ext cx="1119794" cy="209288"/>
          </a:xfrm>
          <a:prstGeom prst="rect">
            <a:avLst/>
          </a:prstGeom>
          <a:noFill/>
        </p:spPr>
        <p:txBody>
          <a:bodyPr wrap="none" lIns="27432" tIns="27432" rIns="27432" bIns="27432" anchor="ctr">
            <a:spAutoFit/>
          </a:bodyPr>
          <a:lstStyle/>
          <a:p>
            <a:pPr algn="l"/>
            <a:r>
              <a:rPr sz="1000" b="1" dirty="0">
                <a:solidFill>
                  <a:srgbClr val="072B5B"/>
                </a:solidFill>
                <a:latin typeface="Aptos"/>
              </a:rPr>
              <a:t>•  Mock Interviews</a:t>
            </a:r>
          </a:p>
        </p:txBody>
      </p:sp>
      <p:sp>
        <p:nvSpPr>
          <p:cNvPr id="105" name="TextBox 104"/>
          <p:cNvSpPr txBox="1"/>
          <p:nvPr/>
        </p:nvSpPr>
        <p:spPr>
          <a:xfrm>
            <a:off x="9482328" y="4528656"/>
            <a:ext cx="1155060" cy="209288"/>
          </a:xfrm>
          <a:prstGeom prst="rect">
            <a:avLst/>
          </a:prstGeom>
          <a:noFill/>
        </p:spPr>
        <p:txBody>
          <a:bodyPr wrap="none" lIns="27432" tIns="27432" rIns="27432" bIns="27432" anchor="ctr">
            <a:spAutoFit/>
          </a:bodyPr>
          <a:lstStyle/>
          <a:p>
            <a:pPr algn="l"/>
            <a:r>
              <a:rPr sz="1000" b="1" dirty="0">
                <a:solidFill>
                  <a:srgbClr val="072B5B"/>
                </a:solidFill>
                <a:latin typeface="Aptos"/>
              </a:rPr>
              <a:t>•  Career Guidance</a:t>
            </a:r>
          </a:p>
        </p:txBody>
      </p:sp>
      <p:sp>
        <p:nvSpPr>
          <p:cNvPr id="106" name="TextBox 105"/>
          <p:cNvSpPr txBox="1"/>
          <p:nvPr/>
        </p:nvSpPr>
        <p:spPr>
          <a:xfrm>
            <a:off x="9482328" y="4684781"/>
            <a:ext cx="1142236" cy="209288"/>
          </a:xfrm>
          <a:prstGeom prst="rect">
            <a:avLst/>
          </a:prstGeom>
          <a:noFill/>
        </p:spPr>
        <p:txBody>
          <a:bodyPr wrap="none" lIns="27432" tIns="27432" rIns="27432" bIns="27432" anchor="ctr">
            <a:spAutoFit/>
          </a:bodyPr>
          <a:lstStyle/>
          <a:p>
            <a:pPr algn="l"/>
            <a:r>
              <a:rPr sz="1000" b="1" dirty="0">
                <a:solidFill>
                  <a:srgbClr val="072B5B"/>
                </a:solidFill>
                <a:latin typeface="Aptos"/>
              </a:rPr>
              <a:t>•  Readiness Score</a:t>
            </a:r>
          </a:p>
        </p:txBody>
      </p:sp>
      <p:sp>
        <p:nvSpPr>
          <p:cNvPr id="107" name="TextBox 106"/>
          <p:cNvSpPr txBox="1"/>
          <p:nvPr/>
        </p:nvSpPr>
        <p:spPr>
          <a:xfrm>
            <a:off x="3039193" y="4238994"/>
            <a:ext cx="164592" cy="286232"/>
          </a:xfrm>
          <a:prstGeom prst="rect">
            <a:avLst/>
          </a:prstGeom>
          <a:noFill/>
        </p:spPr>
        <p:txBody>
          <a:bodyPr wrap="square" lIns="27432" tIns="27432" rIns="27432" bIns="27432" anchor="ctr">
            <a:spAutoFit/>
          </a:bodyPr>
          <a:lstStyle/>
          <a:p>
            <a:pPr algn="ctr"/>
            <a:r>
              <a:rPr sz="1500" b="1" dirty="0">
                <a:solidFill>
                  <a:srgbClr val="072B5B"/>
                </a:solidFill>
                <a:latin typeface="Aptos"/>
              </a:rPr>
              <a:t>➜</a:t>
            </a:r>
          </a:p>
        </p:txBody>
      </p:sp>
      <p:sp>
        <p:nvSpPr>
          <p:cNvPr id="108" name="TextBox 107"/>
          <p:cNvSpPr txBox="1"/>
          <p:nvPr/>
        </p:nvSpPr>
        <p:spPr>
          <a:xfrm>
            <a:off x="6063826" y="4261104"/>
            <a:ext cx="182880" cy="256032"/>
          </a:xfrm>
          <a:prstGeom prst="rect">
            <a:avLst/>
          </a:prstGeom>
          <a:noFill/>
        </p:spPr>
        <p:txBody>
          <a:bodyPr wrap="none" lIns="27432" tIns="27432" rIns="27432" bIns="27432" anchor="ctr">
            <a:spAutoFit/>
          </a:bodyPr>
          <a:lstStyle/>
          <a:p>
            <a:pPr algn="ctr"/>
            <a:r>
              <a:rPr sz="1500" b="1" dirty="0">
                <a:solidFill>
                  <a:srgbClr val="072B5B"/>
                </a:solidFill>
                <a:latin typeface="Aptos"/>
              </a:rPr>
              <a:t>➜</a:t>
            </a:r>
          </a:p>
        </p:txBody>
      </p:sp>
      <p:sp>
        <p:nvSpPr>
          <p:cNvPr id="109" name="TextBox 108"/>
          <p:cNvSpPr txBox="1"/>
          <p:nvPr/>
        </p:nvSpPr>
        <p:spPr>
          <a:xfrm>
            <a:off x="9026821" y="4224528"/>
            <a:ext cx="182880" cy="256032"/>
          </a:xfrm>
          <a:prstGeom prst="rect">
            <a:avLst/>
          </a:prstGeom>
          <a:noFill/>
        </p:spPr>
        <p:txBody>
          <a:bodyPr wrap="none" lIns="27432" tIns="27432" rIns="27432" bIns="27432" anchor="ctr">
            <a:spAutoFit/>
          </a:bodyPr>
          <a:lstStyle/>
          <a:p>
            <a:pPr algn="ctr"/>
            <a:r>
              <a:rPr sz="1500" b="1" dirty="0">
                <a:solidFill>
                  <a:srgbClr val="072B5B"/>
                </a:solidFill>
                <a:latin typeface="Aptos"/>
              </a:rPr>
              <a:t>➜</a:t>
            </a:r>
          </a:p>
        </p:txBody>
      </p:sp>
      <p:sp>
        <p:nvSpPr>
          <p:cNvPr id="110" name="Rounded Rectangle 109"/>
          <p:cNvSpPr/>
          <p:nvPr/>
        </p:nvSpPr>
        <p:spPr>
          <a:xfrm>
            <a:off x="3886200" y="5029200"/>
            <a:ext cx="4434840" cy="246888"/>
          </a:xfrm>
          <a:prstGeom prst="roundRect">
            <a:avLst/>
          </a:prstGeom>
          <a:solidFill>
            <a:srgbClr val="EFF6FF"/>
          </a:solidFill>
          <a:ln w="12700">
            <a:solidFill>
              <a:srgbClr val="257D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4187581" y="5044153"/>
            <a:ext cx="3832075" cy="216982"/>
          </a:xfrm>
          <a:prstGeom prst="rect">
            <a:avLst/>
          </a:prstGeom>
          <a:noFill/>
        </p:spPr>
        <p:txBody>
          <a:bodyPr wrap="none" lIns="27432" tIns="27432" rIns="27432" bIns="27432" anchor="ctr">
            <a:spAutoFit/>
          </a:bodyPr>
          <a:lstStyle/>
          <a:p>
            <a:pPr algn="ctr"/>
            <a:r>
              <a:rPr sz="1050" b="1" dirty="0">
                <a:solidFill>
                  <a:srgbClr val="072B5B"/>
                </a:solidFill>
                <a:latin typeface="Aptos"/>
              </a:rPr>
              <a:t>FROM EVIDENCE  →  IDENTIFIED GAP  →  PLATFORM RESPONSE</a:t>
            </a:r>
          </a:p>
        </p:txBody>
      </p:sp>
      <p:sp>
        <p:nvSpPr>
          <p:cNvPr id="112" name="TextBox 111"/>
          <p:cNvSpPr txBox="1"/>
          <p:nvPr/>
        </p:nvSpPr>
        <p:spPr>
          <a:xfrm>
            <a:off x="4829725" y="5278323"/>
            <a:ext cx="2971800" cy="320040"/>
          </a:xfrm>
          <a:prstGeom prst="rect">
            <a:avLst/>
          </a:prstGeom>
          <a:noFill/>
        </p:spPr>
        <p:txBody>
          <a:bodyPr wrap="none" lIns="27432" tIns="27432" rIns="27432" bIns="27432" anchor="ctr">
            <a:spAutoFit/>
          </a:bodyPr>
          <a:lstStyle/>
          <a:p>
            <a:pPr algn="ctr"/>
            <a:r>
              <a:rPr sz="1800" b="1" dirty="0">
                <a:solidFill>
                  <a:srgbClr val="072B5B"/>
                </a:solidFill>
                <a:latin typeface="Georgia"/>
              </a:rPr>
              <a:t>RESEARCH REFERENCES</a:t>
            </a:r>
          </a:p>
        </p:txBody>
      </p:sp>
      <p:sp>
        <p:nvSpPr>
          <p:cNvPr id="113" name="Rectangle 112"/>
          <p:cNvSpPr/>
          <p:nvPr/>
        </p:nvSpPr>
        <p:spPr>
          <a:xfrm>
            <a:off x="347472" y="5458968"/>
            <a:ext cx="3977639" cy="16459"/>
          </a:xfrm>
          <a:prstGeom prst="rect">
            <a:avLst/>
          </a:prstGeom>
          <a:solidFill>
            <a:srgbClr val="257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Rectangle 113"/>
          <p:cNvSpPr/>
          <p:nvPr/>
        </p:nvSpPr>
        <p:spPr>
          <a:xfrm>
            <a:off x="8156448" y="5458968"/>
            <a:ext cx="3611880" cy="16459"/>
          </a:xfrm>
          <a:prstGeom prst="rect">
            <a:avLst/>
          </a:prstGeom>
          <a:solidFill>
            <a:srgbClr val="257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Rounded Rectangle 114"/>
          <p:cNvSpPr/>
          <p:nvPr/>
        </p:nvSpPr>
        <p:spPr>
          <a:xfrm>
            <a:off x="384048" y="5596128"/>
            <a:ext cx="2176272" cy="932688"/>
          </a:xfrm>
          <a:prstGeom prst="roundRect">
            <a:avLst/>
          </a:prstGeom>
          <a:solidFill>
            <a:srgbClr val="FFFFFF"/>
          </a:solidFill>
          <a:ln w="11430">
            <a:solidFill>
              <a:srgbClr val="257D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6" name="Oval 115"/>
          <p:cNvSpPr/>
          <p:nvPr/>
        </p:nvSpPr>
        <p:spPr>
          <a:xfrm>
            <a:off x="512064" y="5742432"/>
            <a:ext cx="393192" cy="393192"/>
          </a:xfrm>
          <a:prstGeom prst="ellipse">
            <a:avLst/>
          </a:prstGeom>
          <a:solidFill>
            <a:srgbClr val="257DD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p:nvPr/>
        </p:nvSpPr>
        <p:spPr>
          <a:xfrm>
            <a:off x="512064" y="5742432"/>
            <a:ext cx="393192" cy="393192"/>
          </a:xfrm>
          <a:prstGeom prst="rect">
            <a:avLst/>
          </a:prstGeom>
          <a:noFill/>
        </p:spPr>
        <p:txBody>
          <a:bodyPr wrap="none" lIns="27432" tIns="27432" rIns="27432" bIns="27432" anchor="ctr">
            <a:spAutoFit/>
          </a:bodyPr>
          <a:lstStyle/>
          <a:p>
            <a:pPr algn="ctr"/>
            <a:r>
              <a:rPr sz="2200" b="1">
                <a:solidFill>
                  <a:srgbClr val="FFFFFF"/>
                </a:solidFill>
                <a:latin typeface="Segoe UI Symbol"/>
              </a:rPr>
              <a:t>▤</a:t>
            </a:r>
          </a:p>
        </p:txBody>
      </p:sp>
      <p:sp>
        <p:nvSpPr>
          <p:cNvPr id="118" name="TextBox 117"/>
          <p:cNvSpPr txBox="1"/>
          <p:nvPr/>
        </p:nvSpPr>
        <p:spPr>
          <a:xfrm>
            <a:off x="969264" y="5767253"/>
            <a:ext cx="1554208" cy="224677"/>
          </a:xfrm>
          <a:prstGeom prst="rect">
            <a:avLst/>
          </a:prstGeom>
          <a:noFill/>
        </p:spPr>
        <p:txBody>
          <a:bodyPr wrap="none" lIns="27432" tIns="27432" rIns="27432" bIns="27432" anchor="ctr">
            <a:spAutoFit/>
          </a:bodyPr>
          <a:lstStyle/>
          <a:p>
            <a:pPr algn="l"/>
            <a:r>
              <a:rPr sz="1100" b="1" dirty="0">
                <a:solidFill>
                  <a:srgbClr val="072B5B"/>
                </a:solidFill>
                <a:latin typeface="Aptos"/>
              </a:rPr>
              <a:t>India Skills Report 2025</a:t>
            </a:r>
          </a:p>
        </p:txBody>
      </p:sp>
      <p:sp>
        <p:nvSpPr>
          <p:cNvPr id="119" name="TextBox 118"/>
          <p:cNvSpPr txBox="1"/>
          <p:nvPr/>
        </p:nvSpPr>
        <p:spPr>
          <a:xfrm>
            <a:off x="978408" y="5974667"/>
            <a:ext cx="1397114" cy="193899"/>
          </a:xfrm>
          <a:prstGeom prst="rect">
            <a:avLst/>
          </a:prstGeom>
          <a:noFill/>
        </p:spPr>
        <p:txBody>
          <a:bodyPr wrap="none" lIns="27432" tIns="27432" rIns="27432" bIns="27432" anchor="ctr">
            <a:spAutoFit/>
          </a:bodyPr>
          <a:lstStyle/>
          <a:p>
            <a:pPr algn="l"/>
            <a:r>
              <a:rPr sz="900" b="0" dirty="0" err="1">
                <a:solidFill>
                  <a:srgbClr val="072B5B"/>
                </a:solidFill>
                <a:latin typeface="Aptos"/>
              </a:rPr>
              <a:t>Wheebox</a:t>
            </a:r>
            <a:r>
              <a:rPr sz="900" b="0" dirty="0">
                <a:solidFill>
                  <a:srgbClr val="072B5B"/>
                </a:solidFill>
                <a:latin typeface="Aptos"/>
              </a:rPr>
              <a:t> / CII / AICTE / AIU</a:t>
            </a:r>
          </a:p>
        </p:txBody>
      </p:sp>
      <p:sp>
        <p:nvSpPr>
          <p:cNvPr id="120" name="Rounded Rectangle 119"/>
          <p:cNvSpPr/>
          <p:nvPr/>
        </p:nvSpPr>
        <p:spPr>
          <a:xfrm>
            <a:off x="950976" y="6272784"/>
            <a:ext cx="896112" cy="155448"/>
          </a:xfrm>
          <a:prstGeom prst="roundRect">
            <a:avLst/>
          </a:prstGeom>
          <a:solidFill>
            <a:srgbClr val="FFFFFF"/>
          </a:solidFill>
          <a:ln w="8890">
            <a:solidFill>
              <a:srgbClr val="257D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1170956" y="6261253"/>
            <a:ext cx="456151" cy="178510"/>
          </a:xfrm>
          <a:prstGeom prst="rect">
            <a:avLst/>
          </a:prstGeom>
          <a:noFill/>
        </p:spPr>
        <p:txBody>
          <a:bodyPr wrap="none" lIns="27432" tIns="27432" rIns="27432" bIns="27432" anchor="ctr">
            <a:spAutoFit/>
          </a:bodyPr>
          <a:lstStyle/>
          <a:p>
            <a:pPr algn="ctr"/>
            <a:r>
              <a:rPr sz="800" b="1" dirty="0">
                <a:solidFill>
                  <a:srgbClr val="257DDC"/>
                </a:solidFill>
                <a:latin typeface="Aptos"/>
              </a:rPr>
              <a:t>🔗  </a:t>
            </a:r>
            <a:r>
              <a:rPr sz="800" b="1" dirty="0">
                <a:solidFill>
                  <a:srgbClr val="257DDC"/>
                </a:solidFill>
                <a:latin typeface="Aptos"/>
                <a:hlinkClick r:id="rId7"/>
              </a:rPr>
              <a:t>LINK</a:t>
            </a:r>
            <a:endParaRPr sz="800" b="1" dirty="0">
              <a:solidFill>
                <a:srgbClr val="257DDC"/>
              </a:solidFill>
              <a:latin typeface="Aptos"/>
            </a:endParaRPr>
          </a:p>
        </p:txBody>
      </p:sp>
      <p:sp>
        <p:nvSpPr>
          <p:cNvPr id="122" name="Rounded Rectangle 121"/>
          <p:cNvSpPr/>
          <p:nvPr/>
        </p:nvSpPr>
        <p:spPr>
          <a:xfrm>
            <a:off x="2779776" y="5596128"/>
            <a:ext cx="2176272" cy="932688"/>
          </a:xfrm>
          <a:prstGeom prst="roundRect">
            <a:avLst/>
          </a:prstGeom>
          <a:solidFill>
            <a:srgbClr val="FFFFFF"/>
          </a:solidFill>
          <a:ln w="11430">
            <a:solidFill>
              <a:srgbClr val="19A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val 122"/>
          <p:cNvSpPr/>
          <p:nvPr/>
        </p:nvSpPr>
        <p:spPr>
          <a:xfrm>
            <a:off x="2873925" y="5709490"/>
            <a:ext cx="393192" cy="426134"/>
          </a:xfrm>
          <a:prstGeom prst="ellipse">
            <a:avLst/>
          </a:prstGeom>
          <a:solidFill>
            <a:srgbClr val="19A6B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2873925" y="5735997"/>
            <a:ext cx="393192" cy="393192"/>
          </a:xfrm>
          <a:prstGeom prst="rect">
            <a:avLst/>
          </a:prstGeom>
          <a:noFill/>
        </p:spPr>
        <p:txBody>
          <a:bodyPr wrap="none" lIns="27432" tIns="27432" rIns="27432" bIns="27432" anchor="ctr">
            <a:spAutoFit/>
          </a:bodyPr>
          <a:lstStyle/>
          <a:p>
            <a:pPr algn="ctr"/>
            <a:r>
              <a:rPr sz="2200" b="1" dirty="0">
                <a:solidFill>
                  <a:srgbClr val="FFFFFF"/>
                </a:solidFill>
                <a:latin typeface="Segoe UI Symbol"/>
              </a:rPr>
              <a:t>◎</a:t>
            </a:r>
          </a:p>
        </p:txBody>
      </p:sp>
      <p:sp>
        <p:nvSpPr>
          <p:cNvPr id="125" name="TextBox 124"/>
          <p:cNvSpPr txBox="1"/>
          <p:nvPr/>
        </p:nvSpPr>
        <p:spPr>
          <a:xfrm>
            <a:off x="3401568" y="5690152"/>
            <a:ext cx="1408176" cy="363176"/>
          </a:xfrm>
          <a:prstGeom prst="rect">
            <a:avLst/>
          </a:prstGeom>
          <a:noFill/>
        </p:spPr>
        <p:txBody>
          <a:bodyPr wrap="square" lIns="27432" tIns="27432" rIns="27432" bIns="27432" anchor="ctr">
            <a:spAutoFit/>
          </a:bodyPr>
          <a:lstStyle/>
          <a:p>
            <a:pPr algn="l"/>
            <a:r>
              <a:rPr sz="1000" b="1" dirty="0">
                <a:solidFill>
                  <a:srgbClr val="072B5B"/>
                </a:solidFill>
                <a:latin typeface="Aptos"/>
              </a:rPr>
              <a:t>WEF Future of Jobs Report 2025</a:t>
            </a:r>
          </a:p>
        </p:txBody>
      </p:sp>
      <p:sp>
        <p:nvSpPr>
          <p:cNvPr id="126" name="TextBox 125"/>
          <p:cNvSpPr txBox="1"/>
          <p:nvPr/>
        </p:nvSpPr>
        <p:spPr>
          <a:xfrm>
            <a:off x="3364992" y="6029531"/>
            <a:ext cx="1232004" cy="193899"/>
          </a:xfrm>
          <a:prstGeom prst="rect">
            <a:avLst/>
          </a:prstGeom>
          <a:noFill/>
        </p:spPr>
        <p:txBody>
          <a:bodyPr wrap="none" lIns="27432" tIns="27432" rIns="27432" bIns="27432" anchor="ctr">
            <a:spAutoFit/>
          </a:bodyPr>
          <a:lstStyle/>
          <a:p>
            <a:pPr algn="l"/>
            <a:r>
              <a:rPr sz="900" b="0" dirty="0">
                <a:solidFill>
                  <a:srgbClr val="072B5B"/>
                </a:solidFill>
                <a:latin typeface="Aptos"/>
              </a:rPr>
              <a:t>World Economic Forum</a:t>
            </a:r>
          </a:p>
        </p:txBody>
      </p:sp>
      <p:sp>
        <p:nvSpPr>
          <p:cNvPr id="127" name="Rounded Rectangle 126"/>
          <p:cNvSpPr/>
          <p:nvPr/>
        </p:nvSpPr>
        <p:spPr>
          <a:xfrm>
            <a:off x="3346704" y="6272784"/>
            <a:ext cx="896112" cy="155448"/>
          </a:xfrm>
          <a:prstGeom prst="roundRect">
            <a:avLst/>
          </a:prstGeom>
          <a:solidFill>
            <a:srgbClr val="FFFFFF"/>
          </a:solidFill>
          <a:ln w="8890">
            <a:solidFill>
              <a:srgbClr val="19A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TextBox 127"/>
          <p:cNvSpPr txBox="1"/>
          <p:nvPr/>
        </p:nvSpPr>
        <p:spPr>
          <a:xfrm>
            <a:off x="3574700" y="6253559"/>
            <a:ext cx="440120" cy="193899"/>
          </a:xfrm>
          <a:prstGeom prst="rect">
            <a:avLst/>
          </a:prstGeom>
          <a:noFill/>
        </p:spPr>
        <p:txBody>
          <a:bodyPr wrap="none" lIns="27432" tIns="27432" rIns="27432" bIns="27432" anchor="ctr">
            <a:spAutoFit/>
          </a:bodyPr>
          <a:lstStyle/>
          <a:p>
            <a:pPr algn="ctr"/>
            <a:r>
              <a:rPr sz="600" b="1" dirty="0">
                <a:solidFill>
                  <a:srgbClr val="19A6BE"/>
                </a:solidFill>
                <a:latin typeface="Aptos"/>
              </a:rPr>
              <a:t>🔗  </a:t>
            </a:r>
            <a:r>
              <a:rPr sz="900" b="1" dirty="0">
                <a:solidFill>
                  <a:srgbClr val="19A6BE"/>
                </a:solidFill>
                <a:latin typeface="Aptos"/>
                <a:hlinkClick r:id="rId3"/>
              </a:rPr>
              <a:t>LINK</a:t>
            </a:r>
            <a:endParaRPr sz="900" b="1" dirty="0">
              <a:solidFill>
                <a:srgbClr val="19A6BE"/>
              </a:solidFill>
              <a:latin typeface="Aptos"/>
            </a:endParaRPr>
          </a:p>
        </p:txBody>
      </p:sp>
      <p:sp>
        <p:nvSpPr>
          <p:cNvPr id="129" name="Rounded Rectangle 128"/>
          <p:cNvSpPr/>
          <p:nvPr/>
        </p:nvSpPr>
        <p:spPr>
          <a:xfrm>
            <a:off x="5175504" y="5596128"/>
            <a:ext cx="2176272" cy="932688"/>
          </a:xfrm>
          <a:prstGeom prst="roundRect">
            <a:avLst/>
          </a:prstGeom>
          <a:solidFill>
            <a:srgbClr val="FFFFFF"/>
          </a:solidFill>
          <a:ln w="11430">
            <a:solidFill>
              <a:srgbClr val="7043B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val 129"/>
          <p:cNvSpPr/>
          <p:nvPr/>
        </p:nvSpPr>
        <p:spPr>
          <a:xfrm>
            <a:off x="5303520" y="5742432"/>
            <a:ext cx="393192" cy="393192"/>
          </a:xfrm>
          <a:prstGeom prst="ellipse">
            <a:avLst/>
          </a:prstGeom>
          <a:solidFill>
            <a:srgbClr val="7043B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TextBox 130"/>
          <p:cNvSpPr txBox="1"/>
          <p:nvPr/>
        </p:nvSpPr>
        <p:spPr>
          <a:xfrm>
            <a:off x="5303520" y="5742432"/>
            <a:ext cx="393192" cy="393192"/>
          </a:xfrm>
          <a:prstGeom prst="rect">
            <a:avLst/>
          </a:prstGeom>
          <a:noFill/>
        </p:spPr>
        <p:txBody>
          <a:bodyPr wrap="none" lIns="27432" tIns="27432" rIns="27432" bIns="27432" anchor="ctr">
            <a:spAutoFit/>
          </a:bodyPr>
          <a:lstStyle/>
          <a:p>
            <a:pPr algn="ctr"/>
            <a:r>
              <a:rPr sz="2200" b="1">
                <a:solidFill>
                  <a:srgbClr val="FFFFFF"/>
                </a:solidFill>
                <a:latin typeface="Segoe UI Symbol"/>
              </a:rPr>
              <a:t>👥</a:t>
            </a:r>
          </a:p>
        </p:txBody>
      </p:sp>
      <p:sp>
        <p:nvSpPr>
          <p:cNvPr id="132" name="TextBox 131"/>
          <p:cNvSpPr txBox="1"/>
          <p:nvPr/>
        </p:nvSpPr>
        <p:spPr>
          <a:xfrm>
            <a:off x="5854540" y="5608907"/>
            <a:ext cx="1161288" cy="470898"/>
          </a:xfrm>
          <a:prstGeom prst="rect">
            <a:avLst/>
          </a:prstGeom>
          <a:noFill/>
        </p:spPr>
        <p:txBody>
          <a:bodyPr wrap="square" lIns="27432" tIns="27432" rIns="27432" bIns="27432" anchor="ctr">
            <a:spAutoFit/>
          </a:bodyPr>
          <a:lstStyle/>
          <a:p>
            <a:pPr algn="l"/>
            <a:r>
              <a:rPr sz="900" b="1" dirty="0">
                <a:solidFill>
                  <a:srgbClr val="072B5B"/>
                </a:solidFill>
                <a:latin typeface="Aptos"/>
              </a:rPr>
              <a:t>ILO India Employment Report </a:t>
            </a:r>
            <a:r>
              <a:rPr lang="en-IN" sz="900" b="1" dirty="0">
                <a:solidFill>
                  <a:srgbClr val="072B5B"/>
                </a:solidFill>
                <a:latin typeface="Aptos"/>
              </a:rPr>
              <a:t>2024</a:t>
            </a:r>
            <a:endParaRPr sz="900" b="1" dirty="0">
              <a:solidFill>
                <a:srgbClr val="072B5B"/>
              </a:solidFill>
              <a:latin typeface="Aptos"/>
            </a:endParaRPr>
          </a:p>
        </p:txBody>
      </p:sp>
      <p:sp>
        <p:nvSpPr>
          <p:cNvPr id="133" name="TextBox 132"/>
          <p:cNvSpPr txBox="1"/>
          <p:nvPr/>
        </p:nvSpPr>
        <p:spPr>
          <a:xfrm>
            <a:off x="5760720" y="6037225"/>
            <a:ext cx="1538178" cy="178510"/>
          </a:xfrm>
          <a:prstGeom prst="rect">
            <a:avLst/>
          </a:prstGeom>
          <a:noFill/>
        </p:spPr>
        <p:txBody>
          <a:bodyPr wrap="none" lIns="27432" tIns="27432" rIns="27432" bIns="27432" anchor="ctr">
            <a:spAutoFit/>
          </a:bodyPr>
          <a:lstStyle/>
          <a:p>
            <a:pPr algn="l"/>
            <a:r>
              <a:rPr sz="800" b="0" dirty="0">
                <a:solidFill>
                  <a:srgbClr val="072B5B"/>
                </a:solidFill>
                <a:latin typeface="Aptos"/>
              </a:rPr>
              <a:t>International </a:t>
            </a:r>
            <a:r>
              <a:rPr sz="800" b="0" dirty="0" err="1">
                <a:solidFill>
                  <a:srgbClr val="072B5B"/>
                </a:solidFill>
                <a:latin typeface="Aptos"/>
              </a:rPr>
              <a:t>Labour</a:t>
            </a:r>
            <a:r>
              <a:rPr sz="800" b="0" dirty="0">
                <a:solidFill>
                  <a:srgbClr val="072B5B"/>
                </a:solidFill>
                <a:latin typeface="Aptos"/>
              </a:rPr>
              <a:t> Organization</a:t>
            </a:r>
          </a:p>
        </p:txBody>
      </p:sp>
      <p:sp>
        <p:nvSpPr>
          <p:cNvPr id="134" name="Rounded Rectangle 133"/>
          <p:cNvSpPr/>
          <p:nvPr/>
        </p:nvSpPr>
        <p:spPr>
          <a:xfrm>
            <a:off x="5742432" y="6272784"/>
            <a:ext cx="896112" cy="155448"/>
          </a:xfrm>
          <a:prstGeom prst="roundRect">
            <a:avLst/>
          </a:prstGeom>
          <a:solidFill>
            <a:srgbClr val="FFFFFF"/>
          </a:solidFill>
          <a:ln w="8890">
            <a:solidFill>
              <a:srgbClr val="7043B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TextBox 134"/>
          <p:cNvSpPr txBox="1"/>
          <p:nvPr/>
        </p:nvSpPr>
        <p:spPr>
          <a:xfrm>
            <a:off x="5984053" y="6261253"/>
            <a:ext cx="412870" cy="178510"/>
          </a:xfrm>
          <a:prstGeom prst="rect">
            <a:avLst/>
          </a:prstGeom>
          <a:noFill/>
        </p:spPr>
        <p:txBody>
          <a:bodyPr wrap="none" lIns="27432" tIns="27432" rIns="27432" bIns="27432" anchor="ctr">
            <a:spAutoFit/>
          </a:bodyPr>
          <a:lstStyle/>
          <a:p>
            <a:pPr algn="ctr"/>
            <a:r>
              <a:rPr sz="600" b="1" dirty="0">
                <a:solidFill>
                  <a:srgbClr val="7043BC"/>
                </a:solidFill>
                <a:latin typeface="Aptos"/>
              </a:rPr>
              <a:t>🔗  </a:t>
            </a:r>
            <a:r>
              <a:rPr sz="800" b="1" dirty="0">
                <a:solidFill>
                  <a:srgbClr val="7043BC"/>
                </a:solidFill>
                <a:latin typeface="Aptos"/>
                <a:hlinkClick r:id="rId5"/>
              </a:rPr>
              <a:t>LINK</a:t>
            </a:r>
            <a:endParaRPr sz="800" b="1" dirty="0">
              <a:solidFill>
                <a:srgbClr val="7043BC"/>
              </a:solidFill>
              <a:latin typeface="Aptos"/>
            </a:endParaRPr>
          </a:p>
        </p:txBody>
      </p:sp>
      <p:sp>
        <p:nvSpPr>
          <p:cNvPr id="136" name="Rounded Rectangle 135"/>
          <p:cNvSpPr/>
          <p:nvPr/>
        </p:nvSpPr>
        <p:spPr>
          <a:xfrm>
            <a:off x="7571232" y="5596128"/>
            <a:ext cx="2176272" cy="932688"/>
          </a:xfrm>
          <a:prstGeom prst="roundRect">
            <a:avLst/>
          </a:prstGeom>
          <a:solidFill>
            <a:srgbClr val="FFFFFF"/>
          </a:solidFill>
          <a:ln w="11430">
            <a:solidFill>
              <a:srgbClr val="F445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val 136"/>
          <p:cNvSpPr/>
          <p:nvPr/>
        </p:nvSpPr>
        <p:spPr>
          <a:xfrm>
            <a:off x="7649795" y="5717952"/>
            <a:ext cx="393192" cy="393192"/>
          </a:xfrm>
          <a:prstGeom prst="ellipse">
            <a:avLst/>
          </a:prstGeom>
          <a:solidFill>
            <a:srgbClr val="F4454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TextBox 137"/>
          <p:cNvSpPr txBox="1"/>
          <p:nvPr/>
        </p:nvSpPr>
        <p:spPr>
          <a:xfrm>
            <a:off x="7699248" y="5714142"/>
            <a:ext cx="265176" cy="393954"/>
          </a:xfrm>
          <a:prstGeom prst="rect">
            <a:avLst/>
          </a:prstGeom>
          <a:noFill/>
        </p:spPr>
        <p:txBody>
          <a:bodyPr wrap="square" lIns="27432" tIns="27432" rIns="27432" bIns="27432" anchor="ctr">
            <a:spAutoFit/>
          </a:bodyPr>
          <a:lstStyle/>
          <a:p>
            <a:pPr algn="ctr"/>
            <a:r>
              <a:rPr sz="2200" b="1">
                <a:solidFill>
                  <a:srgbClr val="FFFFFF"/>
                </a:solidFill>
                <a:latin typeface="Segoe UI Symbol"/>
              </a:rPr>
              <a:t>▥</a:t>
            </a:r>
          </a:p>
        </p:txBody>
      </p:sp>
      <p:sp>
        <p:nvSpPr>
          <p:cNvPr id="139" name="TextBox 138"/>
          <p:cNvSpPr txBox="1"/>
          <p:nvPr/>
        </p:nvSpPr>
        <p:spPr>
          <a:xfrm>
            <a:off x="8147643" y="5593203"/>
            <a:ext cx="1325880" cy="470898"/>
          </a:xfrm>
          <a:prstGeom prst="rect">
            <a:avLst/>
          </a:prstGeom>
          <a:noFill/>
        </p:spPr>
        <p:txBody>
          <a:bodyPr wrap="square" lIns="27432" tIns="27432" rIns="27432" bIns="27432" anchor="ctr">
            <a:spAutoFit/>
          </a:bodyPr>
          <a:lstStyle/>
          <a:p>
            <a:pPr algn="l"/>
            <a:r>
              <a:rPr sz="900" b="1" dirty="0">
                <a:solidFill>
                  <a:srgbClr val="072B5B"/>
                </a:solidFill>
                <a:latin typeface="Aptos"/>
              </a:rPr>
              <a:t>NASSCOM Technology Sector in India: Strategic Review 2025</a:t>
            </a:r>
          </a:p>
        </p:txBody>
      </p:sp>
      <p:sp>
        <p:nvSpPr>
          <p:cNvPr id="140" name="TextBox 139"/>
          <p:cNvSpPr txBox="1"/>
          <p:nvPr/>
        </p:nvSpPr>
        <p:spPr>
          <a:xfrm>
            <a:off x="8156448" y="6037225"/>
            <a:ext cx="531492" cy="178510"/>
          </a:xfrm>
          <a:prstGeom prst="rect">
            <a:avLst/>
          </a:prstGeom>
          <a:noFill/>
        </p:spPr>
        <p:txBody>
          <a:bodyPr wrap="none" lIns="27432" tIns="27432" rIns="27432" bIns="27432" anchor="ctr">
            <a:spAutoFit/>
          </a:bodyPr>
          <a:lstStyle/>
          <a:p>
            <a:pPr algn="l"/>
            <a:r>
              <a:rPr sz="800" b="0" dirty="0">
                <a:solidFill>
                  <a:srgbClr val="072B5B"/>
                </a:solidFill>
                <a:latin typeface="Aptos"/>
              </a:rPr>
              <a:t>NASSCOM</a:t>
            </a:r>
          </a:p>
        </p:txBody>
      </p:sp>
      <p:sp>
        <p:nvSpPr>
          <p:cNvPr id="141" name="Rounded Rectangle 140"/>
          <p:cNvSpPr/>
          <p:nvPr/>
        </p:nvSpPr>
        <p:spPr>
          <a:xfrm>
            <a:off x="8138160" y="6272784"/>
            <a:ext cx="896112" cy="155448"/>
          </a:xfrm>
          <a:prstGeom prst="roundRect">
            <a:avLst/>
          </a:prstGeom>
          <a:solidFill>
            <a:srgbClr val="FFFFFF"/>
          </a:solidFill>
          <a:ln w="8890">
            <a:solidFill>
              <a:srgbClr val="F445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TextBox 141"/>
          <p:cNvSpPr txBox="1"/>
          <p:nvPr/>
        </p:nvSpPr>
        <p:spPr>
          <a:xfrm>
            <a:off x="8351728" y="6245864"/>
            <a:ext cx="468975" cy="209288"/>
          </a:xfrm>
          <a:prstGeom prst="rect">
            <a:avLst/>
          </a:prstGeom>
          <a:noFill/>
        </p:spPr>
        <p:txBody>
          <a:bodyPr wrap="none" lIns="27432" tIns="27432" rIns="27432" bIns="27432" anchor="ctr">
            <a:spAutoFit/>
          </a:bodyPr>
          <a:lstStyle/>
          <a:p>
            <a:pPr algn="ctr"/>
            <a:r>
              <a:rPr sz="600" b="1" dirty="0">
                <a:solidFill>
                  <a:srgbClr val="F4454C"/>
                </a:solidFill>
                <a:latin typeface="Aptos"/>
                <a:hlinkClick r:id="rId6"/>
              </a:rPr>
              <a:t>🔗  </a:t>
            </a:r>
            <a:r>
              <a:rPr sz="1000" b="1" dirty="0">
                <a:solidFill>
                  <a:srgbClr val="F4454C"/>
                </a:solidFill>
                <a:latin typeface="Aptos"/>
                <a:hlinkClick r:id="rId6"/>
              </a:rPr>
              <a:t>LINK</a:t>
            </a:r>
            <a:endParaRPr sz="1000" b="1" dirty="0">
              <a:solidFill>
                <a:srgbClr val="F4454C"/>
              </a:solidFill>
              <a:latin typeface="Aptos"/>
            </a:endParaRPr>
          </a:p>
        </p:txBody>
      </p:sp>
      <p:sp>
        <p:nvSpPr>
          <p:cNvPr id="143" name="Rounded Rectangle 142"/>
          <p:cNvSpPr/>
          <p:nvPr/>
        </p:nvSpPr>
        <p:spPr>
          <a:xfrm>
            <a:off x="9966960" y="5596128"/>
            <a:ext cx="2176272" cy="932688"/>
          </a:xfrm>
          <a:prstGeom prst="roundRect">
            <a:avLst/>
          </a:prstGeom>
          <a:solidFill>
            <a:srgbClr val="FFFFFF"/>
          </a:solidFill>
          <a:ln w="11430">
            <a:solidFill>
              <a:srgbClr val="279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val 143"/>
          <p:cNvSpPr/>
          <p:nvPr/>
        </p:nvSpPr>
        <p:spPr>
          <a:xfrm>
            <a:off x="10094976" y="5742432"/>
            <a:ext cx="393192" cy="393192"/>
          </a:xfrm>
          <a:prstGeom prst="ellipse">
            <a:avLst/>
          </a:prstGeom>
          <a:solidFill>
            <a:srgbClr val="27994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TextBox 144"/>
          <p:cNvSpPr txBox="1"/>
          <p:nvPr/>
        </p:nvSpPr>
        <p:spPr>
          <a:xfrm>
            <a:off x="10021824" y="5778745"/>
            <a:ext cx="466344" cy="332399"/>
          </a:xfrm>
          <a:prstGeom prst="rect">
            <a:avLst/>
          </a:prstGeom>
          <a:noFill/>
        </p:spPr>
        <p:txBody>
          <a:bodyPr wrap="square" lIns="27432" tIns="27432" rIns="27432" bIns="27432" anchor="ctr">
            <a:spAutoFit/>
          </a:bodyPr>
          <a:lstStyle/>
          <a:p>
            <a:pPr algn="ctr"/>
            <a:r>
              <a:rPr b="1" dirty="0">
                <a:solidFill>
                  <a:srgbClr val="FFFFFF"/>
                </a:solidFill>
                <a:latin typeface="Segoe UI Symbol"/>
              </a:rPr>
              <a:t>AI</a:t>
            </a:r>
          </a:p>
        </p:txBody>
      </p:sp>
      <p:sp>
        <p:nvSpPr>
          <p:cNvPr id="146" name="TextBox 145"/>
          <p:cNvSpPr txBox="1"/>
          <p:nvPr/>
        </p:nvSpPr>
        <p:spPr>
          <a:xfrm>
            <a:off x="10552175" y="5621060"/>
            <a:ext cx="1473539" cy="517065"/>
          </a:xfrm>
          <a:prstGeom prst="rect">
            <a:avLst/>
          </a:prstGeom>
          <a:noFill/>
        </p:spPr>
        <p:txBody>
          <a:bodyPr wrap="square" lIns="27432" tIns="27432" rIns="27432" bIns="27432" anchor="ctr">
            <a:spAutoFit/>
          </a:bodyPr>
          <a:lstStyle/>
          <a:p>
            <a:pPr algn="l"/>
            <a:r>
              <a:rPr sz="1000" b="1" dirty="0">
                <a:solidFill>
                  <a:srgbClr val="072B5B"/>
                </a:solidFill>
                <a:latin typeface="Aptos"/>
              </a:rPr>
              <a:t>NASSCOM </a:t>
            </a:r>
            <a:r>
              <a:rPr sz="1000" b="1" dirty="0" err="1">
                <a:solidFill>
                  <a:srgbClr val="072B5B"/>
                </a:solidFill>
                <a:latin typeface="Aptos"/>
              </a:rPr>
              <a:t>FutureSkills</a:t>
            </a:r>
            <a:r>
              <a:rPr sz="1000" b="1" dirty="0">
                <a:solidFill>
                  <a:srgbClr val="072B5B"/>
                </a:solidFill>
                <a:latin typeface="Aptos"/>
              </a:rPr>
              <a:t> / Human–AI collaboration insights</a:t>
            </a:r>
          </a:p>
        </p:txBody>
      </p:sp>
      <p:sp>
        <p:nvSpPr>
          <p:cNvPr id="147" name="TextBox 146"/>
          <p:cNvSpPr txBox="1"/>
          <p:nvPr/>
        </p:nvSpPr>
        <p:spPr>
          <a:xfrm>
            <a:off x="10593324" y="6103203"/>
            <a:ext cx="1490472" cy="182880"/>
          </a:xfrm>
          <a:prstGeom prst="rect">
            <a:avLst/>
          </a:prstGeom>
          <a:noFill/>
        </p:spPr>
        <p:txBody>
          <a:bodyPr wrap="none" lIns="27432" tIns="27432" rIns="27432" bIns="27432" anchor="ctr">
            <a:spAutoFit/>
          </a:bodyPr>
          <a:lstStyle/>
          <a:p>
            <a:pPr algn="l"/>
            <a:r>
              <a:rPr sz="660" b="0" dirty="0">
                <a:solidFill>
                  <a:srgbClr val="072B5B"/>
                </a:solidFill>
                <a:latin typeface="Aptos"/>
              </a:rPr>
              <a:t>NASSCOM</a:t>
            </a:r>
          </a:p>
        </p:txBody>
      </p:sp>
      <p:sp>
        <p:nvSpPr>
          <p:cNvPr id="148" name="Rounded Rectangle 147"/>
          <p:cNvSpPr/>
          <p:nvPr/>
        </p:nvSpPr>
        <p:spPr>
          <a:xfrm>
            <a:off x="10533888" y="6272784"/>
            <a:ext cx="896112" cy="155448"/>
          </a:xfrm>
          <a:prstGeom prst="roundRect">
            <a:avLst/>
          </a:prstGeom>
          <a:solidFill>
            <a:srgbClr val="FFFFFF"/>
          </a:solidFill>
          <a:ln w="8890">
            <a:solidFill>
              <a:srgbClr val="279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TextBox 148">
            <a:hlinkClick r:id="rId8"/>
          </p:cNvPr>
          <p:cNvSpPr txBox="1"/>
          <p:nvPr/>
        </p:nvSpPr>
        <p:spPr>
          <a:xfrm>
            <a:off x="10747456" y="6245864"/>
            <a:ext cx="468975" cy="209288"/>
          </a:xfrm>
          <a:prstGeom prst="rect">
            <a:avLst/>
          </a:prstGeom>
          <a:noFill/>
        </p:spPr>
        <p:txBody>
          <a:bodyPr wrap="none" lIns="27432" tIns="27432" rIns="27432" bIns="27432" anchor="ctr">
            <a:spAutoFit/>
          </a:bodyPr>
          <a:lstStyle/>
          <a:p>
            <a:pPr algn="ctr"/>
            <a:r>
              <a:rPr sz="600" b="1" dirty="0">
                <a:solidFill>
                  <a:srgbClr val="279949"/>
                </a:solidFill>
                <a:latin typeface="Aptos"/>
              </a:rPr>
              <a:t>🔗  </a:t>
            </a:r>
            <a:r>
              <a:rPr sz="1000" b="1" dirty="0">
                <a:solidFill>
                  <a:srgbClr val="279949"/>
                </a:solidFill>
                <a:latin typeface="Aptos"/>
                <a:hlinkClick r:id="rId8"/>
              </a:rPr>
              <a:t>LINK</a:t>
            </a:r>
            <a:endParaRPr sz="1000" b="1" dirty="0">
              <a:solidFill>
                <a:srgbClr val="279949"/>
              </a:solidFill>
              <a:latin typeface="Aptos"/>
            </a:endParaRPr>
          </a:p>
        </p:txBody>
      </p:sp>
      <p:sp>
        <p:nvSpPr>
          <p:cNvPr id="151" name="TextBox 150"/>
          <p:cNvSpPr txBox="1"/>
          <p:nvPr/>
        </p:nvSpPr>
        <p:spPr>
          <a:xfrm>
            <a:off x="411480" y="6583680"/>
            <a:ext cx="292608" cy="201168"/>
          </a:xfrm>
          <a:prstGeom prst="rect">
            <a:avLst/>
          </a:prstGeom>
          <a:noFill/>
        </p:spPr>
        <p:txBody>
          <a:bodyPr wrap="none" lIns="27432" tIns="27432" rIns="27432" bIns="27432" anchor="ctr">
            <a:spAutoFit/>
          </a:bodyPr>
          <a:lstStyle/>
          <a:p>
            <a:pPr algn="ctr"/>
            <a:r>
              <a:rPr sz="1500" b="1">
                <a:solidFill>
                  <a:srgbClr val="FFFFFF"/>
                </a:solidFill>
                <a:latin typeface="Aptos"/>
              </a:rPr>
              <a:t>✓</a:t>
            </a:r>
          </a:p>
        </p:txBody>
      </p:sp>
      <p:sp>
        <p:nvSpPr>
          <p:cNvPr id="152" name="TextBox 151"/>
          <p:cNvSpPr txBox="1"/>
          <p:nvPr/>
        </p:nvSpPr>
        <p:spPr>
          <a:xfrm>
            <a:off x="795528" y="6583680"/>
            <a:ext cx="914400" cy="201168"/>
          </a:xfrm>
          <a:prstGeom prst="rect">
            <a:avLst/>
          </a:prstGeom>
          <a:noFill/>
        </p:spPr>
        <p:txBody>
          <a:bodyPr wrap="none" lIns="27432" tIns="27432" rIns="27432" bIns="27432" anchor="ctr">
            <a:spAutoFit/>
          </a:bodyPr>
          <a:lstStyle/>
          <a:p>
            <a:pPr algn="ctr"/>
            <a:r>
              <a:rPr sz="740" b="1">
                <a:solidFill>
                  <a:srgbClr val="FFFFFF"/>
                </a:solidFill>
                <a:latin typeface="Aptos"/>
              </a:rPr>
              <a:t>SECURE</a:t>
            </a:r>
          </a:p>
        </p:txBody>
      </p:sp>
      <p:sp>
        <p:nvSpPr>
          <p:cNvPr id="153" name="TextBox 152"/>
          <p:cNvSpPr txBox="1"/>
          <p:nvPr/>
        </p:nvSpPr>
        <p:spPr>
          <a:xfrm>
            <a:off x="2743200" y="6583680"/>
            <a:ext cx="292608" cy="201168"/>
          </a:xfrm>
          <a:prstGeom prst="rect">
            <a:avLst/>
          </a:prstGeom>
          <a:noFill/>
        </p:spPr>
        <p:txBody>
          <a:bodyPr wrap="none" lIns="27432" tIns="27432" rIns="27432" bIns="27432" anchor="ctr">
            <a:spAutoFit/>
          </a:bodyPr>
          <a:lstStyle/>
          <a:p>
            <a:pPr algn="ctr"/>
            <a:r>
              <a:rPr sz="1500" b="1">
                <a:solidFill>
                  <a:srgbClr val="FFFFFF"/>
                </a:solidFill>
                <a:latin typeface="Aptos"/>
              </a:rPr>
              <a:t>↗</a:t>
            </a:r>
          </a:p>
        </p:txBody>
      </p:sp>
      <p:sp>
        <p:nvSpPr>
          <p:cNvPr id="154" name="TextBox 153"/>
          <p:cNvSpPr txBox="1"/>
          <p:nvPr/>
        </p:nvSpPr>
        <p:spPr>
          <a:xfrm>
            <a:off x="3127248" y="6583680"/>
            <a:ext cx="914400" cy="201168"/>
          </a:xfrm>
          <a:prstGeom prst="rect">
            <a:avLst/>
          </a:prstGeom>
          <a:noFill/>
        </p:spPr>
        <p:txBody>
          <a:bodyPr wrap="none" lIns="27432" tIns="27432" rIns="27432" bIns="27432" anchor="ctr">
            <a:spAutoFit/>
          </a:bodyPr>
          <a:lstStyle/>
          <a:p>
            <a:pPr algn="ctr"/>
            <a:r>
              <a:rPr sz="740" b="1">
                <a:solidFill>
                  <a:srgbClr val="FFFFFF"/>
                </a:solidFill>
                <a:latin typeface="Aptos"/>
              </a:rPr>
              <a:t>SCALABLE</a:t>
            </a:r>
          </a:p>
        </p:txBody>
      </p:sp>
      <p:sp>
        <p:nvSpPr>
          <p:cNvPr id="155" name="TextBox 154"/>
          <p:cNvSpPr txBox="1"/>
          <p:nvPr/>
        </p:nvSpPr>
        <p:spPr>
          <a:xfrm>
            <a:off x="5074920" y="6583680"/>
            <a:ext cx="292608" cy="201168"/>
          </a:xfrm>
          <a:prstGeom prst="rect">
            <a:avLst/>
          </a:prstGeom>
          <a:noFill/>
        </p:spPr>
        <p:txBody>
          <a:bodyPr wrap="none" lIns="27432" tIns="27432" rIns="27432" bIns="27432" anchor="ctr">
            <a:spAutoFit/>
          </a:bodyPr>
          <a:lstStyle/>
          <a:p>
            <a:pPr algn="ctr"/>
            <a:r>
              <a:rPr sz="1500" b="1">
                <a:solidFill>
                  <a:srgbClr val="FFFFFF"/>
                </a:solidFill>
                <a:latin typeface="Aptos"/>
              </a:rPr>
              <a:t>⚙</a:t>
            </a:r>
          </a:p>
        </p:txBody>
      </p:sp>
      <p:sp>
        <p:nvSpPr>
          <p:cNvPr id="156" name="TextBox 155"/>
          <p:cNvSpPr txBox="1"/>
          <p:nvPr/>
        </p:nvSpPr>
        <p:spPr>
          <a:xfrm>
            <a:off x="5458968" y="6583680"/>
            <a:ext cx="914400" cy="201168"/>
          </a:xfrm>
          <a:prstGeom prst="rect">
            <a:avLst/>
          </a:prstGeom>
          <a:noFill/>
        </p:spPr>
        <p:txBody>
          <a:bodyPr wrap="none" lIns="27432" tIns="27432" rIns="27432" bIns="27432" anchor="ctr">
            <a:spAutoFit/>
          </a:bodyPr>
          <a:lstStyle/>
          <a:p>
            <a:pPr algn="ctr"/>
            <a:r>
              <a:rPr sz="740" b="1">
                <a:solidFill>
                  <a:srgbClr val="FFFFFF"/>
                </a:solidFill>
                <a:latin typeface="Aptos"/>
              </a:rPr>
              <a:t>INTELLIGENT</a:t>
            </a:r>
          </a:p>
        </p:txBody>
      </p:sp>
      <p:sp>
        <p:nvSpPr>
          <p:cNvPr id="157" name="TextBox 156"/>
          <p:cNvSpPr txBox="1"/>
          <p:nvPr/>
        </p:nvSpPr>
        <p:spPr>
          <a:xfrm>
            <a:off x="7406640" y="6583680"/>
            <a:ext cx="292608" cy="201168"/>
          </a:xfrm>
          <a:prstGeom prst="rect">
            <a:avLst/>
          </a:prstGeom>
          <a:noFill/>
        </p:spPr>
        <p:txBody>
          <a:bodyPr wrap="none" lIns="27432" tIns="27432" rIns="27432" bIns="27432" anchor="ctr">
            <a:spAutoFit/>
          </a:bodyPr>
          <a:lstStyle/>
          <a:p>
            <a:pPr algn="ctr"/>
            <a:r>
              <a:rPr sz="1500" b="1">
                <a:solidFill>
                  <a:srgbClr val="FFFFFF"/>
                </a:solidFill>
                <a:latin typeface="Aptos"/>
              </a:rPr>
              <a:t>▥</a:t>
            </a:r>
          </a:p>
        </p:txBody>
      </p:sp>
      <p:sp>
        <p:nvSpPr>
          <p:cNvPr id="158" name="TextBox 157"/>
          <p:cNvSpPr txBox="1"/>
          <p:nvPr/>
        </p:nvSpPr>
        <p:spPr>
          <a:xfrm>
            <a:off x="7790688" y="6583680"/>
            <a:ext cx="914400" cy="201168"/>
          </a:xfrm>
          <a:prstGeom prst="rect">
            <a:avLst/>
          </a:prstGeom>
          <a:noFill/>
        </p:spPr>
        <p:txBody>
          <a:bodyPr wrap="none" lIns="27432" tIns="27432" rIns="27432" bIns="27432" anchor="ctr">
            <a:spAutoFit/>
          </a:bodyPr>
          <a:lstStyle/>
          <a:p>
            <a:pPr algn="ctr"/>
            <a:r>
              <a:rPr sz="740" b="1">
                <a:solidFill>
                  <a:srgbClr val="FFFFFF"/>
                </a:solidFill>
                <a:latin typeface="Aptos"/>
              </a:rPr>
              <a:t>IMPACTFUL</a:t>
            </a:r>
          </a:p>
        </p:txBody>
      </p:sp>
      <p:sp>
        <p:nvSpPr>
          <p:cNvPr id="159" name="TextBox 158"/>
          <p:cNvSpPr txBox="1"/>
          <p:nvPr/>
        </p:nvSpPr>
        <p:spPr>
          <a:xfrm>
            <a:off x="10131552" y="6574536"/>
            <a:ext cx="1828800" cy="219456"/>
          </a:xfrm>
          <a:prstGeom prst="rect">
            <a:avLst/>
          </a:prstGeom>
          <a:noFill/>
        </p:spPr>
        <p:txBody>
          <a:bodyPr wrap="none" lIns="27432" tIns="27432" rIns="27432" bIns="27432" anchor="ctr">
            <a:spAutoFit/>
          </a:bodyPr>
          <a:lstStyle/>
          <a:p>
            <a:pPr algn="ctr"/>
            <a:r>
              <a:rPr sz="720" b="0">
                <a:solidFill>
                  <a:srgbClr val="FFFFFF"/>
                </a:solidFill>
                <a:latin typeface="Aptos"/>
              </a:rPr>
              <a:t>Evidence-led • Future-ready</a:t>
            </a:r>
          </a:p>
        </p:txBody>
      </p:sp>
      <p:pic>
        <p:nvPicPr>
          <p:cNvPr id="150" name="Picture 149" descr="a_clean_vector_logo_graphic_on_a_white_background.png">
            <a:extLst>
              <a:ext uri="{FF2B5EF4-FFF2-40B4-BE49-F238E27FC236}">
                <a16:creationId xmlns:a16="http://schemas.microsoft.com/office/drawing/2014/main" id="{7271830E-7BC0-037D-D547-92635FD4FEAA}"/>
              </a:ext>
            </a:extLst>
          </p:cNvPr>
          <p:cNvPicPr>
            <a:picLocks noChangeAspect="1"/>
          </p:cNvPicPr>
          <p:nvPr/>
        </p:nvPicPr>
        <p:blipFill>
          <a:blip r:embed="rId9"/>
          <a:stretch>
            <a:fillRect/>
          </a:stretch>
        </p:blipFill>
        <p:spPr>
          <a:xfrm>
            <a:off x="10487829" y="-2293"/>
            <a:ext cx="1691640" cy="950976"/>
          </a:xfrm>
          <a:prstGeom prst="rect">
            <a:avLst/>
          </a:prstGeom>
        </p:spPr>
      </p:pic>
    </p:spTree>
    <p:extLst>
      <p:ext uri="{BB962C8B-B14F-4D97-AF65-F5344CB8AC3E}">
        <p14:creationId xmlns:p14="http://schemas.microsoft.com/office/powerpoint/2010/main" val="41253274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802</TotalTime>
  <Words>1446</Words>
  <Application>Microsoft Office PowerPoint</Application>
  <PresentationFormat>Widescreen</PresentationFormat>
  <Paragraphs>385</Paragraphs>
  <Slides>6</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Aptos</vt:lpstr>
      <vt:lpstr>Arial</vt:lpstr>
      <vt:lpstr>Calibri</vt:lpstr>
      <vt:lpstr>Garamond</vt:lpstr>
      <vt:lpstr>Georgia</vt:lpstr>
      <vt:lpstr>Segoe UI Symbol</vt:lpstr>
      <vt:lpstr>Times New Roman</vt:lpstr>
      <vt:lpstr>Office Theme</vt:lpstr>
      <vt:lpstr>SMART INDIA HACKATHON 2025</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Aryanq Mishra</cp:lastModifiedBy>
  <cp:revision>22</cp:revision>
  <dcterms:created xsi:type="dcterms:W3CDTF">2013-01-27T09:14:16Z</dcterms:created>
  <dcterms:modified xsi:type="dcterms:W3CDTF">2026-09-18T17:43:47Z</dcterms:modified>
  <cp:category/>
</cp:coreProperties>
</file>